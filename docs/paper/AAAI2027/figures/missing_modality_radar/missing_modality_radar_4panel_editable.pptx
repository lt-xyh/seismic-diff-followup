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adarPanel_w/o Well"/>
          <p:cNvSpPr txBox="1"/>
          <p:nvPr/>
        </p:nvSpPr>
        <p:spPr>
          <a:xfrm>
            <a:off x="246888" y="109728"/>
            <a:ext cx="252374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252525"/>
                </a:solidFill>
                <a:latin typeface="Times New Roman"/>
              </a:rPr>
              <a:t>(a) w/o Well</a:t>
            </a:r>
          </a:p>
        </p:txBody>
      </p:sp>
      <p:sp>
        <p:nvSpPr>
          <p:cNvPr id="3" name="RadialTick_w/o well_log_0.85"/>
          <p:cNvSpPr txBox="1"/>
          <p:nvPr/>
        </p:nvSpPr>
        <p:spPr>
          <a:xfrm>
            <a:off x="1546445" y="1791114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0.85</a:t>
            </a:r>
          </a:p>
        </p:txBody>
      </p:sp>
      <p:sp>
        <p:nvSpPr>
          <p:cNvPr id="4" name="Grid_w/o well_log_0.90"/>
          <p:cNvSpPr/>
          <p:nvPr/>
        </p:nvSpPr>
        <p:spPr>
          <a:xfrm>
            <a:off x="1118615" y="1484375"/>
            <a:ext cx="780288" cy="780288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dialTick_w/o well_log_0.90"/>
          <p:cNvSpPr txBox="1"/>
          <p:nvPr/>
        </p:nvSpPr>
        <p:spPr>
          <a:xfrm>
            <a:off x="1802921" y="1534638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0.90</a:t>
            </a:r>
          </a:p>
        </p:txBody>
      </p:sp>
      <p:sp>
        <p:nvSpPr>
          <p:cNvPr id="6" name="Grid_w/o well_log_0.95"/>
          <p:cNvSpPr/>
          <p:nvPr/>
        </p:nvSpPr>
        <p:spPr>
          <a:xfrm>
            <a:off x="728472" y="1094232"/>
            <a:ext cx="1560575" cy="1560575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dialTick_w/o well_log_0.95"/>
          <p:cNvSpPr txBox="1"/>
          <p:nvPr/>
        </p:nvSpPr>
        <p:spPr>
          <a:xfrm>
            <a:off x="2078794" y="1258765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0.95</a:t>
            </a:r>
          </a:p>
        </p:txBody>
      </p:sp>
      <p:sp>
        <p:nvSpPr>
          <p:cNvPr id="8" name="Grid_w/o well_log_1.00"/>
          <p:cNvSpPr/>
          <p:nvPr/>
        </p:nvSpPr>
        <p:spPr>
          <a:xfrm>
            <a:off x="338327" y="704087"/>
            <a:ext cx="2340864" cy="2340864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ialTick_w/o well_log_1.00"/>
          <p:cNvSpPr txBox="1"/>
          <p:nvPr/>
        </p:nvSpPr>
        <p:spPr>
          <a:xfrm>
            <a:off x="2354668" y="982891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1.00</a:t>
            </a:r>
          </a:p>
        </p:txBody>
      </p:sp>
      <p:cxnSp>
        <p:nvCxnSpPr>
          <p:cNvPr id="10" name="Spoke_w/o well_log_0"/>
          <p:cNvCxnSpPr/>
          <p:nvPr/>
        </p:nvCxnSpPr>
        <p:spPr>
          <a:xfrm flipV="1">
            <a:off x="1508760" y="704087"/>
            <a:ext cx="0" cy="1170432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xisLabel_w/o well_log_FlatVelA"/>
          <p:cNvSpPr txBox="1"/>
          <p:nvPr/>
        </p:nvSpPr>
        <p:spPr>
          <a:xfrm>
            <a:off x="1261872" y="448055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FVA</a:t>
            </a:r>
          </a:p>
        </p:txBody>
      </p:sp>
      <p:cxnSp>
        <p:nvCxnSpPr>
          <p:cNvPr id="12" name="Spoke_w/o well_log_1"/>
          <p:cNvCxnSpPr/>
          <p:nvPr/>
        </p:nvCxnSpPr>
        <p:spPr>
          <a:xfrm flipV="1">
            <a:off x="1508760" y="1046899"/>
            <a:ext cx="827620" cy="82762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xisLabel_w/o well_log_FlatVelB"/>
          <p:cNvSpPr txBox="1"/>
          <p:nvPr/>
        </p:nvSpPr>
        <p:spPr>
          <a:xfrm>
            <a:off x="2218808" y="844431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FVB</a:t>
            </a:r>
          </a:p>
        </p:txBody>
      </p:sp>
      <p:cxnSp>
        <p:nvCxnSpPr>
          <p:cNvPr id="14" name="Spoke_w/o well_log_2"/>
          <p:cNvCxnSpPr/>
          <p:nvPr/>
        </p:nvCxnSpPr>
        <p:spPr>
          <a:xfrm>
            <a:off x="1508760" y="1874519"/>
            <a:ext cx="1170431" cy="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xisLabel_w/o well_log_CurveVelA"/>
          <p:cNvSpPr txBox="1"/>
          <p:nvPr/>
        </p:nvSpPr>
        <p:spPr>
          <a:xfrm>
            <a:off x="2615184" y="1801367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CVA</a:t>
            </a:r>
          </a:p>
        </p:txBody>
      </p:sp>
      <p:cxnSp>
        <p:nvCxnSpPr>
          <p:cNvPr id="16" name="Spoke_w/o well_log_3"/>
          <p:cNvCxnSpPr/>
          <p:nvPr/>
        </p:nvCxnSpPr>
        <p:spPr>
          <a:xfrm>
            <a:off x="1508760" y="1874519"/>
            <a:ext cx="827620" cy="82762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xisLabel_w/o well_log_CurveVelB"/>
          <p:cNvSpPr txBox="1"/>
          <p:nvPr/>
        </p:nvSpPr>
        <p:spPr>
          <a:xfrm>
            <a:off x="2218808" y="2758304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CVB</a:t>
            </a:r>
          </a:p>
        </p:txBody>
      </p:sp>
      <p:cxnSp>
        <p:nvCxnSpPr>
          <p:cNvPr id="18" name="Spoke_w/o well_log_4"/>
          <p:cNvCxnSpPr/>
          <p:nvPr/>
        </p:nvCxnSpPr>
        <p:spPr>
          <a:xfrm>
            <a:off x="1508760" y="1874519"/>
            <a:ext cx="0" cy="1170433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xisLabel_w/o well_log_FlatFaultA"/>
          <p:cNvSpPr txBox="1"/>
          <p:nvPr/>
        </p:nvSpPr>
        <p:spPr>
          <a:xfrm>
            <a:off x="1261872" y="3154679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FFA</a:t>
            </a:r>
          </a:p>
        </p:txBody>
      </p:sp>
      <p:cxnSp>
        <p:nvCxnSpPr>
          <p:cNvPr id="20" name="Spoke_w/o well_log_5"/>
          <p:cNvCxnSpPr/>
          <p:nvPr/>
        </p:nvCxnSpPr>
        <p:spPr>
          <a:xfrm flipH="1">
            <a:off x="681139" y="1874519"/>
            <a:ext cx="827621" cy="82762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xisLabel_w/o well_log_FlatFaultB"/>
          <p:cNvSpPr txBox="1"/>
          <p:nvPr/>
        </p:nvSpPr>
        <p:spPr>
          <a:xfrm>
            <a:off x="304935" y="2758304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FFB</a:t>
            </a:r>
          </a:p>
        </p:txBody>
      </p:sp>
      <p:cxnSp>
        <p:nvCxnSpPr>
          <p:cNvPr id="22" name="Spoke_w/o well_log_6"/>
          <p:cNvCxnSpPr/>
          <p:nvPr/>
        </p:nvCxnSpPr>
        <p:spPr>
          <a:xfrm flipH="1">
            <a:off x="338327" y="1874519"/>
            <a:ext cx="1170433" cy="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xisLabel_w/o well_log_CurveFaultA"/>
          <p:cNvSpPr txBox="1"/>
          <p:nvPr/>
        </p:nvSpPr>
        <p:spPr>
          <a:xfrm>
            <a:off x="-91440" y="1801368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CFA</a:t>
            </a:r>
          </a:p>
        </p:txBody>
      </p:sp>
      <p:cxnSp>
        <p:nvCxnSpPr>
          <p:cNvPr id="24" name="Spoke_w/o well_log_7"/>
          <p:cNvCxnSpPr/>
          <p:nvPr/>
        </p:nvCxnSpPr>
        <p:spPr>
          <a:xfrm flipH="1" flipV="1">
            <a:off x="681139" y="1046899"/>
            <a:ext cx="827621" cy="82762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xisLabel_w/o well_log_CurveFaultB"/>
          <p:cNvSpPr txBox="1"/>
          <p:nvPr/>
        </p:nvSpPr>
        <p:spPr>
          <a:xfrm>
            <a:off x="304935" y="844431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CFB</a:t>
            </a:r>
          </a:p>
        </p:txBody>
      </p:sp>
      <p:cxnSp>
        <p:nvCxnSpPr>
          <p:cNvPr id="26" name="RadarCurve_InversionNet_w/o Well_segment_0"/>
          <p:cNvCxnSpPr/>
          <p:nvPr/>
        </p:nvCxnSpPr>
        <p:spPr>
          <a:xfrm>
            <a:off x="1508760" y="720512"/>
            <a:ext cx="796297" cy="357710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adarCurve_InversionNet_w/o Well_segment_1"/>
          <p:cNvCxnSpPr/>
          <p:nvPr/>
        </p:nvCxnSpPr>
        <p:spPr>
          <a:xfrm>
            <a:off x="2305057" y="1078222"/>
            <a:ext cx="331616" cy="796297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adarCurve_InversionNet_w/o Well_segment_2"/>
          <p:cNvCxnSpPr/>
          <p:nvPr/>
        </p:nvCxnSpPr>
        <p:spPr>
          <a:xfrm flipH="1">
            <a:off x="2211435" y="1874519"/>
            <a:ext cx="425238" cy="702676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adarCurve_InversionNet_w/o Well_segment_3"/>
          <p:cNvCxnSpPr/>
          <p:nvPr/>
        </p:nvCxnSpPr>
        <p:spPr>
          <a:xfrm flipH="1">
            <a:off x="1508760" y="2577195"/>
            <a:ext cx="702675" cy="426775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adarCurve_InversionNet_w/o Well_segment_4"/>
          <p:cNvCxnSpPr/>
          <p:nvPr/>
        </p:nvCxnSpPr>
        <p:spPr>
          <a:xfrm flipH="1" flipV="1">
            <a:off x="720484" y="2662795"/>
            <a:ext cx="788276" cy="341175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adarCurve_InversionNet_w/o Well_segment_5"/>
          <p:cNvCxnSpPr/>
          <p:nvPr/>
        </p:nvCxnSpPr>
        <p:spPr>
          <a:xfrm flipH="1" flipV="1">
            <a:off x="380893" y="1874520"/>
            <a:ext cx="339591" cy="788275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adarCurve_InversionNet_w/o Well_segment_6"/>
          <p:cNvCxnSpPr/>
          <p:nvPr/>
        </p:nvCxnSpPr>
        <p:spPr>
          <a:xfrm flipV="1">
            <a:off x="380893" y="1138218"/>
            <a:ext cx="391565" cy="736302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adarCurve_InversionNet_w/o Well_segment_7"/>
          <p:cNvCxnSpPr/>
          <p:nvPr/>
        </p:nvCxnSpPr>
        <p:spPr>
          <a:xfrm flipV="1">
            <a:off x="772458" y="720512"/>
            <a:ext cx="736302" cy="417706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adarMarker_InversionNet_w/o Well_0"/>
          <p:cNvSpPr/>
          <p:nvPr/>
        </p:nvSpPr>
        <p:spPr>
          <a:xfrm>
            <a:off x="1477670" y="689423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adarMarker_InversionNet_w/o Well_1"/>
          <p:cNvSpPr/>
          <p:nvPr/>
        </p:nvSpPr>
        <p:spPr>
          <a:xfrm>
            <a:off x="2273968" y="1047132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adarMarker_InversionNet_w/o Well_2"/>
          <p:cNvSpPr/>
          <p:nvPr/>
        </p:nvSpPr>
        <p:spPr>
          <a:xfrm>
            <a:off x="2605584" y="1843430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adarMarker_InversionNet_w/o Well_3"/>
          <p:cNvSpPr/>
          <p:nvPr/>
        </p:nvSpPr>
        <p:spPr>
          <a:xfrm>
            <a:off x="2180345" y="2546105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adarMarker_InversionNet_w/o Well_4"/>
          <p:cNvSpPr/>
          <p:nvPr/>
        </p:nvSpPr>
        <p:spPr>
          <a:xfrm>
            <a:off x="1477670" y="2972881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adarMarker_InversionNet_w/o Well_5"/>
          <p:cNvSpPr/>
          <p:nvPr/>
        </p:nvSpPr>
        <p:spPr>
          <a:xfrm>
            <a:off x="689394" y="2631706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adarMarker_InversionNet_w/o Well_6"/>
          <p:cNvSpPr/>
          <p:nvPr/>
        </p:nvSpPr>
        <p:spPr>
          <a:xfrm>
            <a:off x="349803" y="1843430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adarMarker_InversionNet_w/o Well_7"/>
          <p:cNvSpPr/>
          <p:nvPr/>
        </p:nvSpPr>
        <p:spPr>
          <a:xfrm>
            <a:off x="741368" y="1107128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RadarCurve_VelocityGAN_w/o Well_segment_0"/>
          <p:cNvCxnSpPr/>
          <p:nvPr/>
        </p:nvCxnSpPr>
        <p:spPr>
          <a:xfrm>
            <a:off x="1508760" y="820221"/>
            <a:ext cx="675764" cy="378534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adarCurve_VelocityGAN_w/o Well_segment_1"/>
          <p:cNvCxnSpPr/>
          <p:nvPr/>
        </p:nvCxnSpPr>
        <p:spPr>
          <a:xfrm>
            <a:off x="2184524" y="1198755"/>
            <a:ext cx="354254" cy="675764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RadarCurve_VelocityGAN_w/o Well_segment_2"/>
          <p:cNvCxnSpPr/>
          <p:nvPr/>
        </p:nvCxnSpPr>
        <p:spPr>
          <a:xfrm flipH="1">
            <a:off x="2044570" y="1874519"/>
            <a:ext cx="494208" cy="535811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RadarCurve_VelocityGAN_w/o Well_segment_3"/>
          <p:cNvCxnSpPr/>
          <p:nvPr/>
        </p:nvCxnSpPr>
        <p:spPr>
          <a:xfrm flipH="1">
            <a:off x="1508760" y="2410330"/>
            <a:ext cx="535810" cy="329657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adarCurve_VelocityGAN_w/o Well_segment_4"/>
          <p:cNvCxnSpPr/>
          <p:nvPr/>
        </p:nvCxnSpPr>
        <p:spPr>
          <a:xfrm flipH="1" flipV="1">
            <a:off x="774013" y="2609266"/>
            <a:ext cx="734747" cy="130721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RadarCurve_VelocityGAN_w/o Well_segment_5"/>
          <p:cNvCxnSpPr/>
          <p:nvPr/>
        </p:nvCxnSpPr>
        <p:spPr>
          <a:xfrm flipH="1" flipV="1">
            <a:off x="500586" y="1874519"/>
            <a:ext cx="273427" cy="734747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adarCurve_VelocityGAN_w/o Well_segment_6"/>
          <p:cNvCxnSpPr/>
          <p:nvPr/>
        </p:nvCxnSpPr>
        <p:spPr>
          <a:xfrm flipV="1">
            <a:off x="500586" y="1227620"/>
            <a:ext cx="361274" cy="646899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adarCurve_VelocityGAN_w/o Well_segment_7"/>
          <p:cNvCxnSpPr/>
          <p:nvPr/>
        </p:nvCxnSpPr>
        <p:spPr>
          <a:xfrm flipV="1">
            <a:off x="861860" y="820221"/>
            <a:ext cx="646900" cy="407399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adarMarker_VelocityGAN_w/o Well_0"/>
          <p:cNvSpPr/>
          <p:nvPr/>
        </p:nvSpPr>
        <p:spPr>
          <a:xfrm>
            <a:off x="1477670" y="789132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adarMarker_VelocityGAN_w/o Well_1"/>
          <p:cNvSpPr/>
          <p:nvPr/>
        </p:nvSpPr>
        <p:spPr>
          <a:xfrm>
            <a:off x="2153435" y="1167665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adarMarker_VelocityGAN_w/o Well_2"/>
          <p:cNvSpPr/>
          <p:nvPr/>
        </p:nvSpPr>
        <p:spPr>
          <a:xfrm>
            <a:off x="2507689" y="1843430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adarMarker_VelocityGAN_w/o Well_3"/>
          <p:cNvSpPr/>
          <p:nvPr/>
        </p:nvSpPr>
        <p:spPr>
          <a:xfrm>
            <a:off x="2013481" y="2379241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adarMarker_VelocityGAN_w/o Well_4"/>
          <p:cNvSpPr/>
          <p:nvPr/>
        </p:nvSpPr>
        <p:spPr>
          <a:xfrm>
            <a:off x="1477670" y="2708897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adarMarker_VelocityGAN_w/o Well_5"/>
          <p:cNvSpPr/>
          <p:nvPr/>
        </p:nvSpPr>
        <p:spPr>
          <a:xfrm>
            <a:off x="742924" y="2578176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adarMarker_VelocityGAN_w/o Well_6"/>
          <p:cNvSpPr/>
          <p:nvPr/>
        </p:nvSpPr>
        <p:spPr>
          <a:xfrm>
            <a:off x="469497" y="1843430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adarMarker_VelocityGAN_w/o Well_7"/>
          <p:cNvSpPr/>
          <p:nvPr/>
        </p:nvSpPr>
        <p:spPr>
          <a:xfrm>
            <a:off x="830770" y="1196530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RadarCurve_UPFWI_w/o Well_segment_0"/>
          <p:cNvCxnSpPr/>
          <p:nvPr/>
        </p:nvCxnSpPr>
        <p:spPr>
          <a:xfrm>
            <a:off x="1508760" y="718285"/>
            <a:ext cx="790165" cy="366069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adarCurve_UPFWI_w/o Well_segment_1"/>
          <p:cNvCxnSpPr/>
          <p:nvPr/>
        </p:nvCxnSpPr>
        <p:spPr>
          <a:xfrm>
            <a:off x="2298925" y="1084354"/>
            <a:ext cx="329160" cy="790165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RadarCurve_UPFWI_w/o Well_segment_2"/>
          <p:cNvCxnSpPr/>
          <p:nvPr/>
        </p:nvCxnSpPr>
        <p:spPr>
          <a:xfrm flipH="1">
            <a:off x="2166627" y="1874519"/>
            <a:ext cx="461458" cy="657868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RadarCurve_UPFWI_w/o Well_segment_3"/>
          <p:cNvCxnSpPr/>
          <p:nvPr/>
        </p:nvCxnSpPr>
        <p:spPr>
          <a:xfrm flipH="1">
            <a:off x="1508760" y="2532387"/>
            <a:ext cx="657867" cy="477292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RadarCurve_UPFWI_w/o Well_segment_4"/>
          <p:cNvCxnSpPr/>
          <p:nvPr/>
        </p:nvCxnSpPr>
        <p:spPr>
          <a:xfrm flipH="1" flipV="1">
            <a:off x="717435" y="2665844"/>
            <a:ext cx="791325" cy="343835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adarCurve_UPFWI_w/o Well_segment_5"/>
          <p:cNvCxnSpPr/>
          <p:nvPr/>
        </p:nvCxnSpPr>
        <p:spPr>
          <a:xfrm flipH="1" flipV="1">
            <a:off x="374706" y="1874520"/>
            <a:ext cx="342729" cy="791324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RadarCurve_UPFWI_w/o Well_segment_6"/>
          <p:cNvCxnSpPr/>
          <p:nvPr/>
        </p:nvCxnSpPr>
        <p:spPr>
          <a:xfrm flipV="1">
            <a:off x="374706" y="1141519"/>
            <a:ext cx="401053" cy="733001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RadarCurve_UPFWI_w/o Well_segment_7"/>
          <p:cNvCxnSpPr/>
          <p:nvPr/>
        </p:nvCxnSpPr>
        <p:spPr>
          <a:xfrm flipV="1">
            <a:off x="775759" y="718285"/>
            <a:ext cx="733001" cy="423234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adarMarker_UPFWI_w/o Well_0"/>
          <p:cNvSpPr/>
          <p:nvPr/>
        </p:nvSpPr>
        <p:spPr>
          <a:xfrm>
            <a:off x="1477670" y="687196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adarMarker_UPFWI_w/o Well_1"/>
          <p:cNvSpPr/>
          <p:nvPr/>
        </p:nvSpPr>
        <p:spPr>
          <a:xfrm>
            <a:off x="2267835" y="1053265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adarMarker_UPFWI_w/o Well_2"/>
          <p:cNvSpPr/>
          <p:nvPr/>
        </p:nvSpPr>
        <p:spPr>
          <a:xfrm>
            <a:off x="2596995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adarMarker_UPFWI_w/o Well_3"/>
          <p:cNvSpPr/>
          <p:nvPr/>
        </p:nvSpPr>
        <p:spPr>
          <a:xfrm>
            <a:off x="2135537" y="2501297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adarMarker_UPFWI_w/o Well_4"/>
          <p:cNvSpPr/>
          <p:nvPr/>
        </p:nvSpPr>
        <p:spPr>
          <a:xfrm>
            <a:off x="1477670" y="2978589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adarMarker_UPFWI_w/o Well_5"/>
          <p:cNvSpPr/>
          <p:nvPr/>
        </p:nvSpPr>
        <p:spPr>
          <a:xfrm>
            <a:off x="686346" y="2634754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adarMarker_UPFWI_w/o Well_6"/>
          <p:cNvSpPr/>
          <p:nvPr/>
        </p:nvSpPr>
        <p:spPr>
          <a:xfrm>
            <a:off x="343616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adarMarker_UPFWI_w/o Well_7"/>
          <p:cNvSpPr/>
          <p:nvPr/>
        </p:nvSpPr>
        <p:spPr>
          <a:xfrm>
            <a:off x="744669" y="1110429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RadarCurve_Auto-Linear_w/o Well_segment_0"/>
          <p:cNvCxnSpPr/>
          <p:nvPr/>
        </p:nvCxnSpPr>
        <p:spPr>
          <a:xfrm>
            <a:off x="1508760" y="748919"/>
            <a:ext cx="597414" cy="528186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RadarCurve_Auto-Linear_w/o Well_segment_1"/>
          <p:cNvCxnSpPr/>
          <p:nvPr/>
        </p:nvCxnSpPr>
        <p:spPr>
          <a:xfrm>
            <a:off x="2106174" y="1277105"/>
            <a:ext cx="402413" cy="597414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RadarCurve_Auto-Linear_w/o Well_segment_2"/>
          <p:cNvCxnSpPr/>
          <p:nvPr/>
        </p:nvCxnSpPr>
        <p:spPr>
          <a:xfrm flipH="1">
            <a:off x="1715041" y="1874519"/>
            <a:ext cx="793546" cy="206282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RadarCurve_Auto-Linear_w/o Well_segment_3"/>
          <p:cNvCxnSpPr/>
          <p:nvPr/>
        </p:nvCxnSpPr>
        <p:spPr>
          <a:xfrm flipH="1">
            <a:off x="1508760" y="2080801"/>
            <a:ext cx="206281" cy="911717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RadarCurve_Auto-Linear_w/o Well_segment_4"/>
          <p:cNvCxnSpPr/>
          <p:nvPr/>
        </p:nvCxnSpPr>
        <p:spPr>
          <a:xfrm flipH="1" flipV="1">
            <a:off x="827449" y="2555830"/>
            <a:ext cx="681311" cy="436688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RadarCurve_Auto-Linear_w/o Well_segment_5"/>
          <p:cNvCxnSpPr/>
          <p:nvPr/>
        </p:nvCxnSpPr>
        <p:spPr>
          <a:xfrm flipH="1" flipV="1">
            <a:off x="407999" y="1874519"/>
            <a:ext cx="419450" cy="681311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RadarCurve_Auto-Linear_w/o Well_segment_6"/>
          <p:cNvCxnSpPr/>
          <p:nvPr/>
        </p:nvCxnSpPr>
        <p:spPr>
          <a:xfrm flipV="1">
            <a:off x="407999" y="1272216"/>
            <a:ext cx="498457" cy="602303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RadarCurve_Auto-Linear_w/o Well_segment_7"/>
          <p:cNvCxnSpPr/>
          <p:nvPr/>
        </p:nvCxnSpPr>
        <p:spPr>
          <a:xfrm flipV="1">
            <a:off x="906456" y="748919"/>
            <a:ext cx="602304" cy="523297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adarMarker_Auto-Linear_w/o Well_0"/>
          <p:cNvSpPr/>
          <p:nvPr/>
        </p:nvSpPr>
        <p:spPr>
          <a:xfrm>
            <a:off x="1477670" y="717829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adarMarker_Auto-Linear_w/o Well_1"/>
          <p:cNvSpPr/>
          <p:nvPr/>
        </p:nvSpPr>
        <p:spPr>
          <a:xfrm>
            <a:off x="2075085" y="1246015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adarMarker_Auto-Linear_w/o Well_2"/>
          <p:cNvSpPr/>
          <p:nvPr/>
        </p:nvSpPr>
        <p:spPr>
          <a:xfrm>
            <a:off x="2477497" y="1843430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adarMarker_Auto-Linear_w/o Well_3"/>
          <p:cNvSpPr/>
          <p:nvPr/>
        </p:nvSpPr>
        <p:spPr>
          <a:xfrm>
            <a:off x="1683951" y="2049711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adarMarker_Auto-Linear_w/o Well_4"/>
          <p:cNvSpPr/>
          <p:nvPr/>
        </p:nvSpPr>
        <p:spPr>
          <a:xfrm>
            <a:off x="1477670" y="2961429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adarMarker_Auto-Linear_w/o Well_5"/>
          <p:cNvSpPr/>
          <p:nvPr/>
        </p:nvSpPr>
        <p:spPr>
          <a:xfrm>
            <a:off x="796360" y="2524740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adarMarker_Auto-Linear_w/o Well_6"/>
          <p:cNvSpPr/>
          <p:nvPr/>
        </p:nvSpPr>
        <p:spPr>
          <a:xfrm>
            <a:off x="376910" y="1843430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adarMarker_Auto-Linear_w/o Well_7"/>
          <p:cNvSpPr/>
          <p:nvPr/>
        </p:nvSpPr>
        <p:spPr>
          <a:xfrm>
            <a:off x="875366" y="1241126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RadarCurve_Latent U-Net (Large)_w/o Well_segment_0"/>
          <p:cNvCxnSpPr/>
          <p:nvPr/>
        </p:nvCxnSpPr>
        <p:spPr>
          <a:xfrm>
            <a:off x="1508760" y="736651"/>
            <a:ext cx="775093" cy="362775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RadarCurve_Latent U-Net (Large)_w/o Well_segment_1"/>
          <p:cNvCxnSpPr/>
          <p:nvPr/>
        </p:nvCxnSpPr>
        <p:spPr>
          <a:xfrm>
            <a:off x="2283853" y="1099426"/>
            <a:ext cx="367214" cy="775093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RadarCurve_Latent U-Net (Large)_w/o Well_segment_2"/>
          <p:cNvCxnSpPr/>
          <p:nvPr/>
        </p:nvCxnSpPr>
        <p:spPr>
          <a:xfrm flipH="1">
            <a:off x="2289283" y="1874519"/>
            <a:ext cx="361784" cy="780524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RadarCurve_Latent U-Net (Large)_w/o Well_segment_3"/>
          <p:cNvCxnSpPr/>
          <p:nvPr/>
        </p:nvCxnSpPr>
        <p:spPr>
          <a:xfrm flipH="1">
            <a:off x="1508760" y="2655043"/>
            <a:ext cx="780523" cy="304714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RadarCurve_Latent U-Net (Large)_w/o Well_segment_4"/>
          <p:cNvCxnSpPr/>
          <p:nvPr/>
        </p:nvCxnSpPr>
        <p:spPr>
          <a:xfrm flipH="1" flipV="1">
            <a:off x="718918" y="2664361"/>
            <a:ext cx="789842" cy="295396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RadarCurve_Latent U-Net (Large)_w/o Well_segment_5"/>
          <p:cNvCxnSpPr/>
          <p:nvPr/>
        </p:nvCxnSpPr>
        <p:spPr>
          <a:xfrm flipH="1" flipV="1">
            <a:off x="414059" y="1874519"/>
            <a:ext cx="304859" cy="789842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RadarCurve_Latent U-Net (Large)_w/o Well_segment_6"/>
          <p:cNvCxnSpPr/>
          <p:nvPr/>
        </p:nvCxnSpPr>
        <p:spPr>
          <a:xfrm flipV="1">
            <a:off x="414059" y="1089678"/>
            <a:ext cx="309859" cy="784841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RadarCurve_Latent U-Net (Large)_w/o Well_segment_7"/>
          <p:cNvCxnSpPr/>
          <p:nvPr/>
        </p:nvCxnSpPr>
        <p:spPr>
          <a:xfrm flipV="1">
            <a:off x="723918" y="736651"/>
            <a:ext cx="784842" cy="353027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adarMarker_Latent U-Net (Large)_w/o Well_0"/>
          <p:cNvSpPr/>
          <p:nvPr/>
        </p:nvSpPr>
        <p:spPr>
          <a:xfrm rot="10800000">
            <a:off x="1477670" y="705561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adarMarker_Latent U-Net (Large)_w/o Well_1"/>
          <p:cNvSpPr/>
          <p:nvPr/>
        </p:nvSpPr>
        <p:spPr>
          <a:xfrm rot="10800000">
            <a:off x="2252764" y="1068336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adarMarker_Latent U-Net (Large)_w/o Well_2"/>
          <p:cNvSpPr/>
          <p:nvPr/>
        </p:nvSpPr>
        <p:spPr>
          <a:xfrm rot="10800000">
            <a:off x="2619978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adarMarker_Latent U-Net (Large)_w/o Well_3"/>
          <p:cNvSpPr/>
          <p:nvPr/>
        </p:nvSpPr>
        <p:spPr>
          <a:xfrm rot="10800000">
            <a:off x="2258193" y="2623953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adarMarker_Latent U-Net (Large)_w/o Well_4"/>
          <p:cNvSpPr/>
          <p:nvPr/>
        </p:nvSpPr>
        <p:spPr>
          <a:xfrm rot="10800000">
            <a:off x="1477670" y="2928667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adarMarker_Latent U-Net (Large)_w/o Well_5"/>
          <p:cNvSpPr/>
          <p:nvPr/>
        </p:nvSpPr>
        <p:spPr>
          <a:xfrm rot="10800000">
            <a:off x="687828" y="2633272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adarMarker_Latent U-Net (Large)_w/o Well_6"/>
          <p:cNvSpPr/>
          <p:nvPr/>
        </p:nvSpPr>
        <p:spPr>
          <a:xfrm rot="10800000">
            <a:off x="382969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adarMarker_Latent U-Net (Large)_w/o Well_7"/>
          <p:cNvSpPr/>
          <p:nvPr/>
        </p:nvSpPr>
        <p:spPr>
          <a:xfrm rot="10800000">
            <a:off x="692828" y="1058588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RadarCurve_PD-BG-RFM_w/o Well_segment_0"/>
          <p:cNvCxnSpPr/>
          <p:nvPr/>
        </p:nvCxnSpPr>
        <p:spPr>
          <a:xfrm>
            <a:off x="1508760" y="741481"/>
            <a:ext cx="748299" cy="384739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RadarCurve_PD-BG-RFM_w/o Well_segment_1"/>
          <p:cNvCxnSpPr/>
          <p:nvPr/>
        </p:nvCxnSpPr>
        <p:spPr>
          <a:xfrm>
            <a:off x="2257059" y="1126220"/>
            <a:ext cx="390265" cy="748299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RadarCurve_PD-BG-RFM_w/o Well_segment_2"/>
          <p:cNvCxnSpPr/>
          <p:nvPr/>
        </p:nvCxnSpPr>
        <p:spPr>
          <a:xfrm flipH="1">
            <a:off x="2248294" y="1874519"/>
            <a:ext cx="399030" cy="739535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RadarCurve_PD-BG-RFM_w/o Well_segment_3"/>
          <p:cNvCxnSpPr/>
          <p:nvPr/>
        </p:nvCxnSpPr>
        <p:spPr>
          <a:xfrm flipH="1">
            <a:off x="1508760" y="2614054"/>
            <a:ext cx="739534" cy="373068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RadarCurve_PD-BG-RFM_w/o Well_segment_4"/>
          <p:cNvCxnSpPr/>
          <p:nvPr/>
        </p:nvCxnSpPr>
        <p:spPr>
          <a:xfrm flipH="1" flipV="1">
            <a:off x="740824" y="2642455"/>
            <a:ext cx="767936" cy="344667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RadarCurve_PD-BG-RFM_w/o Well_segment_5"/>
          <p:cNvCxnSpPr/>
          <p:nvPr/>
        </p:nvCxnSpPr>
        <p:spPr>
          <a:xfrm flipH="1" flipV="1">
            <a:off x="393463" y="1874520"/>
            <a:ext cx="347361" cy="767935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RadarCurve_PD-BG-RFM_w/o Well_segment_6"/>
          <p:cNvCxnSpPr/>
          <p:nvPr/>
        </p:nvCxnSpPr>
        <p:spPr>
          <a:xfrm flipV="1">
            <a:off x="393463" y="1133283"/>
            <a:ext cx="374060" cy="741237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RadarCurve_PD-BG-RFM_w/o Well_segment_7"/>
          <p:cNvCxnSpPr/>
          <p:nvPr/>
        </p:nvCxnSpPr>
        <p:spPr>
          <a:xfrm flipV="1">
            <a:off x="767523" y="741481"/>
            <a:ext cx="741237" cy="391802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adarMarker_PD-BG-RFM_w/o Well_0"/>
          <p:cNvSpPr/>
          <p:nvPr/>
        </p:nvSpPr>
        <p:spPr>
          <a:xfrm>
            <a:off x="1465325" y="698047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adarMarker_PD-BG-RFM_w/o Well_1"/>
          <p:cNvSpPr/>
          <p:nvPr/>
        </p:nvSpPr>
        <p:spPr>
          <a:xfrm>
            <a:off x="2213625" y="1082786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adarMarker_PD-BG-RFM_w/o Well_2"/>
          <p:cNvSpPr/>
          <p:nvPr/>
        </p:nvSpPr>
        <p:spPr>
          <a:xfrm>
            <a:off x="2603890" y="1831086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adarMarker_PD-BG-RFM_w/o Well_3"/>
          <p:cNvSpPr/>
          <p:nvPr/>
        </p:nvSpPr>
        <p:spPr>
          <a:xfrm>
            <a:off x="2204860" y="2570620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adarMarker_PD-BG-RFM_w/o Well_4"/>
          <p:cNvSpPr/>
          <p:nvPr/>
        </p:nvSpPr>
        <p:spPr>
          <a:xfrm>
            <a:off x="1465326" y="2943688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adarMarker_PD-BG-RFM_w/o Well_5"/>
          <p:cNvSpPr/>
          <p:nvPr/>
        </p:nvSpPr>
        <p:spPr>
          <a:xfrm>
            <a:off x="697390" y="2599021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adarMarker_PD-BG-RFM_w/o Well_6"/>
          <p:cNvSpPr/>
          <p:nvPr/>
        </p:nvSpPr>
        <p:spPr>
          <a:xfrm>
            <a:off x="350029" y="1831086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adarMarker_PD-BG-RFM_w/o Well_7"/>
          <p:cNvSpPr/>
          <p:nvPr/>
        </p:nvSpPr>
        <p:spPr>
          <a:xfrm>
            <a:off x="724089" y="1089849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adarPanel_w/o Horizon"/>
          <p:cNvSpPr txBox="1"/>
          <p:nvPr/>
        </p:nvSpPr>
        <p:spPr>
          <a:xfrm>
            <a:off x="3300984" y="109728"/>
            <a:ext cx="252374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252525"/>
                </a:solidFill>
                <a:latin typeface="Times New Roman"/>
              </a:rPr>
              <a:t>(b) w/o Horizon</a:t>
            </a:r>
          </a:p>
        </p:txBody>
      </p:sp>
      <p:sp>
        <p:nvSpPr>
          <p:cNvPr id="123" name="RadialTick_w/o horizon_0.50"/>
          <p:cNvSpPr txBox="1"/>
          <p:nvPr/>
        </p:nvSpPr>
        <p:spPr>
          <a:xfrm>
            <a:off x="4600541" y="1791114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0.50</a:t>
            </a:r>
          </a:p>
        </p:txBody>
      </p:sp>
      <p:sp>
        <p:nvSpPr>
          <p:cNvPr id="124" name="Grid_w/o horizon_0.60"/>
          <p:cNvSpPr/>
          <p:nvPr/>
        </p:nvSpPr>
        <p:spPr>
          <a:xfrm>
            <a:off x="4328769" y="1640433"/>
            <a:ext cx="468172" cy="468172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adialTick_w/o horizon_0.60"/>
          <p:cNvSpPr txBox="1"/>
          <p:nvPr/>
        </p:nvSpPr>
        <p:spPr>
          <a:xfrm>
            <a:off x="4746668" y="1644987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0.60</a:t>
            </a:r>
          </a:p>
        </p:txBody>
      </p:sp>
      <p:sp>
        <p:nvSpPr>
          <p:cNvPr id="126" name="Grid_w/o horizon_0.70"/>
          <p:cNvSpPr/>
          <p:nvPr/>
        </p:nvSpPr>
        <p:spPr>
          <a:xfrm>
            <a:off x="4094683" y="1406347"/>
            <a:ext cx="936345" cy="936345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adialTick_w/o horizon_0.70"/>
          <p:cNvSpPr txBox="1"/>
          <p:nvPr/>
        </p:nvSpPr>
        <p:spPr>
          <a:xfrm>
            <a:off x="4912192" y="1479463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0.70</a:t>
            </a:r>
          </a:p>
        </p:txBody>
      </p:sp>
      <p:sp>
        <p:nvSpPr>
          <p:cNvPr id="128" name="Grid_w/o horizon_0.80"/>
          <p:cNvSpPr/>
          <p:nvPr/>
        </p:nvSpPr>
        <p:spPr>
          <a:xfrm>
            <a:off x="3860596" y="1172260"/>
            <a:ext cx="1404518" cy="1404518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adialTick_w/o horizon_0.80"/>
          <p:cNvSpPr txBox="1"/>
          <p:nvPr/>
        </p:nvSpPr>
        <p:spPr>
          <a:xfrm>
            <a:off x="5077716" y="1313939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0.80</a:t>
            </a:r>
          </a:p>
        </p:txBody>
      </p:sp>
      <p:sp>
        <p:nvSpPr>
          <p:cNvPr id="130" name="Grid_w/o horizon_0.90"/>
          <p:cNvSpPr/>
          <p:nvPr/>
        </p:nvSpPr>
        <p:spPr>
          <a:xfrm>
            <a:off x="3626510" y="938174"/>
            <a:ext cx="1872691" cy="1872691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adialTick_w/o horizon_0.90"/>
          <p:cNvSpPr txBox="1"/>
          <p:nvPr/>
        </p:nvSpPr>
        <p:spPr>
          <a:xfrm>
            <a:off x="5243240" y="1148415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0.90</a:t>
            </a:r>
          </a:p>
        </p:txBody>
      </p:sp>
      <p:sp>
        <p:nvSpPr>
          <p:cNvPr id="132" name="Grid_w/o horizon_1.00"/>
          <p:cNvSpPr/>
          <p:nvPr/>
        </p:nvSpPr>
        <p:spPr>
          <a:xfrm>
            <a:off x="3392424" y="704087"/>
            <a:ext cx="2340864" cy="2340864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adialTick_w/o horizon_1.00"/>
          <p:cNvSpPr txBox="1"/>
          <p:nvPr/>
        </p:nvSpPr>
        <p:spPr>
          <a:xfrm>
            <a:off x="5408764" y="982891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1.00</a:t>
            </a:r>
          </a:p>
        </p:txBody>
      </p:sp>
      <p:cxnSp>
        <p:nvCxnSpPr>
          <p:cNvPr id="134" name="Spoke_w/o horizon_0"/>
          <p:cNvCxnSpPr/>
          <p:nvPr/>
        </p:nvCxnSpPr>
        <p:spPr>
          <a:xfrm flipV="1">
            <a:off x="4562856" y="704087"/>
            <a:ext cx="0" cy="1170432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AxisLabel_w/o horizon_FlatVelA"/>
          <p:cNvSpPr txBox="1"/>
          <p:nvPr/>
        </p:nvSpPr>
        <p:spPr>
          <a:xfrm>
            <a:off x="4315968" y="448055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FVA</a:t>
            </a:r>
          </a:p>
        </p:txBody>
      </p:sp>
      <p:cxnSp>
        <p:nvCxnSpPr>
          <p:cNvPr id="136" name="Spoke_w/o horizon_1"/>
          <p:cNvCxnSpPr/>
          <p:nvPr/>
        </p:nvCxnSpPr>
        <p:spPr>
          <a:xfrm flipV="1">
            <a:off x="4562856" y="1046899"/>
            <a:ext cx="827620" cy="82762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AxisLabel_w/o horizon_FlatVelB"/>
          <p:cNvSpPr txBox="1"/>
          <p:nvPr/>
        </p:nvSpPr>
        <p:spPr>
          <a:xfrm>
            <a:off x="5272904" y="844431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FVB</a:t>
            </a:r>
          </a:p>
        </p:txBody>
      </p:sp>
      <p:cxnSp>
        <p:nvCxnSpPr>
          <p:cNvPr id="138" name="Spoke_w/o horizon_2"/>
          <p:cNvCxnSpPr/>
          <p:nvPr/>
        </p:nvCxnSpPr>
        <p:spPr>
          <a:xfrm>
            <a:off x="4562856" y="1874519"/>
            <a:ext cx="1170432" cy="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AxisLabel_w/o horizon_CurveVelA"/>
          <p:cNvSpPr txBox="1"/>
          <p:nvPr/>
        </p:nvSpPr>
        <p:spPr>
          <a:xfrm>
            <a:off x="5669280" y="1801367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CVA</a:t>
            </a:r>
          </a:p>
        </p:txBody>
      </p:sp>
      <p:cxnSp>
        <p:nvCxnSpPr>
          <p:cNvPr id="140" name="Spoke_w/o horizon_3"/>
          <p:cNvCxnSpPr/>
          <p:nvPr/>
        </p:nvCxnSpPr>
        <p:spPr>
          <a:xfrm>
            <a:off x="4562856" y="1874519"/>
            <a:ext cx="827620" cy="82762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AxisLabel_w/o horizon_CurveVelB"/>
          <p:cNvSpPr txBox="1"/>
          <p:nvPr/>
        </p:nvSpPr>
        <p:spPr>
          <a:xfrm>
            <a:off x="5272904" y="2758304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CVB</a:t>
            </a:r>
          </a:p>
        </p:txBody>
      </p:sp>
      <p:cxnSp>
        <p:nvCxnSpPr>
          <p:cNvPr id="142" name="Spoke_w/o horizon_4"/>
          <p:cNvCxnSpPr/>
          <p:nvPr/>
        </p:nvCxnSpPr>
        <p:spPr>
          <a:xfrm>
            <a:off x="4562856" y="1874519"/>
            <a:ext cx="0" cy="1170433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AxisLabel_w/o horizon_FlatFaultA"/>
          <p:cNvSpPr txBox="1"/>
          <p:nvPr/>
        </p:nvSpPr>
        <p:spPr>
          <a:xfrm>
            <a:off x="4315968" y="3154679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FFA</a:t>
            </a:r>
          </a:p>
        </p:txBody>
      </p:sp>
      <p:cxnSp>
        <p:nvCxnSpPr>
          <p:cNvPr id="144" name="Spoke_w/o horizon_5"/>
          <p:cNvCxnSpPr/>
          <p:nvPr/>
        </p:nvCxnSpPr>
        <p:spPr>
          <a:xfrm flipH="1">
            <a:off x="3735235" y="1874519"/>
            <a:ext cx="827621" cy="82762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AxisLabel_w/o horizon_FlatFaultB"/>
          <p:cNvSpPr txBox="1"/>
          <p:nvPr/>
        </p:nvSpPr>
        <p:spPr>
          <a:xfrm>
            <a:off x="3359031" y="2758304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FFB</a:t>
            </a:r>
          </a:p>
        </p:txBody>
      </p:sp>
      <p:cxnSp>
        <p:nvCxnSpPr>
          <p:cNvPr id="146" name="Spoke_w/o horizon_6"/>
          <p:cNvCxnSpPr/>
          <p:nvPr/>
        </p:nvCxnSpPr>
        <p:spPr>
          <a:xfrm flipH="1">
            <a:off x="3392424" y="1874519"/>
            <a:ext cx="1170432" cy="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AxisLabel_w/o horizon_CurveFaultA"/>
          <p:cNvSpPr txBox="1"/>
          <p:nvPr/>
        </p:nvSpPr>
        <p:spPr>
          <a:xfrm>
            <a:off x="2962656" y="1801368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CFA</a:t>
            </a:r>
          </a:p>
        </p:txBody>
      </p:sp>
      <p:cxnSp>
        <p:nvCxnSpPr>
          <p:cNvPr id="148" name="Spoke_w/o horizon_7"/>
          <p:cNvCxnSpPr/>
          <p:nvPr/>
        </p:nvCxnSpPr>
        <p:spPr>
          <a:xfrm flipH="1" flipV="1">
            <a:off x="3735235" y="1046899"/>
            <a:ext cx="827621" cy="82762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AxisLabel_w/o horizon_CurveFaultB"/>
          <p:cNvSpPr txBox="1"/>
          <p:nvPr/>
        </p:nvSpPr>
        <p:spPr>
          <a:xfrm>
            <a:off x="3359031" y="844431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CFB</a:t>
            </a:r>
          </a:p>
        </p:txBody>
      </p:sp>
      <p:cxnSp>
        <p:nvCxnSpPr>
          <p:cNvPr id="150" name="RadarCurve_InversionNet_w/o Horizon_segment_0"/>
          <p:cNvCxnSpPr/>
          <p:nvPr/>
        </p:nvCxnSpPr>
        <p:spPr>
          <a:xfrm>
            <a:off x="4562856" y="732786"/>
            <a:ext cx="746780" cy="394953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RadarCurve_InversionNet_w/o Horizon_segment_1"/>
          <p:cNvCxnSpPr/>
          <p:nvPr/>
        </p:nvCxnSpPr>
        <p:spPr>
          <a:xfrm>
            <a:off x="5309636" y="1127739"/>
            <a:ext cx="382645" cy="746780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RadarCurve_InversionNet_w/o Horizon_segment_2"/>
          <p:cNvCxnSpPr/>
          <p:nvPr/>
        </p:nvCxnSpPr>
        <p:spPr>
          <a:xfrm flipH="1">
            <a:off x="5257625" y="1874519"/>
            <a:ext cx="434656" cy="694770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RadarCurve_InversionNet_w/o Horizon_segment_3"/>
          <p:cNvCxnSpPr/>
          <p:nvPr/>
        </p:nvCxnSpPr>
        <p:spPr>
          <a:xfrm flipH="1">
            <a:off x="4562856" y="2569289"/>
            <a:ext cx="694769" cy="452568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RadarCurve_InversionNet_w/o Horizon_segment_4"/>
          <p:cNvCxnSpPr/>
          <p:nvPr/>
        </p:nvCxnSpPr>
        <p:spPr>
          <a:xfrm flipH="1" flipV="1">
            <a:off x="3760613" y="2676762"/>
            <a:ext cx="802243" cy="345095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RadarCurve_InversionNet_w/o Horizon_segment_5"/>
          <p:cNvCxnSpPr/>
          <p:nvPr/>
        </p:nvCxnSpPr>
        <p:spPr>
          <a:xfrm flipH="1" flipV="1">
            <a:off x="3414461" y="1874520"/>
            <a:ext cx="346152" cy="802242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RadarCurve_InversionNet_w/o Horizon_segment_6"/>
          <p:cNvCxnSpPr/>
          <p:nvPr/>
        </p:nvCxnSpPr>
        <p:spPr>
          <a:xfrm flipV="1">
            <a:off x="3414461" y="1089701"/>
            <a:ext cx="363576" cy="784819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RadarCurve_InversionNet_w/o Horizon_segment_7"/>
          <p:cNvCxnSpPr/>
          <p:nvPr/>
        </p:nvCxnSpPr>
        <p:spPr>
          <a:xfrm flipV="1">
            <a:off x="3778037" y="732786"/>
            <a:ext cx="784819" cy="356915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adarMarker_InversionNet_w/o Horizon_0"/>
          <p:cNvSpPr/>
          <p:nvPr/>
        </p:nvSpPr>
        <p:spPr>
          <a:xfrm>
            <a:off x="4531766" y="701697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adarMarker_InversionNet_w/o Horizon_1"/>
          <p:cNvSpPr/>
          <p:nvPr/>
        </p:nvSpPr>
        <p:spPr>
          <a:xfrm>
            <a:off x="5278546" y="1096650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adarMarker_InversionNet_w/o Horizon_2"/>
          <p:cNvSpPr/>
          <p:nvPr/>
        </p:nvSpPr>
        <p:spPr>
          <a:xfrm>
            <a:off x="5661191" y="1843430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adarMarker_InversionNet_w/o Horizon_3"/>
          <p:cNvSpPr/>
          <p:nvPr/>
        </p:nvSpPr>
        <p:spPr>
          <a:xfrm>
            <a:off x="5226535" y="2538199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adarMarker_InversionNet_w/o Horizon_4"/>
          <p:cNvSpPr/>
          <p:nvPr/>
        </p:nvSpPr>
        <p:spPr>
          <a:xfrm>
            <a:off x="4531766" y="2990767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adarMarker_InversionNet_w/o Horizon_5"/>
          <p:cNvSpPr/>
          <p:nvPr/>
        </p:nvSpPr>
        <p:spPr>
          <a:xfrm>
            <a:off x="3729523" y="2645673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adarMarker_InversionNet_w/o Horizon_6"/>
          <p:cNvSpPr/>
          <p:nvPr/>
        </p:nvSpPr>
        <p:spPr>
          <a:xfrm>
            <a:off x="3383372" y="1843430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adarMarker_InversionNet_w/o Horizon_7"/>
          <p:cNvSpPr/>
          <p:nvPr/>
        </p:nvSpPr>
        <p:spPr>
          <a:xfrm>
            <a:off x="3746948" y="1058612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RadarCurve_VelocityGAN_w/o Horizon_segment_0"/>
          <p:cNvCxnSpPr/>
          <p:nvPr/>
        </p:nvCxnSpPr>
        <p:spPr>
          <a:xfrm>
            <a:off x="4562856" y="779755"/>
            <a:ext cx="654417" cy="440347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RadarCurve_VelocityGAN_w/o Horizon_segment_1"/>
          <p:cNvCxnSpPr/>
          <p:nvPr/>
        </p:nvCxnSpPr>
        <p:spPr>
          <a:xfrm>
            <a:off x="5217273" y="1220102"/>
            <a:ext cx="431938" cy="654417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RadarCurve_VelocityGAN_w/o Horizon_segment_2"/>
          <p:cNvCxnSpPr/>
          <p:nvPr/>
        </p:nvCxnSpPr>
        <p:spPr>
          <a:xfrm flipH="1">
            <a:off x="5185087" y="1874519"/>
            <a:ext cx="464124" cy="622232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RadarCurve_VelocityGAN_w/o Horizon_segment_3"/>
          <p:cNvCxnSpPr/>
          <p:nvPr/>
        </p:nvCxnSpPr>
        <p:spPr>
          <a:xfrm flipH="1">
            <a:off x="4562856" y="2496751"/>
            <a:ext cx="622231" cy="409014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RadarCurve_VelocityGAN_w/o Horizon_segment_4"/>
          <p:cNvCxnSpPr/>
          <p:nvPr/>
        </p:nvCxnSpPr>
        <p:spPr>
          <a:xfrm flipH="1" flipV="1">
            <a:off x="3780326" y="2657049"/>
            <a:ext cx="782530" cy="248716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RadarCurve_VelocityGAN_w/o Horizon_segment_5"/>
          <p:cNvCxnSpPr/>
          <p:nvPr/>
        </p:nvCxnSpPr>
        <p:spPr>
          <a:xfrm flipH="1" flipV="1">
            <a:off x="3479197" y="1874519"/>
            <a:ext cx="301129" cy="782530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RadarCurve_VelocityGAN_w/o Horizon_segment_6"/>
          <p:cNvCxnSpPr/>
          <p:nvPr/>
        </p:nvCxnSpPr>
        <p:spPr>
          <a:xfrm flipV="1">
            <a:off x="3479197" y="1124384"/>
            <a:ext cx="333523" cy="750135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RadarCurve_VelocityGAN_w/o Horizon_segment_7"/>
          <p:cNvCxnSpPr/>
          <p:nvPr/>
        </p:nvCxnSpPr>
        <p:spPr>
          <a:xfrm flipV="1">
            <a:off x="3812720" y="779755"/>
            <a:ext cx="750136" cy="344629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adarMarker_VelocityGAN_w/o Horizon_0"/>
          <p:cNvSpPr/>
          <p:nvPr/>
        </p:nvSpPr>
        <p:spPr>
          <a:xfrm>
            <a:off x="4531766" y="748666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adarMarker_VelocityGAN_w/o Horizon_1"/>
          <p:cNvSpPr/>
          <p:nvPr/>
        </p:nvSpPr>
        <p:spPr>
          <a:xfrm>
            <a:off x="5186183" y="1189012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adarMarker_VelocityGAN_w/o Horizon_2"/>
          <p:cNvSpPr/>
          <p:nvPr/>
        </p:nvSpPr>
        <p:spPr>
          <a:xfrm>
            <a:off x="5618121" y="1843430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adarMarker_VelocityGAN_w/o Horizon_3"/>
          <p:cNvSpPr/>
          <p:nvPr/>
        </p:nvSpPr>
        <p:spPr>
          <a:xfrm>
            <a:off x="5153997" y="2465661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adarMarker_VelocityGAN_w/o Horizon_4"/>
          <p:cNvSpPr/>
          <p:nvPr/>
        </p:nvSpPr>
        <p:spPr>
          <a:xfrm>
            <a:off x="4531766" y="2874676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adarMarker_VelocityGAN_w/o Horizon_5"/>
          <p:cNvSpPr/>
          <p:nvPr/>
        </p:nvSpPr>
        <p:spPr>
          <a:xfrm>
            <a:off x="3749237" y="2625959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adarMarker_VelocityGAN_w/o Horizon_6"/>
          <p:cNvSpPr/>
          <p:nvPr/>
        </p:nvSpPr>
        <p:spPr>
          <a:xfrm>
            <a:off x="3448108" y="1843430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adarMarker_VelocityGAN_w/o Horizon_7"/>
          <p:cNvSpPr/>
          <p:nvPr/>
        </p:nvSpPr>
        <p:spPr>
          <a:xfrm>
            <a:off x="3781631" y="1093295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RadarCurve_UPFWI_w/o Horizon_segment_0"/>
          <p:cNvCxnSpPr/>
          <p:nvPr/>
        </p:nvCxnSpPr>
        <p:spPr>
          <a:xfrm>
            <a:off x="4562856" y="727256"/>
            <a:ext cx="759792" cy="387471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RadarCurve_UPFWI_w/o Horizon_segment_1"/>
          <p:cNvCxnSpPr/>
          <p:nvPr/>
        </p:nvCxnSpPr>
        <p:spPr>
          <a:xfrm>
            <a:off x="5322648" y="1114727"/>
            <a:ext cx="369369" cy="759792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RadarCurve_UPFWI_w/o Horizon_segment_2"/>
          <p:cNvCxnSpPr/>
          <p:nvPr/>
        </p:nvCxnSpPr>
        <p:spPr>
          <a:xfrm flipH="1">
            <a:off x="5271072" y="1874519"/>
            <a:ext cx="420945" cy="708217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RadarCurve_UPFWI_w/o Horizon_segment_3"/>
          <p:cNvCxnSpPr/>
          <p:nvPr/>
        </p:nvCxnSpPr>
        <p:spPr>
          <a:xfrm flipH="1">
            <a:off x="4562856" y="2582736"/>
            <a:ext cx="708216" cy="440605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RadarCurve_UPFWI_w/o Horizon_segment_4"/>
          <p:cNvCxnSpPr/>
          <p:nvPr/>
        </p:nvCxnSpPr>
        <p:spPr>
          <a:xfrm flipH="1" flipV="1">
            <a:off x="3757425" y="2679950"/>
            <a:ext cx="805431" cy="343391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RadarCurve_UPFWI_w/o Horizon_segment_5"/>
          <p:cNvCxnSpPr/>
          <p:nvPr/>
        </p:nvCxnSpPr>
        <p:spPr>
          <a:xfrm flipH="1" flipV="1">
            <a:off x="3413899" y="1874520"/>
            <a:ext cx="343526" cy="805430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RadarCurve_UPFWI_w/o Horizon_segment_6"/>
          <p:cNvCxnSpPr/>
          <p:nvPr/>
        </p:nvCxnSpPr>
        <p:spPr>
          <a:xfrm flipV="1">
            <a:off x="3413899" y="1089789"/>
            <a:ext cx="364226" cy="784731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RadarCurve_UPFWI_w/o Horizon_segment_7"/>
          <p:cNvCxnSpPr/>
          <p:nvPr/>
        </p:nvCxnSpPr>
        <p:spPr>
          <a:xfrm flipV="1">
            <a:off x="3778125" y="727256"/>
            <a:ext cx="784731" cy="362533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adarMarker_UPFWI_w/o Horizon_0"/>
          <p:cNvSpPr/>
          <p:nvPr/>
        </p:nvSpPr>
        <p:spPr>
          <a:xfrm>
            <a:off x="4531766" y="696167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adarMarker_UPFWI_w/o Horizon_1"/>
          <p:cNvSpPr/>
          <p:nvPr/>
        </p:nvSpPr>
        <p:spPr>
          <a:xfrm>
            <a:off x="5291558" y="1083638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adarMarker_UPFWI_w/o Horizon_2"/>
          <p:cNvSpPr/>
          <p:nvPr/>
        </p:nvSpPr>
        <p:spPr>
          <a:xfrm>
            <a:off x="5660927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adarMarker_UPFWI_w/o Horizon_3"/>
          <p:cNvSpPr/>
          <p:nvPr/>
        </p:nvSpPr>
        <p:spPr>
          <a:xfrm>
            <a:off x="5239982" y="2551646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adarMarker_UPFWI_w/o Horizon_4"/>
          <p:cNvSpPr/>
          <p:nvPr/>
        </p:nvSpPr>
        <p:spPr>
          <a:xfrm>
            <a:off x="4531766" y="2992252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adarMarker_UPFWI_w/o Horizon_5"/>
          <p:cNvSpPr/>
          <p:nvPr/>
        </p:nvSpPr>
        <p:spPr>
          <a:xfrm>
            <a:off x="3726336" y="264886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adarMarker_UPFWI_w/o Horizon_6"/>
          <p:cNvSpPr/>
          <p:nvPr/>
        </p:nvSpPr>
        <p:spPr>
          <a:xfrm>
            <a:off x="3382809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adarMarker_UPFWI_w/o Horizon_7"/>
          <p:cNvSpPr/>
          <p:nvPr/>
        </p:nvSpPr>
        <p:spPr>
          <a:xfrm>
            <a:off x="3747035" y="1058699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RadarCurve_Auto-Linear_w/o Horizon_segment_0"/>
          <p:cNvCxnSpPr/>
          <p:nvPr/>
        </p:nvCxnSpPr>
        <p:spPr>
          <a:xfrm>
            <a:off x="4562856" y="775291"/>
            <a:ext cx="652442" cy="446786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RadarCurve_Auto-Linear_w/o Horizon_segment_1"/>
          <p:cNvCxnSpPr/>
          <p:nvPr/>
        </p:nvCxnSpPr>
        <p:spPr>
          <a:xfrm>
            <a:off x="5215298" y="1222077"/>
            <a:ext cx="421504" cy="652442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RadarCurve_Auto-Linear_w/o Horizon_segment_2"/>
          <p:cNvCxnSpPr/>
          <p:nvPr/>
        </p:nvCxnSpPr>
        <p:spPr>
          <a:xfrm flipH="1">
            <a:off x="5099990" y="1874519"/>
            <a:ext cx="536812" cy="537135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RadarCurve_Auto-Linear_w/o Horizon_segment_3"/>
          <p:cNvCxnSpPr/>
          <p:nvPr/>
        </p:nvCxnSpPr>
        <p:spPr>
          <a:xfrm flipH="1">
            <a:off x="4562856" y="2411654"/>
            <a:ext cx="537134" cy="594304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RadarCurve_Auto-Linear_w/o Horizon_segment_4"/>
          <p:cNvCxnSpPr/>
          <p:nvPr/>
        </p:nvCxnSpPr>
        <p:spPr>
          <a:xfrm flipH="1" flipV="1">
            <a:off x="3799632" y="2637743"/>
            <a:ext cx="763224" cy="368215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RadarCurve_Auto-Linear_w/o Horizon_segment_5"/>
          <p:cNvCxnSpPr/>
          <p:nvPr/>
        </p:nvCxnSpPr>
        <p:spPr>
          <a:xfrm flipH="1" flipV="1">
            <a:off x="3435475" y="1874520"/>
            <a:ext cx="364157" cy="763223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RadarCurve_Auto-Linear_w/o Horizon_segment_6"/>
          <p:cNvCxnSpPr/>
          <p:nvPr/>
        </p:nvCxnSpPr>
        <p:spPr>
          <a:xfrm flipV="1">
            <a:off x="3435475" y="1143256"/>
            <a:ext cx="396117" cy="731264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RadarCurve_Auto-Linear_w/o Horizon_segment_7"/>
          <p:cNvCxnSpPr/>
          <p:nvPr/>
        </p:nvCxnSpPr>
        <p:spPr>
          <a:xfrm flipV="1">
            <a:off x="3831592" y="775291"/>
            <a:ext cx="731264" cy="367965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RadarMarker_Auto-Linear_w/o Horizon_0"/>
          <p:cNvSpPr/>
          <p:nvPr/>
        </p:nvSpPr>
        <p:spPr>
          <a:xfrm>
            <a:off x="4531766" y="744202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adarMarker_Auto-Linear_w/o Horizon_1"/>
          <p:cNvSpPr/>
          <p:nvPr/>
        </p:nvSpPr>
        <p:spPr>
          <a:xfrm>
            <a:off x="5184208" y="1190988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adarMarker_Auto-Linear_w/o Horizon_2"/>
          <p:cNvSpPr/>
          <p:nvPr/>
        </p:nvSpPr>
        <p:spPr>
          <a:xfrm>
            <a:off x="5605713" y="1843430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adarMarker_Auto-Linear_w/o Horizon_3"/>
          <p:cNvSpPr/>
          <p:nvPr/>
        </p:nvSpPr>
        <p:spPr>
          <a:xfrm>
            <a:off x="5068901" y="2380565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adarMarker_Auto-Linear_w/o Horizon_4"/>
          <p:cNvSpPr/>
          <p:nvPr/>
        </p:nvSpPr>
        <p:spPr>
          <a:xfrm>
            <a:off x="4531766" y="2974868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adarMarker_Auto-Linear_w/o Horizon_5"/>
          <p:cNvSpPr/>
          <p:nvPr/>
        </p:nvSpPr>
        <p:spPr>
          <a:xfrm>
            <a:off x="3768542" y="2606654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adarMarker_Auto-Linear_w/o Horizon_6"/>
          <p:cNvSpPr/>
          <p:nvPr/>
        </p:nvSpPr>
        <p:spPr>
          <a:xfrm>
            <a:off x="3404386" y="1843430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adarMarker_Auto-Linear_w/o Horizon_7"/>
          <p:cNvSpPr/>
          <p:nvPr/>
        </p:nvSpPr>
        <p:spPr>
          <a:xfrm>
            <a:off x="3800502" y="1112166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RadarCurve_Latent U-Net (Large)_w/o Horizon_segment_0"/>
          <p:cNvCxnSpPr/>
          <p:nvPr/>
        </p:nvCxnSpPr>
        <p:spPr>
          <a:xfrm>
            <a:off x="4562856" y="757564"/>
            <a:ext cx="575124" cy="541831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RadarCurve_Latent U-Net (Large)_w/o Horizon_segment_1"/>
          <p:cNvCxnSpPr/>
          <p:nvPr/>
        </p:nvCxnSpPr>
        <p:spPr>
          <a:xfrm>
            <a:off x="5137980" y="1299395"/>
            <a:ext cx="495981" cy="575124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RadarCurve_Latent U-Net (Large)_w/o Horizon_segment_2"/>
          <p:cNvCxnSpPr/>
          <p:nvPr/>
        </p:nvCxnSpPr>
        <p:spPr>
          <a:xfrm flipH="1">
            <a:off x="5007561" y="1874519"/>
            <a:ext cx="626400" cy="444706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RadarCurve_Latent U-Net (Large)_w/o Horizon_segment_3"/>
          <p:cNvCxnSpPr/>
          <p:nvPr/>
        </p:nvCxnSpPr>
        <p:spPr>
          <a:xfrm flipH="1">
            <a:off x="4562856" y="2319225"/>
            <a:ext cx="444705" cy="659687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RadarCurve_Latent U-Net (Large)_w/o Horizon_segment_4"/>
          <p:cNvCxnSpPr/>
          <p:nvPr/>
        </p:nvCxnSpPr>
        <p:spPr>
          <a:xfrm flipH="1" flipV="1">
            <a:off x="3782654" y="2654721"/>
            <a:ext cx="780202" cy="324191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RadarCurve_Latent U-Net (Large)_w/o Horizon_segment_5"/>
          <p:cNvCxnSpPr/>
          <p:nvPr/>
        </p:nvCxnSpPr>
        <p:spPr>
          <a:xfrm flipH="1" flipV="1">
            <a:off x="3457138" y="1874520"/>
            <a:ext cx="325516" cy="780201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RadarCurve_Latent U-Net (Large)_w/o Horizon_segment_6"/>
          <p:cNvCxnSpPr/>
          <p:nvPr/>
        </p:nvCxnSpPr>
        <p:spPr>
          <a:xfrm flipV="1">
            <a:off x="3457138" y="1122888"/>
            <a:ext cx="354086" cy="751632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RadarCurve_Latent U-Net (Large)_w/o Horizon_segment_7"/>
          <p:cNvCxnSpPr/>
          <p:nvPr/>
        </p:nvCxnSpPr>
        <p:spPr>
          <a:xfrm flipV="1">
            <a:off x="3811224" y="757564"/>
            <a:ext cx="751632" cy="365324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RadarMarker_Latent U-Net (Large)_w/o Horizon_0"/>
          <p:cNvSpPr/>
          <p:nvPr/>
        </p:nvSpPr>
        <p:spPr>
          <a:xfrm rot="10800000">
            <a:off x="4531766" y="726475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adarMarker_Latent U-Net (Large)_w/o Horizon_1"/>
          <p:cNvSpPr/>
          <p:nvPr/>
        </p:nvSpPr>
        <p:spPr>
          <a:xfrm rot="10800000">
            <a:off x="5106890" y="1268305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adarMarker_Latent U-Net (Large)_w/o Horizon_2"/>
          <p:cNvSpPr/>
          <p:nvPr/>
        </p:nvSpPr>
        <p:spPr>
          <a:xfrm rot="10800000">
            <a:off x="5602871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adarMarker_Latent U-Net (Large)_w/o Horizon_3"/>
          <p:cNvSpPr/>
          <p:nvPr/>
        </p:nvSpPr>
        <p:spPr>
          <a:xfrm rot="10800000">
            <a:off x="4976471" y="2288135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adarMarker_Latent U-Net (Large)_w/o Horizon_4"/>
          <p:cNvSpPr/>
          <p:nvPr/>
        </p:nvSpPr>
        <p:spPr>
          <a:xfrm rot="10800000">
            <a:off x="4531766" y="2947823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adarMarker_Latent U-Net (Large)_w/o Horizon_5"/>
          <p:cNvSpPr/>
          <p:nvPr/>
        </p:nvSpPr>
        <p:spPr>
          <a:xfrm rot="10800000">
            <a:off x="3751564" y="2623632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adarMarker_Latent U-Net (Large)_w/o Horizon_6"/>
          <p:cNvSpPr/>
          <p:nvPr/>
        </p:nvSpPr>
        <p:spPr>
          <a:xfrm rot="10800000">
            <a:off x="3426048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adarMarker_Latent U-Net (Large)_w/o Horizon_7"/>
          <p:cNvSpPr/>
          <p:nvPr/>
        </p:nvSpPr>
        <p:spPr>
          <a:xfrm rot="10800000">
            <a:off x="3780135" y="1091799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RadarCurve_PD-BG-RFM_w/o Horizon_segment_0"/>
          <p:cNvCxnSpPr/>
          <p:nvPr/>
        </p:nvCxnSpPr>
        <p:spPr>
          <a:xfrm>
            <a:off x="4562856" y="877766"/>
            <a:ext cx="221265" cy="775488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RadarCurve_PD-BG-RFM_w/o Horizon_segment_1"/>
          <p:cNvCxnSpPr/>
          <p:nvPr/>
        </p:nvCxnSpPr>
        <p:spPr>
          <a:xfrm>
            <a:off x="4784121" y="1653254"/>
            <a:ext cx="691516" cy="221265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RadarCurve_PD-BG-RFM_w/o Horizon_segment_2"/>
          <p:cNvCxnSpPr/>
          <p:nvPr/>
        </p:nvCxnSpPr>
        <p:spPr>
          <a:xfrm flipH="1">
            <a:off x="4740955" y="1874519"/>
            <a:ext cx="734682" cy="178100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RadarCurve_PD-BG-RFM_w/o Horizon_segment_3"/>
          <p:cNvCxnSpPr/>
          <p:nvPr/>
        </p:nvCxnSpPr>
        <p:spPr>
          <a:xfrm flipH="1">
            <a:off x="4562856" y="2052619"/>
            <a:ext cx="178099" cy="751378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RadarCurve_PD-BG-RFM_w/o Horizon_segment_4"/>
          <p:cNvCxnSpPr/>
          <p:nvPr/>
        </p:nvCxnSpPr>
        <p:spPr>
          <a:xfrm flipH="1" flipV="1">
            <a:off x="4005744" y="2431631"/>
            <a:ext cx="557112" cy="372366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RadarCurve_PD-BG-RFM_w/o Horizon_segment_5"/>
          <p:cNvCxnSpPr/>
          <p:nvPr/>
        </p:nvCxnSpPr>
        <p:spPr>
          <a:xfrm flipH="1" flipV="1">
            <a:off x="3656993" y="1874519"/>
            <a:ext cx="348751" cy="557112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RadarCurve_PD-BG-RFM_w/o Horizon_segment_6"/>
          <p:cNvCxnSpPr/>
          <p:nvPr/>
        </p:nvCxnSpPr>
        <p:spPr>
          <a:xfrm flipV="1">
            <a:off x="3656993" y="1399576"/>
            <a:ext cx="430919" cy="474943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RadarCurve_PD-BG-RFM_w/o Horizon_segment_7"/>
          <p:cNvCxnSpPr/>
          <p:nvPr/>
        </p:nvCxnSpPr>
        <p:spPr>
          <a:xfrm flipV="1">
            <a:off x="4087912" y="877766"/>
            <a:ext cx="474944" cy="521810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adarMarker_PD-BG-RFM_w/o Horizon_0"/>
          <p:cNvSpPr/>
          <p:nvPr/>
        </p:nvSpPr>
        <p:spPr>
          <a:xfrm>
            <a:off x="4519422" y="834332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adarMarker_PD-BG-RFM_w/o Horizon_1"/>
          <p:cNvSpPr/>
          <p:nvPr/>
        </p:nvSpPr>
        <p:spPr>
          <a:xfrm>
            <a:off x="4740687" y="1609820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adarMarker_PD-BG-RFM_w/o Horizon_2"/>
          <p:cNvSpPr/>
          <p:nvPr/>
        </p:nvSpPr>
        <p:spPr>
          <a:xfrm>
            <a:off x="5432203" y="1831086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adarMarker_PD-BG-RFM_w/o Horizon_3"/>
          <p:cNvSpPr/>
          <p:nvPr/>
        </p:nvSpPr>
        <p:spPr>
          <a:xfrm>
            <a:off x="4697521" y="2009185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adarMarker_PD-BG-RFM_w/o Horizon_4"/>
          <p:cNvSpPr/>
          <p:nvPr/>
        </p:nvSpPr>
        <p:spPr>
          <a:xfrm>
            <a:off x="4519422" y="2760563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adarMarker_PD-BG-RFM_w/o Horizon_5"/>
          <p:cNvSpPr/>
          <p:nvPr/>
        </p:nvSpPr>
        <p:spPr>
          <a:xfrm>
            <a:off x="3962310" y="2388197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adarMarker_PD-BG-RFM_w/o Horizon_6"/>
          <p:cNvSpPr/>
          <p:nvPr/>
        </p:nvSpPr>
        <p:spPr>
          <a:xfrm>
            <a:off x="3613559" y="1831086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adarMarker_PD-BG-RFM_w/o Horizon_7"/>
          <p:cNvSpPr/>
          <p:nvPr/>
        </p:nvSpPr>
        <p:spPr>
          <a:xfrm>
            <a:off x="4044478" y="1356142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adarPanel_w/o PoSTM"/>
          <p:cNvSpPr txBox="1"/>
          <p:nvPr/>
        </p:nvSpPr>
        <p:spPr>
          <a:xfrm>
            <a:off x="6355080" y="109728"/>
            <a:ext cx="252374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252525"/>
                </a:solidFill>
                <a:latin typeface="Times New Roman"/>
              </a:rPr>
              <a:t>(c) w/o PoSTM</a:t>
            </a:r>
          </a:p>
        </p:txBody>
      </p:sp>
      <p:sp>
        <p:nvSpPr>
          <p:cNvPr id="247" name="RadialTick_w/o PSTM_0.85"/>
          <p:cNvSpPr txBox="1"/>
          <p:nvPr/>
        </p:nvSpPr>
        <p:spPr>
          <a:xfrm>
            <a:off x="7654637" y="1791114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0.85</a:t>
            </a:r>
          </a:p>
        </p:txBody>
      </p:sp>
      <p:sp>
        <p:nvSpPr>
          <p:cNvPr id="248" name="Grid_w/o PSTM_0.90"/>
          <p:cNvSpPr/>
          <p:nvPr/>
        </p:nvSpPr>
        <p:spPr>
          <a:xfrm>
            <a:off x="7226808" y="1484375"/>
            <a:ext cx="780288" cy="780288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adialTick_w/o PSTM_0.90"/>
          <p:cNvSpPr txBox="1"/>
          <p:nvPr/>
        </p:nvSpPr>
        <p:spPr>
          <a:xfrm>
            <a:off x="7911113" y="1534638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0.90</a:t>
            </a:r>
          </a:p>
        </p:txBody>
      </p:sp>
      <p:sp>
        <p:nvSpPr>
          <p:cNvPr id="250" name="Grid_w/o PSTM_0.95"/>
          <p:cNvSpPr/>
          <p:nvPr/>
        </p:nvSpPr>
        <p:spPr>
          <a:xfrm>
            <a:off x="6836664" y="1094232"/>
            <a:ext cx="1560575" cy="1560575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adialTick_w/o PSTM_0.95"/>
          <p:cNvSpPr txBox="1"/>
          <p:nvPr/>
        </p:nvSpPr>
        <p:spPr>
          <a:xfrm>
            <a:off x="8186986" y="1258765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0.95</a:t>
            </a:r>
          </a:p>
        </p:txBody>
      </p:sp>
      <p:sp>
        <p:nvSpPr>
          <p:cNvPr id="252" name="Grid_w/o PSTM_1.00"/>
          <p:cNvSpPr/>
          <p:nvPr/>
        </p:nvSpPr>
        <p:spPr>
          <a:xfrm>
            <a:off x="6446520" y="704087"/>
            <a:ext cx="2340864" cy="2340864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adialTick_w/o PSTM_1.00"/>
          <p:cNvSpPr txBox="1"/>
          <p:nvPr/>
        </p:nvSpPr>
        <p:spPr>
          <a:xfrm>
            <a:off x="8462860" y="982891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1.00</a:t>
            </a:r>
          </a:p>
        </p:txBody>
      </p:sp>
      <p:cxnSp>
        <p:nvCxnSpPr>
          <p:cNvPr id="254" name="Spoke_w/o PSTM_0"/>
          <p:cNvCxnSpPr/>
          <p:nvPr/>
        </p:nvCxnSpPr>
        <p:spPr>
          <a:xfrm flipV="1">
            <a:off x="7616952" y="704087"/>
            <a:ext cx="0" cy="1170432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AxisLabel_w/o PSTM_FlatVelA"/>
          <p:cNvSpPr txBox="1"/>
          <p:nvPr/>
        </p:nvSpPr>
        <p:spPr>
          <a:xfrm>
            <a:off x="7370064" y="448055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FVA</a:t>
            </a:r>
          </a:p>
        </p:txBody>
      </p:sp>
      <p:cxnSp>
        <p:nvCxnSpPr>
          <p:cNvPr id="256" name="Spoke_w/o PSTM_1"/>
          <p:cNvCxnSpPr/>
          <p:nvPr/>
        </p:nvCxnSpPr>
        <p:spPr>
          <a:xfrm flipV="1">
            <a:off x="7616952" y="1046899"/>
            <a:ext cx="827620" cy="82762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AxisLabel_w/o PSTM_FlatVelB"/>
          <p:cNvSpPr txBox="1"/>
          <p:nvPr/>
        </p:nvSpPr>
        <p:spPr>
          <a:xfrm>
            <a:off x="8327000" y="844431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FVB</a:t>
            </a:r>
          </a:p>
        </p:txBody>
      </p:sp>
      <p:cxnSp>
        <p:nvCxnSpPr>
          <p:cNvPr id="258" name="Spoke_w/o PSTM_2"/>
          <p:cNvCxnSpPr/>
          <p:nvPr/>
        </p:nvCxnSpPr>
        <p:spPr>
          <a:xfrm>
            <a:off x="7616952" y="1874519"/>
            <a:ext cx="1170432" cy="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AxisLabel_w/o PSTM_CurveVelA"/>
          <p:cNvSpPr txBox="1"/>
          <p:nvPr/>
        </p:nvSpPr>
        <p:spPr>
          <a:xfrm>
            <a:off x="8723376" y="1801367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CVA</a:t>
            </a:r>
          </a:p>
        </p:txBody>
      </p:sp>
      <p:cxnSp>
        <p:nvCxnSpPr>
          <p:cNvPr id="260" name="Spoke_w/o PSTM_3"/>
          <p:cNvCxnSpPr/>
          <p:nvPr/>
        </p:nvCxnSpPr>
        <p:spPr>
          <a:xfrm>
            <a:off x="7616952" y="1874519"/>
            <a:ext cx="827620" cy="82762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AxisLabel_w/o PSTM_CurveVelB"/>
          <p:cNvSpPr txBox="1"/>
          <p:nvPr/>
        </p:nvSpPr>
        <p:spPr>
          <a:xfrm>
            <a:off x="8327000" y="2758304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CVB</a:t>
            </a:r>
          </a:p>
        </p:txBody>
      </p:sp>
      <p:cxnSp>
        <p:nvCxnSpPr>
          <p:cNvPr id="262" name="Spoke_w/o PSTM_4"/>
          <p:cNvCxnSpPr/>
          <p:nvPr/>
        </p:nvCxnSpPr>
        <p:spPr>
          <a:xfrm>
            <a:off x="7616952" y="1874519"/>
            <a:ext cx="0" cy="1170433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AxisLabel_w/o PSTM_FlatFaultA"/>
          <p:cNvSpPr txBox="1"/>
          <p:nvPr/>
        </p:nvSpPr>
        <p:spPr>
          <a:xfrm>
            <a:off x="7370064" y="3154679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FFA</a:t>
            </a:r>
          </a:p>
        </p:txBody>
      </p:sp>
      <p:cxnSp>
        <p:nvCxnSpPr>
          <p:cNvPr id="264" name="Spoke_w/o PSTM_5"/>
          <p:cNvCxnSpPr/>
          <p:nvPr/>
        </p:nvCxnSpPr>
        <p:spPr>
          <a:xfrm flipH="1">
            <a:off x="6789331" y="1874519"/>
            <a:ext cx="827621" cy="82762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AxisLabel_w/o PSTM_FlatFaultB"/>
          <p:cNvSpPr txBox="1"/>
          <p:nvPr/>
        </p:nvSpPr>
        <p:spPr>
          <a:xfrm>
            <a:off x="6413127" y="2758304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FFB</a:t>
            </a:r>
          </a:p>
        </p:txBody>
      </p:sp>
      <p:cxnSp>
        <p:nvCxnSpPr>
          <p:cNvPr id="266" name="Spoke_w/o PSTM_6"/>
          <p:cNvCxnSpPr/>
          <p:nvPr/>
        </p:nvCxnSpPr>
        <p:spPr>
          <a:xfrm flipH="1">
            <a:off x="6446520" y="1874519"/>
            <a:ext cx="1170432" cy="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AxisLabel_w/o PSTM_CurveFaultA"/>
          <p:cNvSpPr txBox="1"/>
          <p:nvPr/>
        </p:nvSpPr>
        <p:spPr>
          <a:xfrm>
            <a:off x="6016752" y="1801368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CFA</a:t>
            </a:r>
          </a:p>
        </p:txBody>
      </p:sp>
      <p:cxnSp>
        <p:nvCxnSpPr>
          <p:cNvPr id="268" name="Spoke_w/o PSTM_7"/>
          <p:cNvCxnSpPr/>
          <p:nvPr/>
        </p:nvCxnSpPr>
        <p:spPr>
          <a:xfrm flipH="1" flipV="1">
            <a:off x="6789331" y="1046899"/>
            <a:ext cx="827621" cy="82762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AxisLabel_w/o PSTM_CurveFaultB"/>
          <p:cNvSpPr txBox="1"/>
          <p:nvPr/>
        </p:nvSpPr>
        <p:spPr>
          <a:xfrm>
            <a:off x="6413127" y="844431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CFB</a:t>
            </a:r>
          </a:p>
        </p:txBody>
      </p:sp>
      <p:cxnSp>
        <p:nvCxnSpPr>
          <p:cNvPr id="270" name="RadarCurve_InversionNet_w/o PoSTM_segment_0"/>
          <p:cNvCxnSpPr/>
          <p:nvPr/>
        </p:nvCxnSpPr>
        <p:spPr>
          <a:xfrm>
            <a:off x="7616952" y="720015"/>
            <a:ext cx="797839" cy="356665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RadarCurve_InversionNet_w/o PoSTM_segment_1"/>
          <p:cNvCxnSpPr/>
          <p:nvPr/>
        </p:nvCxnSpPr>
        <p:spPr>
          <a:xfrm>
            <a:off x="8414791" y="1076680"/>
            <a:ext cx="329363" cy="797839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RadarCurve_InversionNet_w/o PoSTM_segment_2"/>
          <p:cNvCxnSpPr/>
          <p:nvPr/>
        </p:nvCxnSpPr>
        <p:spPr>
          <a:xfrm flipH="1">
            <a:off x="8318713" y="1874519"/>
            <a:ext cx="425441" cy="701762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RadarCurve_InversionNet_w/o PoSTM_segment_3"/>
          <p:cNvCxnSpPr/>
          <p:nvPr/>
        </p:nvCxnSpPr>
        <p:spPr>
          <a:xfrm flipH="1">
            <a:off x="7616952" y="2576281"/>
            <a:ext cx="701761" cy="417558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RadarCurve_InversionNet_w/o PoSTM_segment_4"/>
          <p:cNvCxnSpPr/>
          <p:nvPr/>
        </p:nvCxnSpPr>
        <p:spPr>
          <a:xfrm flipH="1" flipV="1">
            <a:off x="6830055" y="2661416"/>
            <a:ext cx="786897" cy="332423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RadarCurve_InversionNet_w/o PoSTM_segment_5"/>
          <p:cNvCxnSpPr/>
          <p:nvPr/>
        </p:nvCxnSpPr>
        <p:spPr>
          <a:xfrm flipH="1" flipV="1">
            <a:off x="6501177" y="1874520"/>
            <a:ext cx="328878" cy="786896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RadarCurve_InversionNet_w/o PoSTM_segment_6"/>
          <p:cNvCxnSpPr/>
          <p:nvPr/>
        </p:nvCxnSpPr>
        <p:spPr>
          <a:xfrm flipV="1">
            <a:off x="6501177" y="1139394"/>
            <a:ext cx="380649" cy="735126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RadarCurve_InversionNet_w/o PoSTM_segment_7"/>
          <p:cNvCxnSpPr/>
          <p:nvPr/>
        </p:nvCxnSpPr>
        <p:spPr>
          <a:xfrm flipV="1">
            <a:off x="6881826" y="720015"/>
            <a:ext cx="735126" cy="419379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RadarMarker_InversionNet_w/o PoSTM_0"/>
          <p:cNvSpPr/>
          <p:nvPr/>
        </p:nvSpPr>
        <p:spPr>
          <a:xfrm>
            <a:off x="7585862" y="688926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adarMarker_InversionNet_w/o PoSTM_1"/>
          <p:cNvSpPr/>
          <p:nvPr/>
        </p:nvSpPr>
        <p:spPr>
          <a:xfrm>
            <a:off x="8383701" y="1045591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adarMarker_InversionNet_w/o PoSTM_2"/>
          <p:cNvSpPr/>
          <p:nvPr/>
        </p:nvSpPr>
        <p:spPr>
          <a:xfrm>
            <a:off x="8713064" y="1843430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adarMarker_InversionNet_w/o PoSTM_3"/>
          <p:cNvSpPr/>
          <p:nvPr/>
        </p:nvSpPr>
        <p:spPr>
          <a:xfrm>
            <a:off x="8287624" y="2545192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adarMarker_InversionNet_w/o PoSTM_4"/>
          <p:cNvSpPr/>
          <p:nvPr/>
        </p:nvSpPr>
        <p:spPr>
          <a:xfrm>
            <a:off x="7585862" y="2962749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adarMarker_InversionNet_w/o PoSTM_5"/>
          <p:cNvSpPr/>
          <p:nvPr/>
        </p:nvSpPr>
        <p:spPr>
          <a:xfrm>
            <a:off x="6798965" y="2630326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adarMarker_InversionNet_w/o PoSTM_6"/>
          <p:cNvSpPr/>
          <p:nvPr/>
        </p:nvSpPr>
        <p:spPr>
          <a:xfrm>
            <a:off x="6470087" y="1843430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adarMarker_InversionNet_w/o PoSTM_7"/>
          <p:cNvSpPr/>
          <p:nvPr/>
        </p:nvSpPr>
        <p:spPr>
          <a:xfrm>
            <a:off x="6850737" y="1108305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RadarCurve_VelocityGAN_w/o PoSTM_segment_0"/>
          <p:cNvCxnSpPr/>
          <p:nvPr/>
        </p:nvCxnSpPr>
        <p:spPr>
          <a:xfrm>
            <a:off x="7616952" y="814801"/>
            <a:ext cx="682036" cy="377682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RadarCurve_VelocityGAN_w/o PoSTM_segment_1"/>
          <p:cNvCxnSpPr/>
          <p:nvPr/>
        </p:nvCxnSpPr>
        <p:spPr>
          <a:xfrm>
            <a:off x="8298988" y="1192483"/>
            <a:ext cx="346485" cy="682036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RadarCurve_VelocityGAN_w/o PoSTM_segment_2"/>
          <p:cNvCxnSpPr/>
          <p:nvPr/>
        </p:nvCxnSpPr>
        <p:spPr>
          <a:xfrm flipH="1">
            <a:off x="8153060" y="1874519"/>
            <a:ext cx="492413" cy="536109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RadarCurve_VelocityGAN_w/o PoSTM_segment_3"/>
          <p:cNvCxnSpPr/>
          <p:nvPr/>
        </p:nvCxnSpPr>
        <p:spPr>
          <a:xfrm flipH="1">
            <a:off x="7616952" y="2410628"/>
            <a:ext cx="536108" cy="313936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RadarCurve_VelocityGAN_w/o PoSTM_segment_4"/>
          <p:cNvCxnSpPr/>
          <p:nvPr/>
        </p:nvCxnSpPr>
        <p:spPr>
          <a:xfrm flipH="1" flipV="1">
            <a:off x="6886237" y="2605234"/>
            <a:ext cx="730715" cy="119330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RadarCurve_VelocityGAN_w/o PoSTM_segment_5"/>
          <p:cNvCxnSpPr/>
          <p:nvPr/>
        </p:nvCxnSpPr>
        <p:spPr>
          <a:xfrm flipH="1" flipV="1">
            <a:off x="6624706" y="1874519"/>
            <a:ext cx="261531" cy="730715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RadarCurve_VelocityGAN_w/o PoSTM_segment_6"/>
          <p:cNvCxnSpPr/>
          <p:nvPr/>
        </p:nvCxnSpPr>
        <p:spPr>
          <a:xfrm flipV="1">
            <a:off x="6624706" y="1232756"/>
            <a:ext cx="350482" cy="641763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RadarCurve_VelocityGAN_w/o PoSTM_segment_7"/>
          <p:cNvCxnSpPr/>
          <p:nvPr/>
        </p:nvCxnSpPr>
        <p:spPr>
          <a:xfrm flipV="1">
            <a:off x="6975188" y="814801"/>
            <a:ext cx="641764" cy="417955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RadarMarker_VelocityGAN_w/o PoSTM_0"/>
          <p:cNvSpPr/>
          <p:nvPr/>
        </p:nvSpPr>
        <p:spPr>
          <a:xfrm>
            <a:off x="7585862" y="783712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adarMarker_VelocityGAN_w/o PoSTM_1"/>
          <p:cNvSpPr/>
          <p:nvPr/>
        </p:nvSpPr>
        <p:spPr>
          <a:xfrm>
            <a:off x="8267898" y="1161394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adarMarker_VelocityGAN_w/o PoSTM_2"/>
          <p:cNvSpPr/>
          <p:nvPr/>
        </p:nvSpPr>
        <p:spPr>
          <a:xfrm>
            <a:off x="8614383" y="1843430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adarMarker_VelocityGAN_w/o PoSTM_3"/>
          <p:cNvSpPr/>
          <p:nvPr/>
        </p:nvSpPr>
        <p:spPr>
          <a:xfrm>
            <a:off x="8121970" y="2379538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adarMarker_VelocityGAN_w/o PoSTM_4"/>
          <p:cNvSpPr/>
          <p:nvPr/>
        </p:nvSpPr>
        <p:spPr>
          <a:xfrm>
            <a:off x="7585862" y="2693474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adarMarker_VelocityGAN_w/o PoSTM_5"/>
          <p:cNvSpPr/>
          <p:nvPr/>
        </p:nvSpPr>
        <p:spPr>
          <a:xfrm>
            <a:off x="6855148" y="2574144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adarMarker_VelocityGAN_w/o PoSTM_6"/>
          <p:cNvSpPr/>
          <p:nvPr/>
        </p:nvSpPr>
        <p:spPr>
          <a:xfrm>
            <a:off x="6593616" y="1843430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adarMarker_VelocityGAN_w/o PoSTM_7"/>
          <p:cNvSpPr/>
          <p:nvPr/>
        </p:nvSpPr>
        <p:spPr>
          <a:xfrm>
            <a:off x="6944098" y="1201666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RadarCurve_UPFWI_w/o PoSTM_segment_0"/>
          <p:cNvCxnSpPr/>
          <p:nvPr/>
        </p:nvCxnSpPr>
        <p:spPr>
          <a:xfrm>
            <a:off x="7616952" y="715102"/>
            <a:ext cx="789863" cy="369554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RadarCurve_UPFWI_w/o PoSTM_segment_1"/>
          <p:cNvCxnSpPr/>
          <p:nvPr/>
        </p:nvCxnSpPr>
        <p:spPr>
          <a:xfrm>
            <a:off x="8406815" y="1084656"/>
            <a:ext cx="329196" cy="789863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RadarCurve_UPFWI_w/o PoSTM_segment_2"/>
          <p:cNvCxnSpPr/>
          <p:nvPr/>
        </p:nvCxnSpPr>
        <p:spPr>
          <a:xfrm flipH="1">
            <a:off x="8274898" y="1874519"/>
            <a:ext cx="461113" cy="657947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RadarCurve_UPFWI_w/o PoSTM_segment_3"/>
          <p:cNvCxnSpPr/>
          <p:nvPr/>
        </p:nvCxnSpPr>
        <p:spPr>
          <a:xfrm flipH="1">
            <a:off x="7616952" y="2532466"/>
            <a:ext cx="657946" cy="474669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RadarCurve_UPFWI_w/o PoSTM_segment_4"/>
          <p:cNvCxnSpPr/>
          <p:nvPr/>
        </p:nvCxnSpPr>
        <p:spPr>
          <a:xfrm flipH="1" flipV="1">
            <a:off x="6826655" y="2664816"/>
            <a:ext cx="790297" cy="342319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RadarCurve_UPFWI_w/o PoSTM_segment_5"/>
          <p:cNvCxnSpPr/>
          <p:nvPr/>
        </p:nvCxnSpPr>
        <p:spPr>
          <a:xfrm flipH="1" flipV="1">
            <a:off x="6486142" y="1874520"/>
            <a:ext cx="340513" cy="790296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RadarCurve_UPFWI_w/o PoSTM_segment_6"/>
          <p:cNvCxnSpPr/>
          <p:nvPr/>
        </p:nvCxnSpPr>
        <p:spPr>
          <a:xfrm flipV="1">
            <a:off x="6486142" y="1143051"/>
            <a:ext cx="399341" cy="731469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RadarCurve_UPFWI_w/o PoSTM_segment_7"/>
          <p:cNvCxnSpPr/>
          <p:nvPr/>
        </p:nvCxnSpPr>
        <p:spPr>
          <a:xfrm flipV="1">
            <a:off x="6885483" y="715102"/>
            <a:ext cx="731469" cy="427949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RadarMarker_UPFWI_w/o PoSTM_0"/>
          <p:cNvSpPr/>
          <p:nvPr/>
        </p:nvSpPr>
        <p:spPr>
          <a:xfrm>
            <a:off x="7585862" y="684012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adarMarker_UPFWI_w/o PoSTM_1"/>
          <p:cNvSpPr/>
          <p:nvPr/>
        </p:nvSpPr>
        <p:spPr>
          <a:xfrm>
            <a:off x="8375725" y="1053567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adarMarker_UPFWI_w/o PoSTM_2"/>
          <p:cNvSpPr/>
          <p:nvPr/>
        </p:nvSpPr>
        <p:spPr>
          <a:xfrm>
            <a:off x="8704921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adarMarker_UPFWI_w/o PoSTM_3"/>
          <p:cNvSpPr/>
          <p:nvPr/>
        </p:nvSpPr>
        <p:spPr>
          <a:xfrm>
            <a:off x="8243808" y="2501376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adarMarker_UPFWI_w/o PoSTM_4"/>
          <p:cNvSpPr/>
          <p:nvPr/>
        </p:nvSpPr>
        <p:spPr>
          <a:xfrm>
            <a:off x="7585862" y="2976046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adarMarker_UPFWI_w/o PoSTM_5"/>
          <p:cNvSpPr/>
          <p:nvPr/>
        </p:nvSpPr>
        <p:spPr>
          <a:xfrm>
            <a:off x="6795565" y="2633726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adarMarker_UPFWI_w/o PoSTM_6"/>
          <p:cNvSpPr/>
          <p:nvPr/>
        </p:nvSpPr>
        <p:spPr>
          <a:xfrm>
            <a:off x="6455052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adarMarker_UPFWI_w/o PoSTM_7"/>
          <p:cNvSpPr/>
          <p:nvPr/>
        </p:nvSpPr>
        <p:spPr>
          <a:xfrm>
            <a:off x="6854393" y="1111961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RadarCurve_Auto-Linear_w/o PoSTM_segment_0"/>
          <p:cNvCxnSpPr/>
          <p:nvPr/>
        </p:nvCxnSpPr>
        <p:spPr>
          <a:xfrm>
            <a:off x="7616952" y="793400"/>
            <a:ext cx="441567" cy="639552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RadarCurve_Auto-Linear_w/o PoSTM_segment_1"/>
          <p:cNvCxnSpPr/>
          <p:nvPr/>
        </p:nvCxnSpPr>
        <p:spPr>
          <a:xfrm>
            <a:off x="8058519" y="1432952"/>
            <a:ext cx="519339" cy="441567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RadarCurve_Auto-Linear_w/o PoSTM_segment_2"/>
          <p:cNvCxnSpPr/>
          <p:nvPr/>
        </p:nvCxnSpPr>
        <p:spPr>
          <a:xfrm flipH="1">
            <a:off x="7678749" y="1874519"/>
            <a:ext cx="899109" cy="61798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RadarCurve_Auto-Linear_w/o PoSTM_segment_3"/>
          <p:cNvCxnSpPr/>
          <p:nvPr/>
        </p:nvCxnSpPr>
        <p:spPr>
          <a:xfrm flipH="1">
            <a:off x="7616952" y="1936317"/>
            <a:ext cx="61797" cy="927994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RadarCurve_Auto-Linear_w/o PoSTM_segment_4"/>
          <p:cNvCxnSpPr/>
          <p:nvPr/>
        </p:nvCxnSpPr>
        <p:spPr>
          <a:xfrm flipH="1" flipV="1">
            <a:off x="6961446" y="2530025"/>
            <a:ext cx="655506" cy="334286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RadarCurve_Auto-Linear_w/o PoSTM_segment_5"/>
          <p:cNvCxnSpPr/>
          <p:nvPr/>
        </p:nvCxnSpPr>
        <p:spPr>
          <a:xfrm flipH="1" flipV="1">
            <a:off x="6617748" y="1874519"/>
            <a:ext cx="343698" cy="655506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RadarCurve_Auto-Linear_w/o PoSTM_segment_6"/>
          <p:cNvCxnSpPr/>
          <p:nvPr/>
        </p:nvCxnSpPr>
        <p:spPr>
          <a:xfrm flipV="1">
            <a:off x="6617748" y="1290038"/>
            <a:ext cx="414722" cy="584481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RadarCurve_Auto-Linear_w/o PoSTM_segment_7"/>
          <p:cNvCxnSpPr/>
          <p:nvPr/>
        </p:nvCxnSpPr>
        <p:spPr>
          <a:xfrm flipV="1">
            <a:off x="7032470" y="793400"/>
            <a:ext cx="584482" cy="496638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RadarMarker_Auto-Linear_w/o PoSTM_0"/>
          <p:cNvSpPr/>
          <p:nvPr/>
        </p:nvSpPr>
        <p:spPr>
          <a:xfrm>
            <a:off x="7585862" y="762310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adarMarker_Auto-Linear_w/o PoSTM_1"/>
          <p:cNvSpPr/>
          <p:nvPr/>
        </p:nvSpPr>
        <p:spPr>
          <a:xfrm>
            <a:off x="8027430" y="1401862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adarMarker_Auto-Linear_w/o PoSTM_2"/>
          <p:cNvSpPr/>
          <p:nvPr/>
        </p:nvSpPr>
        <p:spPr>
          <a:xfrm>
            <a:off x="8546769" y="1843430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adarMarker_Auto-Linear_w/o PoSTM_3"/>
          <p:cNvSpPr/>
          <p:nvPr/>
        </p:nvSpPr>
        <p:spPr>
          <a:xfrm>
            <a:off x="7647659" y="1905227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adarMarker_Auto-Linear_w/o PoSTM_4"/>
          <p:cNvSpPr/>
          <p:nvPr/>
        </p:nvSpPr>
        <p:spPr>
          <a:xfrm>
            <a:off x="7585862" y="2833221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adarMarker_Auto-Linear_w/o PoSTM_5"/>
          <p:cNvSpPr/>
          <p:nvPr/>
        </p:nvSpPr>
        <p:spPr>
          <a:xfrm>
            <a:off x="6930356" y="2498935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adarMarker_Auto-Linear_w/o PoSTM_6"/>
          <p:cNvSpPr/>
          <p:nvPr/>
        </p:nvSpPr>
        <p:spPr>
          <a:xfrm>
            <a:off x="6586659" y="1843430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adarMarker_Auto-Linear_w/o PoSTM_7"/>
          <p:cNvSpPr/>
          <p:nvPr/>
        </p:nvSpPr>
        <p:spPr>
          <a:xfrm>
            <a:off x="7001380" y="1258948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4" name="RadarCurve_Latent U-Net (Large)_w/o PoSTM_segment_0"/>
          <p:cNvCxnSpPr/>
          <p:nvPr/>
        </p:nvCxnSpPr>
        <p:spPr>
          <a:xfrm>
            <a:off x="7616952" y="724112"/>
            <a:ext cx="799684" cy="350723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RadarCurve_Latent U-Net (Large)_w/o PoSTM_segment_1"/>
          <p:cNvCxnSpPr/>
          <p:nvPr/>
        </p:nvCxnSpPr>
        <p:spPr>
          <a:xfrm>
            <a:off x="8416636" y="1074835"/>
            <a:ext cx="348853" cy="799684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RadarCurve_Latent U-Net (Large)_w/o PoSTM_segment_2"/>
          <p:cNvCxnSpPr/>
          <p:nvPr/>
        </p:nvCxnSpPr>
        <p:spPr>
          <a:xfrm flipH="1">
            <a:off x="8407800" y="1874519"/>
            <a:ext cx="357689" cy="790849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RadarCurve_Latent U-Net (Large)_w/o PoSTM_segment_3"/>
          <p:cNvCxnSpPr/>
          <p:nvPr/>
        </p:nvCxnSpPr>
        <p:spPr>
          <a:xfrm flipH="1">
            <a:off x="7616952" y="2665368"/>
            <a:ext cx="790848" cy="317172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RadarCurve_Latent U-Net (Large)_w/o PoSTM_segment_4"/>
          <p:cNvCxnSpPr/>
          <p:nvPr/>
        </p:nvCxnSpPr>
        <p:spPr>
          <a:xfrm flipH="1" flipV="1">
            <a:off x="6820719" y="2670752"/>
            <a:ext cx="796233" cy="311788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RadarCurve_Latent U-Net (Large)_w/o PoSTM_segment_5"/>
          <p:cNvCxnSpPr/>
          <p:nvPr/>
        </p:nvCxnSpPr>
        <p:spPr>
          <a:xfrm flipH="1" flipV="1">
            <a:off x="6505145" y="1874520"/>
            <a:ext cx="315574" cy="796232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RadarCurve_Latent U-Net (Large)_w/o PoSTM_segment_6"/>
          <p:cNvCxnSpPr/>
          <p:nvPr/>
        </p:nvCxnSpPr>
        <p:spPr>
          <a:xfrm flipV="1">
            <a:off x="6505145" y="1086545"/>
            <a:ext cx="323832" cy="787975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RadarCurve_Latent U-Net (Large)_w/o PoSTM_segment_7"/>
          <p:cNvCxnSpPr/>
          <p:nvPr/>
        </p:nvCxnSpPr>
        <p:spPr>
          <a:xfrm flipV="1">
            <a:off x="6828977" y="724112"/>
            <a:ext cx="787975" cy="362433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RadarMarker_Latent U-Net (Large)_w/o PoSTM_0"/>
          <p:cNvSpPr/>
          <p:nvPr/>
        </p:nvSpPr>
        <p:spPr>
          <a:xfrm rot="10800000">
            <a:off x="7585862" y="693022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adarMarker_Latent U-Net (Large)_w/o PoSTM_1"/>
          <p:cNvSpPr/>
          <p:nvPr/>
        </p:nvSpPr>
        <p:spPr>
          <a:xfrm rot="10800000">
            <a:off x="8385547" y="1043745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adarMarker_Latent U-Net (Large)_w/o PoSTM_2"/>
          <p:cNvSpPr/>
          <p:nvPr/>
        </p:nvSpPr>
        <p:spPr>
          <a:xfrm rot="10800000">
            <a:off x="8734400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adarMarker_Latent U-Net (Large)_w/o PoSTM_3"/>
          <p:cNvSpPr/>
          <p:nvPr/>
        </p:nvSpPr>
        <p:spPr>
          <a:xfrm rot="10800000">
            <a:off x="8376710" y="2634278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adarMarker_Latent U-Net (Large)_w/o PoSTM_4"/>
          <p:cNvSpPr/>
          <p:nvPr/>
        </p:nvSpPr>
        <p:spPr>
          <a:xfrm rot="10800000">
            <a:off x="7585862" y="295145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adarMarker_Latent U-Net (Large)_w/o PoSTM_5"/>
          <p:cNvSpPr/>
          <p:nvPr/>
        </p:nvSpPr>
        <p:spPr>
          <a:xfrm rot="10800000">
            <a:off x="6789630" y="2639662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adarMarker_Latent U-Net (Large)_w/o PoSTM_6"/>
          <p:cNvSpPr/>
          <p:nvPr/>
        </p:nvSpPr>
        <p:spPr>
          <a:xfrm rot="10800000">
            <a:off x="6474056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adarMarker_Latent U-Net (Large)_w/o PoSTM_7"/>
          <p:cNvSpPr/>
          <p:nvPr/>
        </p:nvSpPr>
        <p:spPr>
          <a:xfrm rot="10800000">
            <a:off x="6797887" y="1055455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0" name="RadarCurve_PD-BG-RFM_w/o PoSTM_segment_0"/>
          <p:cNvCxnSpPr/>
          <p:nvPr/>
        </p:nvCxnSpPr>
        <p:spPr>
          <a:xfrm>
            <a:off x="7616952" y="1123558"/>
            <a:ext cx="488850" cy="262111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RadarCurve_PD-BG-RFM_w/o PoSTM_segment_1"/>
          <p:cNvCxnSpPr/>
          <p:nvPr/>
        </p:nvCxnSpPr>
        <p:spPr>
          <a:xfrm>
            <a:off x="8105802" y="1385669"/>
            <a:ext cx="292941" cy="488850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RadarCurve_PD-BG-RFM_w/o PoSTM_segment_2"/>
          <p:cNvCxnSpPr/>
          <p:nvPr/>
        </p:nvCxnSpPr>
        <p:spPr>
          <a:xfrm flipH="1">
            <a:off x="8136500" y="1874519"/>
            <a:ext cx="262243" cy="519549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RadarCurve_PD-BG-RFM_w/o PoSTM_segment_3"/>
          <p:cNvCxnSpPr/>
          <p:nvPr/>
        </p:nvCxnSpPr>
        <p:spPr>
          <a:xfrm flipH="1">
            <a:off x="7616952" y="2394068"/>
            <a:ext cx="519548" cy="227106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RadarCurve_PD-BG-RFM_w/o PoSTM_segment_4"/>
          <p:cNvCxnSpPr/>
          <p:nvPr/>
        </p:nvCxnSpPr>
        <p:spPr>
          <a:xfrm flipH="1" flipV="1">
            <a:off x="7034176" y="2457295"/>
            <a:ext cx="582776" cy="163879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RadarCurve_PD-BG-RFM_w/o PoSTM_segment_5"/>
          <p:cNvCxnSpPr/>
          <p:nvPr/>
        </p:nvCxnSpPr>
        <p:spPr>
          <a:xfrm flipH="1" flipV="1">
            <a:off x="6846154" y="1874519"/>
            <a:ext cx="188022" cy="582776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RadarCurve_PD-BG-RFM_w/o PoSTM_segment_6"/>
          <p:cNvCxnSpPr/>
          <p:nvPr/>
        </p:nvCxnSpPr>
        <p:spPr>
          <a:xfrm flipV="1">
            <a:off x="6846154" y="1289321"/>
            <a:ext cx="185599" cy="585198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RadarCurve_PD-BG-RFM_w/o PoSTM_segment_7"/>
          <p:cNvCxnSpPr/>
          <p:nvPr/>
        </p:nvCxnSpPr>
        <p:spPr>
          <a:xfrm flipV="1">
            <a:off x="7031753" y="1123558"/>
            <a:ext cx="585199" cy="165763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RadarMarker_PD-BG-RFM_w/o PoSTM_0"/>
          <p:cNvSpPr/>
          <p:nvPr/>
        </p:nvSpPr>
        <p:spPr>
          <a:xfrm>
            <a:off x="7573518" y="1080124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adarMarker_PD-BG-RFM_w/o PoSTM_1"/>
          <p:cNvSpPr/>
          <p:nvPr/>
        </p:nvSpPr>
        <p:spPr>
          <a:xfrm>
            <a:off x="8062368" y="1342235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adarMarker_PD-BG-RFM_w/o PoSTM_2"/>
          <p:cNvSpPr/>
          <p:nvPr/>
        </p:nvSpPr>
        <p:spPr>
          <a:xfrm>
            <a:off x="8355309" y="1831086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adarMarker_PD-BG-RFM_w/o PoSTM_3"/>
          <p:cNvSpPr/>
          <p:nvPr/>
        </p:nvSpPr>
        <p:spPr>
          <a:xfrm>
            <a:off x="8093066" y="2350634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adarMarker_PD-BG-RFM_w/o PoSTM_4"/>
          <p:cNvSpPr/>
          <p:nvPr/>
        </p:nvSpPr>
        <p:spPr>
          <a:xfrm>
            <a:off x="7573518" y="2577740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adarMarker_PD-BG-RFM_w/o PoSTM_5"/>
          <p:cNvSpPr/>
          <p:nvPr/>
        </p:nvSpPr>
        <p:spPr>
          <a:xfrm>
            <a:off x="6990742" y="2413861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adarMarker_PD-BG-RFM_w/o PoSTM_6"/>
          <p:cNvSpPr/>
          <p:nvPr/>
        </p:nvSpPr>
        <p:spPr>
          <a:xfrm>
            <a:off x="6802720" y="1831086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adarMarker_PD-BG-RFM_w/o PoSTM_7"/>
          <p:cNvSpPr/>
          <p:nvPr/>
        </p:nvSpPr>
        <p:spPr>
          <a:xfrm>
            <a:off x="6988319" y="1245887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adarPanel_RMS Only"/>
          <p:cNvSpPr txBox="1"/>
          <p:nvPr/>
        </p:nvSpPr>
        <p:spPr>
          <a:xfrm>
            <a:off x="9409176" y="109728"/>
            <a:ext cx="252374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252525"/>
                </a:solidFill>
                <a:latin typeface="Times New Roman"/>
              </a:rPr>
              <a:t>(d) RMS Only</a:t>
            </a:r>
          </a:p>
        </p:txBody>
      </p:sp>
      <p:sp>
        <p:nvSpPr>
          <p:cNvPr id="367" name="RadialTick_RMS only_0.50"/>
          <p:cNvSpPr txBox="1"/>
          <p:nvPr/>
        </p:nvSpPr>
        <p:spPr>
          <a:xfrm>
            <a:off x="10708733" y="1791114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0.50</a:t>
            </a:r>
          </a:p>
        </p:txBody>
      </p:sp>
      <p:sp>
        <p:nvSpPr>
          <p:cNvPr id="368" name="Grid_RMS only_0.60"/>
          <p:cNvSpPr/>
          <p:nvPr/>
        </p:nvSpPr>
        <p:spPr>
          <a:xfrm>
            <a:off x="10436961" y="1640433"/>
            <a:ext cx="468172" cy="468172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adialTick_RMS only_0.60"/>
          <p:cNvSpPr txBox="1"/>
          <p:nvPr/>
        </p:nvSpPr>
        <p:spPr>
          <a:xfrm>
            <a:off x="10854860" y="1644987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0.60</a:t>
            </a:r>
          </a:p>
        </p:txBody>
      </p:sp>
      <p:sp>
        <p:nvSpPr>
          <p:cNvPr id="370" name="Grid_RMS only_0.70"/>
          <p:cNvSpPr/>
          <p:nvPr/>
        </p:nvSpPr>
        <p:spPr>
          <a:xfrm>
            <a:off x="10202875" y="1406347"/>
            <a:ext cx="936345" cy="936345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adialTick_RMS only_0.70"/>
          <p:cNvSpPr txBox="1"/>
          <p:nvPr/>
        </p:nvSpPr>
        <p:spPr>
          <a:xfrm>
            <a:off x="11020384" y="1479463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0.70</a:t>
            </a:r>
          </a:p>
        </p:txBody>
      </p:sp>
      <p:sp>
        <p:nvSpPr>
          <p:cNvPr id="372" name="Grid_RMS only_0.80"/>
          <p:cNvSpPr/>
          <p:nvPr/>
        </p:nvSpPr>
        <p:spPr>
          <a:xfrm>
            <a:off x="9968788" y="1172260"/>
            <a:ext cx="1404518" cy="1404518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adialTick_RMS only_0.80"/>
          <p:cNvSpPr txBox="1"/>
          <p:nvPr/>
        </p:nvSpPr>
        <p:spPr>
          <a:xfrm>
            <a:off x="11185908" y="1313939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0.80</a:t>
            </a:r>
          </a:p>
        </p:txBody>
      </p:sp>
      <p:sp>
        <p:nvSpPr>
          <p:cNvPr id="374" name="Grid_RMS only_0.90"/>
          <p:cNvSpPr/>
          <p:nvPr/>
        </p:nvSpPr>
        <p:spPr>
          <a:xfrm>
            <a:off x="9734702" y="938174"/>
            <a:ext cx="1872691" cy="1872691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adialTick_RMS only_0.90"/>
          <p:cNvSpPr txBox="1"/>
          <p:nvPr/>
        </p:nvSpPr>
        <p:spPr>
          <a:xfrm>
            <a:off x="11351432" y="1148415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0.90</a:t>
            </a:r>
          </a:p>
        </p:txBody>
      </p:sp>
      <p:sp>
        <p:nvSpPr>
          <p:cNvPr id="376" name="Grid_RMS only_1.00"/>
          <p:cNvSpPr/>
          <p:nvPr/>
        </p:nvSpPr>
        <p:spPr>
          <a:xfrm>
            <a:off x="9500616" y="704087"/>
            <a:ext cx="2340864" cy="2340864"/>
          </a:xfrm>
          <a:prstGeom prst="ellipse">
            <a:avLst/>
          </a:prstGeom>
          <a:noFill/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adialTick_RMS only_1.00"/>
          <p:cNvSpPr txBox="1"/>
          <p:nvPr/>
        </p:nvSpPr>
        <p:spPr>
          <a:xfrm>
            <a:off x="11516956" y="982891"/>
            <a:ext cx="34747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666666"/>
                </a:solidFill>
                <a:latin typeface="Times New Roman"/>
              </a:rPr>
              <a:t>1.00</a:t>
            </a:r>
          </a:p>
        </p:txBody>
      </p:sp>
      <p:cxnSp>
        <p:nvCxnSpPr>
          <p:cNvPr id="378" name="Spoke_RMS only_0"/>
          <p:cNvCxnSpPr/>
          <p:nvPr/>
        </p:nvCxnSpPr>
        <p:spPr>
          <a:xfrm flipV="1">
            <a:off x="10671048" y="704087"/>
            <a:ext cx="0" cy="1170432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AxisLabel_RMS only_FlatVelA"/>
          <p:cNvSpPr txBox="1"/>
          <p:nvPr/>
        </p:nvSpPr>
        <p:spPr>
          <a:xfrm>
            <a:off x="10424160" y="448055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FVA</a:t>
            </a:r>
          </a:p>
        </p:txBody>
      </p:sp>
      <p:cxnSp>
        <p:nvCxnSpPr>
          <p:cNvPr id="380" name="Spoke_RMS only_1"/>
          <p:cNvCxnSpPr/>
          <p:nvPr/>
        </p:nvCxnSpPr>
        <p:spPr>
          <a:xfrm flipV="1">
            <a:off x="10671048" y="1046899"/>
            <a:ext cx="827620" cy="82762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AxisLabel_RMS only_FlatVelB"/>
          <p:cNvSpPr txBox="1"/>
          <p:nvPr/>
        </p:nvSpPr>
        <p:spPr>
          <a:xfrm>
            <a:off x="11381096" y="844431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FVB</a:t>
            </a:r>
          </a:p>
        </p:txBody>
      </p:sp>
      <p:cxnSp>
        <p:nvCxnSpPr>
          <p:cNvPr id="382" name="Spoke_RMS only_2"/>
          <p:cNvCxnSpPr/>
          <p:nvPr/>
        </p:nvCxnSpPr>
        <p:spPr>
          <a:xfrm>
            <a:off x="10671048" y="1874519"/>
            <a:ext cx="1170432" cy="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AxisLabel_RMS only_CurveVelA"/>
          <p:cNvSpPr txBox="1"/>
          <p:nvPr/>
        </p:nvSpPr>
        <p:spPr>
          <a:xfrm>
            <a:off x="11777472" y="1801367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CVA</a:t>
            </a:r>
          </a:p>
        </p:txBody>
      </p:sp>
      <p:cxnSp>
        <p:nvCxnSpPr>
          <p:cNvPr id="384" name="Spoke_RMS only_3"/>
          <p:cNvCxnSpPr/>
          <p:nvPr/>
        </p:nvCxnSpPr>
        <p:spPr>
          <a:xfrm>
            <a:off x="10671048" y="1874519"/>
            <a:ext cx="827620" cy="82762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AxisLabel_RMS only_CurveVelB"/>
          <p:cNvSpPr txBox="1"/>
          <p:nvPr/>
        </p:nvSpPr>
        <p:spPr>
          <a:xfrm>
            <a:off x="11381096" y="2758304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CVB</a:t>
            </a:r>
          </a:p>
        </p:txBody>
      </p:sp>
      <p:cxnSp>
        <p:nvCxnSpPr>
          <p:cNvPr id="386" name="Spoke_RMS only_4"/>
          <p:cNvCxnSpPr/>
          <p:nvPr/>
        </p:nvCxnSpPr>
        <p:spPr>
          <a:xfrm>
            <a:off x="10671048" y="1874519"/>
            <a:ext cx="0" cy="1170433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AxisLabel_RMS only_FlatFaultA"/>
          <p:cNvSpPr txBox="1"/>
          <p:nvPr/>
        </p:nvSpPr>
        <p:spPr>
          <a:xfrm>
            <a:off x="10424160" y="3154679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FFA</a:t>
            </a:r>
          </a:p>
        </p:txBody>
      </p:sp>
      <p:cxnSp>
        <p:nvCxnSpPr>
          <p:cNvPr id="388" name="Spoke_RMS only_5"/>
          <p:cNvCxnSpPr/>
          <p:nvPr/>
        </p:nvCxnSpPr>
        <p:spPr>
          <a:xfrm flipH="1">
            <a:off x="9843427" y="1874519"/>
            <a:ext cx="827621" cy="82762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AxisLabel_RMS only_FlatFaultB"/>
          <p:cNvSpPr txBox="1"/>
          <p:nvPr/>
        </p:nvSpPr>
        <p:spPr>
          <a:xfrm>
            <a:off x="9467223" y="2758304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FFB</a:t>
            </a:r>
          </a:p>
        </p:txBody>
      </p:sp>
      <p:cxnSp>
        <p:nvCxnSpPr>
          <p:cNvPr id="390" name="Spoke_RMS only_6"/>
          <p:cNvCxnSpPr/>
          <p:nvPr/>
        </p:nvCxnSpPr>
        <p:spPr>
          <a:xfrm flipH="1">
            <a:off x="9500616" y="1874519"/>
            <a:ext cx="1170432" cy="1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AxisLabel_RMS only_CurveFaultA"/>
          <p:cNvSpPr txBox="1"/>
          <p:nvPr/>
        </p:nvSpPr>
        <p:spPr>
          <a:xfrm>
            <a:off x="9070848" y="1801368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CFA</a:t>
            </a:r>
          </a:p>
        </p:txBody>
      </p:sp>
      <p:cxnSp>
        <p:nvCxnSpPr>
          <p:cNvPr id="392" name="Spoke_RMS only_7"/>
          <p:cNvCxnSpPr/>
          <p:nvPr/>
        </p:nvCxnSpPr>
        <p:spPr>
          <a:xfrm flipH="1" flipV="1">
            <a:off x="9843427" y="1046899"/>
            <a:ext cx="827621" cy="827620"/>
          </a:xfrm>
          <a:prstGeom prst="line">
            <a:avLst/>
          </a:prstGeom>
          <a:ln w="6985">
            <a:solidFill>
              <a:srgbClr val="B8B8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AxisLabel_RMS only_CurveFaultB"/>
          <p:cNvSpPr txBox="1"/>
          <p:nvPr/>
        </p:nvSpPr>
        <p:spPr>
          <a:xfrm>
            <a:off x="9467223" y="844431"/>
            <a:ext cx="49377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30" b="0" i="0">
                <a:solidFill>
                  <a:srgbClr val="252525"/>
                </a:solidFill>
                <a:latin typeface="Times New Roman"/>
              </a:rPr>
              <a:t>CFB</a:t>
            </a:r>
          </a:p>
        </p:txBody>
      </p:sp>
      <p:cxnSp>
        <p:nvCxnSpPr>
          <p:cNvPr id="394" name="RadarCurve_InversionNet_RMS Only_segment_0"/>
          <p:cNvCxnSpPr/>
          <p:nvPr/>
        </p:nvCxnSpPr>
        <p:spPr>
          <a:xfrm>
            <a:off x="10671048" y="737774"/>
            <a:ext cx="735626" cy="401119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RadarCurve_InversionNet_RMS Only_segment_1"/>
          <p:cNvCxnSpPr/>
          <p:nvPr/>
        </p:nvCxnSpPr>
        <p:spPr>
          <a:xfrm>
            <a:off x="11406674" y="1138893"/>
            <a:ext cx="392607" cy="735626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RadarCurve_InversionNet_RMS Only_segment_2"/>
          <p:cNvCxnSpPr/>
          <p:nvPr/>
        </p:nvCxnSpPr>
        <p:spPr>
          <a:xfrm flipH="1">
            <a:off x="11358035" y="1874519"/>
            <a:ext cx="441246" cy="686988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RadarCurve_InversionNet_RMS Only_segment_3"/>
          <p:cNvCxnSpPr/>
          <p:nvPr/>
        </p:nvCxnSpPr>
        <p:spPr>
          <a:xfrm flipH="1">
            <a:off x="10671048" y="2561507"/>
            <a:ext cx="686987" cy="456301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RadarCurve_InversionNet_RMS Only_segment_4"/>
          <p:cNvCxnSpPr/>
          <p:nvPr/>
        </p:nvCxnSpPr>
        <p:spPr>
          <a:xfrm flipH="1" flipV="1">
            <a:off x="9870668" y="2674899"/>
            <a:ext cx="800380" cy="342909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RadarCurve_InversionNet_RMS Only_segment_5"/>
          <p:cNvCxnSpPr/>
          <p:nvPr/>
        </p:nvCxnSpPr>
        <p:spPr>
          <a:xfrm flipH="1" flipV="1">
            <a:off x="9525308" y="1874520"/>
            <a:ext cx="345360" cy="800379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RadarCurve_InversionNet_RMS Only_segment_6"/>
          <p:cNvCxnSpPr/>
          <p:nvPr/>
        </p:nvCxnSpPr>
        <p:spPr>
          <a:xfrm flipV="1">
            <a:off x="9525308" y="1090088"/>
            <a:ext cx="361308" cy="784432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RadarCurve_InversionNet_RMS Only_segment_7"/>
          <p:cNvCxnSpPr/>
          <p:nvPr/>
        </p:nvCxnSpPr>
        <p:spPr>
          <a:xfrm flipV="1">
            <a:off x="9886616" y="737774"/>
            <a:ext cx="784432" cy="352314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RadarMarker_InversionNet_RMS Only_0"/>
          <p:cNvSpPr/>
          <p:nvPr/>
        </p:nvSpPr>
        <p:spPr>
          <a:xfrm>
            <a:off x="10639958" y="706684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adarMarker_InversionNet_RMS Only_1"/>
          <p:cNvSpPr/>
          <p:nvPr/>
        </p:nvSpPr>
        <p:spPr>
          <a:xfrm>
            <a:off x="11375584" y="1107804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adarMarker_InversionNet_RMS Only_2"/>
          <p:cNvSpPr/>
          <p:nvPr/>
        </p:nvSpPr>
        <p:spPr>
          <a:xfrm>
            <a:off x="11768192" y="1843430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adarMarker_InversionNet_RMS Only_3"/>
          <p:cNvSpPr/>
          <p:nvPr/>
        </p:nvSpPr>
        <p:spPr>
          <a:xfrm>
            <a:off x="11326946" y="2530418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adarMarker_InversionNet_RMS Only_4"/>
          <p:cNvSpPr/>
          <p:nvPr/>
        </p:nvSpPr>
        <p:spPr>
          <a:xfrm>
            <a:off x="10639958" y="2986718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adarMarker_InversionNet_RMS Only_5"/>
          <p:cNvSpPr/>
          <p:nvPr/>
        </p:nvSpPr>
        <p:spPr>
          <a:xfrm>
            <a:off x="9839579" y="2643809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adarMarker_InversionNet_RMS Only_6"/>
          <p:cNvSpPr/>
          <p:nvPr/>
        </p:nvSpPr>
        <p:spPr>
          <a:xfrm>
            <a:off x="9494218" y="1843430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adarMarker_InversionNet_RMS Only_7"/>
          <p:cNvSpPr/>
          <p:nvPr/>
        </p:nvSpPr>
        <p:spPr>
          <a:xfrm>
            <a:off x="9855526" y="1058998"/>
            <a:ext cx="62179" cy="62179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0" name="RadarCurve_VelocityGAN_RMS Only_segment_0"/>
          <p:cNvCxnSpPr/>
          <p:nvPr/>
        </p:nvCxnSpPr>
        <p:spPr>
          <a:xfrm>
            <a:off x="10671048" y="799026"/>
            <a:ext cx="616452" cy="459041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RadarCurve_VelocityGAN_RMS Only_segment_1"/>
          <p:cNvCxnSpPr/>
          <p:nvPr/>
        </p:nvCxnSpPr>
        <p:spPr>
          <a:xfrm>
            <a:off x="11287500" y="1258067"/>
            <a:ext cx="461914" cy="616452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RadarCurve_VelocityGAN_RMS Only_segment_2"/>
          <p:cNvCxnSpPr/>
          <p:nvPr/>
        </p:nvCxnSpPr>
        <p:spPr>
          <a:xfrm flipH="1">
            <a:off x="11280817" y="1874519"/>
            <a:ext cx="468597" cy="609770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RadarCurve_VelocityGAN_RMS Only_segment_3"/>
          <p:cNvCxnSpPr/>
          <p:nvPr/>
        </p:nvCxnSpPr>
        <p:spPr>
          <a:xfrm flipH="1">
            <a:off x="10671048" y="2484289"/>
            <a:ext cx="609769" cy="412678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RadarCurve_VelocityGAN_RMS Only_segment_4"/>
          <p:cNvCxnSpPr/>
          <p:nvPr/>
        </p:nvCxnSpPr>
        <p:spPr>
          <a:xfrm flipH="1" flipV="1">
            <a:off x="9893362" y="2652205"/>
            <a:ext cx="777686" cy="244762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RadarCurve_VelocityGAN_RMS Only_segment_5"/>
          <p:cNvCxnSpPr/>
          <p:nvPr/>
        </p:nvCxnSpPr>
        <p:spPr>
          <a:xfrm flipH="1" flipV="1">
            <a:off x="9590781" y="1874519"/>
            <a:ext cx="302581" cy="777686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RadarCurve_VelocityGAN_RMS Only_segment_6"/>
          <p:cNvCxnSpPr/>
          <p:nvPr/>
        </p:nvCxnSpPr>
        <p:spPr>
          <a:xfrm flipV="1">
            <a:off x="9590781" y="1127651"/>
            <a:ext cx="333398" cy="746868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RadarCurve_VelocityGAN_RMS Only_segment_7"/>
          <p:cNvCxnSpPr/>
          <p:nvPr/>
        </p:nvCxnSpPr>
        <p:spPr>
          <a:xfrm flipV="1">
            <a:off x="9924179" y="799026"/>
            <a:ext cx="746869" cy="328625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RadarMarker_VelocityGAN_RMS Only_0"/>
          <p:cNvSpPr/>
          <p:nvPr/>
        </p:nvSpPr>
        <p:spPr>
          <a:xfrm>
            <a:off x="10639958" y="767936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adarMarker_VelocityGAN_RMS Only_1"/>
          <p:cNvSpPr/>
          <p:nvPr/>
        </p:nvSpPr>
        <p:spPr>
          <a:xfrm>
            <a:off x="11256410" y="1226978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adarMarker_VelocityGAN_RMS Only_2"/>
          <p:cNvSpPr/>
          <p:nvPr/>
        </p:nvSpPr>
        <p:spPr>
          <a:xfrm>
            <a:off x="11718324" y="1843430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adarMarker_VelocityGAN_RMS Only_3"/>
          <p:cNvSpPr/>
          <p:nvPr/>
        </p:nvSpPr>
        <p:spPr>
          <a:xfrm>
            <a:off x="11249728" y="2453200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adarMarker_VelocityGAN_RMS Only_4"/>
          <p:cNvSpPr/>
          <p:nvPr/>
        </p:nvSpPr>
        <p:spPr>
          <a:xfrm>
            <a:off x="10639958" y="2865877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adarMarker_VelocityGAN_RMS Only_5"/>
          <p:cNvSpPr/>
          <p:nvPr/>
        </p:nvSpPr>
        <p:spPr>
          <a:xfrm>
            <a:off x="9862272" y="2621116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adarMarker_VelocityGAN_RMS Only_6"/>
          <p:cNvSpPr/>
          <p:nvPr/>
        </p:nvSpPr>
        <p:spPr>
          <a:xfrm>
            <a:off x="9559691" y="1843430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adarMarker_VelocityGAN_RMS Only_7"/>
          <p:cNvSpPr/>
          <p:nvPr/>
        </p:nvSpPr>
        <p:spPr>
          <a:xfrm>
            <a:off x="9893089" y="1096561"/>
            <a:ext cx="62179" cy="62179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6" name="RadarCurve_UPFWI_RMS Only_segment_0"/>
          <p:cNvCxnSpPr/>
          <p:nvPr/>
        </p:nvCxnSpPr>
        <p:spPr>
          <a:xfrm>
            <a:off x="10671048" y="733137"/>
            <a:ext cx="747727" cy="393655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RadarCurve_UPFWI_RMS Only_segment_1"/>
          <p:cNvCxnSpPr/>
          <p:nvPr/>
        </p:nvCxnSpPr>
        <p:spPr>
          <a:xfrm>
            <a:off x="11418775" y="1126792"/>
            <a:ext cx="379821" cy="747727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RadarCurve_UPFWI_RMS Only_segment_2"/>
          <p:cNvCxnSpPr/>
          <p:nvPr/>
        </p:nvCxnSpPr>
        <p:spPr>
          <a:xfrm flipH="1">
            <a:off x="11376574" y="1874519"/>
            <a:ext cx="422022" cy="705527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RadarCurve_UPFWI_RMS Only_segment_3"/>
          <p:cNvCxnSpPr/>
          <p:nvPr/>
        </p:nvCxnSpPr>
        <p:spPr>
          <a:xfrm flipH="1">
            <a:off x="10671048" y="2580046"/>
            <a:ext cx="705526" cy="440456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RadarCurve_UPFWI_RMS Only_segment_4"/>
          <p:cNvCxnSpPr/>
          <p:nvPr/>
        </p:nvCxnSpPr>
        <p:spPr>
          <a:xfrm flipH="1" flipV="1">
            <a:off x="9868550" y="2677017"/>
            <a:ext cx="802498" cy="343485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RadarCurve_UPFWI_RMS Only_segment_5"/>
          <p:cNvCxnSpPr/>
          <p:nvPr/>
        </p:nvCxnSpPr>
        <p:spPr>
          <a:xfrm flipH="1" flipV="1">
            <a:off x="9522660" y="1874520"/>
            <a:ext cx="345890" cy="802497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RadarCurve_UPFWI_RMS Only_segment_6"/>
          <p:cNvCxnSpPr/>
          <p:nvPr/>
        </p:nvCxnSpPr>
        <p:spPr>
          <a:xfrm flipV="1">
            <a:off x="9522660" y="1090671"/>
            <a:ext cx="364539" cy="783849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RadarCurve_UPFWI_RMS Only_segment_7"/>
          <p:cNvCxnSpPr/>
          <p:nvPr/>
        </p:nvCxnSpPr>
        <p:spPr>
          <a:xfrm flipV="1">
            <a:off x="9887199" y="733137"/>
            <a:ext cx="783849" cy="357534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RadarMarker_UPFWI_RMS Only_0"/>
          <p:cNvSpPr/>
          <p:nvPr/>
        </p:nvSpPr>
        <p:spPr>
          <a:xfrm>
            <a:off x="10639958" y="702047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adarMarker_UPFWI_RMS Only_1"/>
          <p:cNvSpPr/>
          <p:nvPr/>
        </p:nvSpPr>
        <p:spPr>
          <a:xfrm>
            <a:off x="11387686" y="1095702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adarMarker_UPFWI_RMS Only_2"/>
          <p:cNvSpPr/>
          <p:nvPr/>
        </p:nvSpPr>
        <p:spPr>
          <a:xfrm>
            <a:off x="11767507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adarMarker_UPFWI_RMS Only_3"/>
          <p:cNvSpPr/>
          <p:nvPr/>
        </p:nvSpPr>
        <p:spPr>
          <a:xfrm>
            <a:off x="11345485" y="2548957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adarMarker_UPFWI_RMS Only_4"/>
          <p:cNvSpPr/>
          <p:nvPr/>
        </p:nvSpPr>
        <p:spPr>
          <a:xfrm>
            <a:off x="10639958" y="2989412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adarMarker_UPFWI_RMS Only_5"/>
          <p:cNvSpPr/>
          <p:nvPr/>
        </p:nvSpPr>
        <p:spPr>
          <a:xfrm>
            <a:off x="9837460" y="2645928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adarMarker_UPFWI_RMS Only_6"/>
          <p:cNvSpPr/>
          <p:nvPr/>
        </p:nvSpPr>
        <p:spPr>
          <a:xfrm>
            <a:off x="9491570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adarMarker_UPFWI_RMS Only_7"/>
          <p:cNvSpPr/>
          <p:nvPr/>
        </p:nvSpPr>
        <p:spPr>
          <a:xfrm>
            <a:off x="9856109" y="1059581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2" name="RadarCurve_Auto-Linear_RMS Only_segment_0"/>
          <p:cNvCxnSpPr/>
          <p:nvPr/>
        </p:nvCxnSpPr>
        <p:spPr>
          <a:xfrm>
            <a:off x="10671048" y="781025"/>
            <a:ext cx="587454" cy="506040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RadarCurve_Auto-Linear_RMS Only_segment_1"/>
          <p:cNvCxnSpPr/>
          <p:nvPr/>
        </p:nvCxnSpPr>
        <p:spPr>
          <a:xfrm>
            <a:off x="11258502" y="1287065"/>
            <a:ext cx="490081" cy="587454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RadarCurve_Auto-Linear_RMS Only_segment_2"/>
          <p:cNvCxnSpPr/>
          <p:nvPr/>
        </p:nvCxnSpPr>
        <p:spPr>
          <a:xfrm flipH="1">
            <a:off x="11140997" y="1874519"/>
            <a:ext cx="607586" cy="469950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RadarCurve_Auto-Linear_RMS Only_segment_3"/>
          <p:cNvCxnSpPr/>
          <p:nvPr/>
        </p:nvCxnSpPr>
        <p:spPr>
          <a:xfrm flipH="1">
            <a:off x="10671048" y="2344469"/>
            <a:ext cx="469949" cy="615572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RadarCurve_Auto-Linear_RMS Only_segment_4"/>
          <p:cNvCxnSpPr/>
          <p:nvPr/>
        </p:nvCxnSpPr>
        <p:spPr>
          <a:xfrm flipH="1" flipV="1">
            <a:off x="9920496" y="2625071"/>
            <a:ext cx="750552" cy="334970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RadarCurve_Auto-Linear_RMS Only_segment_5"/>
          <p:cNvCxnSpPr/>
          <p:nvPr/>
        </p:nvCxnSpPr>
        <p:spPr>
          <a:xfrm flipH="1" flipV="1">
            <a:off x="9580362" y="1874519"/>
            <a:ext cx="340134" cy="750552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RadarCurve_Auto-Linear_RMS Only_segment_6"/>
          <p:cNvCxnSpPr/>
          <p:nvPr/>
        </p:nvCxnSpPr>
        <p:spPr>
          <a:xfrm flipV="1">
            <a:off x="9580362" y="1151082"/>
            <a:ext cx="367248" cy="723437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RadarCurve_Auto-Linear_RMS Only_segment_7"/>
          <p:cNvCxnSpPr/>
          <p:nvPr/>
        </p:nvCxnSpPr>
        <p:spPr>
          <a:xfrm flipV="1">
            <a:off x="9947610" y="781025"/>
            <a:ext cx="723438" cy="370057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RadarMarker_Auto-Linear_RMS Only_0"/>
          <p:cNvSpPr/>
          <p:nvPr/>
        </p:nvSpPr>
        <p:spPr>
          <a:xfrm>
            <a:off x="10639958" y="749935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adarMarker_Auto-Linear_RMS Only_1"/>
          <p:cNvSpPr/>
          <p:nvPr/>
        </p:nvSpPr>
        <p:spPr>
          <a:xfrm>
            <a:off x="11227412" y="1255976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adarMarker_Auto-Linear_RMS Only_2"/>
          <p:cNvSpPr/>
          <p:nvPr/>
        </p:nvSpPr>
        <p:spPr>
          <a:xfrm>
            <a:off x="11717494" y="1843430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adarMarker_Auto-Linear_RMS Only_3"/>
          <p:cNvSpPr/>
          <p:nvPr/>
        </p:nvSpPr>
        <p:spPr>
          <a:xfrm>
            <a:off x="11109907" y="2313379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adarMarker_Auto-Linear_RMS Only_4"/>
          <p:cNvSpPr/>
          <p:nvPr/>
        </p:nvSpPr>
        <p:spPr>
          <a:xfrm>
            <a:off x="10639958" y="2928952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adarMarker_Auto-Linear_RMS Only_5"/>
          <p:cNvSpPr/>
          <p:nvPr/>
        </p:nvSpPr>
        <p:spPr>
          <a:xfrm>
            <a:off x="9889407" y="2593981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adarMarker_Auto-Linear_RMS Only_6"/>
          <p:cNvSpPr/>
          <p:nvPr/>
        </p:nvSpPr>
        <p:spPr>
          <a:xfrm>
            <a:off x="9549272" y="1843430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adarMarker_Auto-Linear_RMS Only_7"/>
          <p:cNvSpPr/>
          <p:nvPr/>
        </p:nvSpPr>
        <p:spPr>
          <a:xfrm>
            <a:off x="9916521" y="1119993"/>
            <a:ext cx="62179" cy="62179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8" name="RadarCurve_Latent U-Net (Large)_RMS Only_segment_0"/>
          <p:cNvCxnSpPr/>
          <p:nvPr/>
        </p:nvCxnSpPr>
        <p:spPr>
          <a:xfrm>
            <a:off x="10671048" y="786518"/>
            <a:ext cx="511432" cy="576569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RadarCurve_Latent U-Net (Large)_RMS Only_segment_1"/>
          <p:cNvCxnSpPr/>
          <p:nvPr/>
        </p:nvCxnSpPr>
        <p:spPr>
          <a:xfrm>
            <a:off x="11182480" y="1363087"/>
            <a:ext cx="560569" cy="511432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RadarCurve_Latent U-Net (Large)_RMS Only_segment_2"/>
          <p:cNvCxnSpPr/>
          <p:nvPr/>
        </p:nvCxnSpPr>
        <p:spPr>
          <a:xfrm flipH="1">
            <a:off x="11102013" y="1874519"/>
            <a:ext cx="641036" cy="430966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RadarCurve_Latent U-Net (Large)_RMS Only_segment_3"/>
          <p:cNvCxnSpPr/>
          <p:nvPr/>
        </p:nvCxnSpPr>
        <p:spPr>
          <a:xfrm flipH="1">
            <a:off x="10671048" y="2305485"/>
            <a:ext cx="430965" cy="645370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RadarCurve_Latent U-Net (Large)_RMS Only_segment_4"/>
          <p:cNvCxnSpPr/>
          <p:nvPr/>
        </p:nvCxnSpPr>
        <p:spPr>
          <a:xfrm flipH="1" flipV="1">
            <a:off x="9892625" y="2652942"/>
            <a:ext cx="778423" cy="297913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RadarCurve_Latent U-Net (Large)_RMS Only_segment_5"/>
          <p:cNvCxnSpPr/>
          <p:nvPr/>
        </p:nvCxnSpPr>
        <p:spPr>
          <a:xfrm flipH="1" flipV="1">
            <a:off x="9579395" y="1874519"/>
            <a:ext cx="313230" cy="778423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RadarCurve_Latent U-Net (Large)_RMS Only_segment_6"/>
          <p:cNvCxnSpPr/>
          <p:nvPr/>
        </p:nvCxnSpPr>
        <p:spPr>
          <a:xfrm flipV="1">
            <a:off x="9579395" y="1116105"/>
            <a:ext cx="333238" cy="758414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RadarCurve_Latent U-Net (Large)_RMS Only_segment_7"/>
          <p:cNvCxnSpPr/>
          <p:nvPr/>
        </p:nvCxnSpPr>
        <p:spPr>
          <a:xfrm flipV="1">
            <a:off x="9912633" y="786518"/>
            <a:ext cx="758415" cy="329587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RadarMarker_Latent U-Net (Large)_RMS Only_0"/>
          <p:cNvSpPr/>
          <p:nvPr/>
        </p:nvSpPr>
        <p:spPr>
          <a:xfrm rot="10800000">
            <a:off x="10639958" y="755428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adarMarker_Latent U-Net (Large)_RMS Only_1"/>
          <p:cNvSpPr/>
          <p:nvPr/>
        </p:nvSpPr>
        <p:spPr>
          <a:xfrm rot="10800000">
            <a:off x="11151390" y="1331998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adarMarker_Latent U-Net (Large)_RMS Only_2"/>
          <p:cNvSpPr/>
          <p:nvPr/>
        </p:nvSpPr>
        <p:spPr>
          <a:xfrm rot="10800000">
            <a:off x="11711959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adarMarker_Latent U-Net (Large)_RMS Only_3"/>
          <p:cNvSpPr/>
          <p:nvPr/>
        </p:nvSpPr>
        <p:spPr>
          <a:xfrm rot="10800000">
            <a:off x="11070923" y="2274395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adarMarker_Latent U-Net (Large)_RMS Only_4"/>
          <p:cNvSpPr/>
          <p:nvPr/>
        </p:nvSpPr>
        <p:spPr>
          <a:xfrm rot="10800000">
            <a:off x="10639958" y="2919765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adarMarker_Latent U-Net (Large)_RMS Only_5"/>
          <p:cNvSpPr/>
          <p:nvPr/>
        </p:nvSpPr>
        <p:spPr>
          <a:xfrm rot="10800000">
            <a:off x="9861536" y="2621852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adarMarker_Latent U-Net (Large)_RMS Only_6"/>
          <p:cNvSpPr/>
          <p:nvPr/>
        </p:nvSpPr>
        <p:spPr>
          <a:xfrm rot="10800000">
            <a:off x="9548305" y="1843430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adarMarker_Latent U-Net (Large)_RMS Only_7"/>
          <p:cNvSpPr/>
          <p:nvPr/>
        </p:nvSpPr>
        <p:spPr>
          <a:xfrm rot="10800000">
            <a:off x="9881543" y="1085015"/>
            <a:ext cx="62179" cy="62179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4" name="RadarCurve_PD-BG-RFM_RMS Only_segment_0"/>
          <p:cNvCxnSpPr/>
          <p:nvPr/>
        </p:nvCxnSpPr>
        <p:spPr>
          <a:xfrm>
            <a:off x="10671048" y="1045909"/>
            <a:ext cx="66513" cy="762097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RadarCurve_PD-BG-RFM_RMS Only_segment_1"/>
          <p:cNvCxnSpPr/>
          <p:nvPr/>
        </p:nvCxnSpPr>
        <p:spPr>
          <a:xfrm>
            <a:off x="10737561" y="1808006"/>
            <a:ext cx="662641" cy="66513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RadarCurve_PD-BG-RFM_RMS Only_segment_2"/>
          <p:cNvCxnSpPr/>
          <p:nvPr/>
        </p:nvCxnSpPr>
        <p:spPr>
          <a:xfrm flipH="1">
            <a:off x="10728943" y="1874519"/>
            <a:ext cx="671259" cy="57896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RadarCurve_PD-BG-RFM_RMS Only_segment_3"/>
          <p:cNvCxnSpPr/>
          <p:nvPr/>
        </p:nvCxnSpPr>
        <p:spPr>
          <a:xfrm flipH="1">
            <a:off x="10671048" y="1932415"/>
            <a:ext cx="57895" cy="718399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RadarCurve_PD-BG-RFM_RMS Only_segment_4"/>
          <p:cNvCxnSpPr/>
          <p:nvPr/>
        </p:nvCxnSpPr>
        <p:spPr>
          <a:xfrm flipH="1" flipV="1">
            <a:off x="10140189" y="2405378"/>
            <a:ext cx="530859" cy="245436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RadarCurve_PD-BG-RFM_RMS Only_segment_5"/>
          <p:cNvCxnSpPr/>
          <p:nvPr/>
        </p:nvCxnSpPr>
        <p:spPr>
          <a:xfrm flipH="1" flipV="1">
            <a:off x="9894626" y="1874519"/>
            <a:ext cx="245563" cy="530859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RadarCurve_PD-BG-RFM_RMS Only_segment_6"/>
          <p:cNvCxnSpPr/>
          <p:nvPr/>
        </p:nvCxnSpPr>
        <p:spPr>
          <a:xfrm flipV="1">
            <a:off x="9894626" y="1374351"/>
            <a:ext cx="276253" cy="500168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RadarCurve_PD-BG-RFM_RMS Only_segment_7"/>
          <p:cNvCxnSpPr/>
          <p:nvPr/>
        </p:nvCxnSpPr>
        <p:spPr>
          <a:xfrm flipV="1">
            <a:off x="10170879" y="1045909"/>
            <a:ext cx="500169" cy="328442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RadarMarker_PD-BG-RFM_RMS Only_0"/>
          <p:cNvSpPr/>
          <p:nvPr/>
        </p:nvSpPr>
        <p:spPr>
          <a:xfrm>
            <a:off x="10627614" y="1002475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adarMarker_PD-BG-RFM_RMS Only_1"/>
          <p:cNvSpPr/>
          <p:nvPr/>
        </p:nvSpPr>
        <p:spPr>
          <a:xfrm>
            <a:off x="10694127" y="1764572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adarMarker_PD-BG-RFM_RMS Only_2"/>
          <p:cNvSpPr/>
          <p:nvPr/>
        </p:nvSpPr>
        <p:spPr>
          <a:xfrm>
            <a:off x="11356768" y="1831086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adarMarker_PD-BG-RFM_RMS Only_3"/>
          <p:cNvSpPr/>
          <p:nvPr/>
        </p:nvSpPr>
        <p:spPr>
          <a:xfrm>
            <a:off x="10685509" y="1888981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adarMarker_PD-BG-RFM_RMS Only_4"/>
          <p:cNvSpPr/>
          <p:nvPr/>
        </p:nvSpPr>
        <p:spPr>
          <a:xfrm>
            <a:off x="10627614" y="2607380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adarMarker_PD-BG-RFM_RMS Only_5"/>
          <p:cNvSpPr/>
          <p:nvPr/>
        </p:nvSpPr>
        <p:spPr>
          <a:xfrm>
            <a:off x="10096755" y="2361944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adarMarker_PD-BG-RFM_RMS Only_6"/>
          <p:cNvSpPr/>
          <p:nvPr/>
        </p:nvSpPr>
        <p:spPr>
          <a:xfrm>
            <a:off x="9851192" y="1831086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adarMarker_PD-BG-RFM_RMS Only_7"/>
          <p:cNvSpPr/>
          <p:nvPr/>
        </p:nvSpPr>
        <p:spPr>
          <a:xfrm>
            <a:off x="10127445" y="1330917"/>
            <a:ext cx="86868" cy="86868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0" name="LegendLine_InversionNet"/>
          <p:cNvCxnSpPr/>
          <p:nvPr/>
        </p:nvCxnSpPr>
        <p:spPr>
          <a:xfrm>
            <a:off x="1828800" y="3909060"/>
            <a:ext cx="274320" cy="0"/>
          </a:xfrm>
          <a:prstGeom prst="line">
            <a:avLst/>
          </a:prstGeom>
          <a:ln w="12065">
            <a:solidFill>
              <a:srgbClr val="0072B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Legend_InversionNet"/>
          <p:cNvSpPr/>
          <p:nvPr/>
        </p:nvSpPr>
        <p:spPr>
          <a:xfrm>
            <a:off x="1931669" y="3874770"/>
            <a:ext cx="68580" cy="68580"/>
          </a:xfrm>
          <a:prstGeom prst="ellipse">
            <a:avLst/>
          </a:prstGeom>
          <a:solidFill>
            <a:srgbClr val="FFFFFF"/>
          </a:solidFill>
          <a:ln w="698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LegendText_InversionNet"/>
          <p:cNvSpPr txBox="1"/>
          <p:nvPr/>
        </p:nvSpPr>
        <p:spPr>
          <a:xfrm>
            <a:off x="2212848" y="3840480"/>
            <a:ext cx="20574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40" b="0" i="0">
                <a:solidFill>
                  <a:srgbClr val="252525"/>
                </a:solidFill>
                <a:latin typeface="Times New Roman"/>
              </a:rPr>
              <a:t>InversionNet</a:t>
            </a:r>
          </a:p>
        </p:txBody>
      </p:sp>
      <p:cxnSp>
        <p:nvCxnSpPr>
          <p:cNvPr id="493" name="LegendLine_VelocityGAN"/>
          <p:cNvCxnSpPr/>
          <p:nvPr/>
        </p:nvCxnSpPr>
        <p:spPr>
          <a:xfrm>
            <a:off x="1828800" y="4174236"/>
            <a:ext cx="274320" cy="0"/>
          </a:xfrm>
          <a:prstGeom prst="line">
            <a:avLst/>
          </a:prstGeom>
          <a:ln w="12065">
            <a:solidFill>
              <a:srgbClr val="E69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Legend_VelocityGAN"/>
          <p:cNvSpPr/>
          <p:nvPr/>
        </p:nvSpPr>
        <p:spPr>
          <a:xfrm>
            <a:off x="1931669" y="4139946"/>
            <a:ext cx="68580" cy="68580"/>
          </a:xfrm>
          <a:prstGeom prst="rect">
            <a:avLst/>
          </a:prstGeom>
          <a:solidFill>
            <a:srgbClr val="FFFFFF"/>
          </a:solidFill>
          <a:ln w="698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LegendText_VelocityGAN"/>
          <p:cNvSpPr txBox="1"/>
          <p:nvPr/>
        </p:nvSpPr>
        <p:spPr>
          <a:xfrm>
            <a:off x="2212848" y="4105656"/>
            <a:ext cx="20574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40" b="0" i="0">
                <a:solidFill>
                  <a:srgbClr val="252525"/>
                </a:solidFill>
                <a:latin typeface="Times New Roman"/>
              </a:rPr>
              <a:t>VelocityGAN</a:t>
            </a:r>
          </a:p>
        </p:txBody>
      </p:sp>
      <p:cxnSp>
        <p:nvCxnSpPr>
          <p:cNvPr id="496" name="LegendLine_UPFWI"/>
          <p:cNvCxnSpPr/>
          <p:nvPr/>
        </p:nvCxnSpPr>
        <p:spPr>
          <a:xfrm>
            <a:off x="4617720" y="3909060"/>
            <a:ext cx="274320" cy="0"/>
          </a:xfrm>
          <a:prstGeom prst="line">
            <a:avLst/>
          </a:prstGeom>
          <a:ln w="12065">
            <a:solidFill>
              <a:srgbClr val="009E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7" name="Legend_UPFWI"/>
          <p:cNvSpPr/>
          <p:nvPr/>
        </p:nvSpPr>
        <p:spPr>
          <a:xfrm>
            <a:off x="4720590" y="3874770"/>
            <a:ext cx="68580" cy="68580"/>
          </a:xfrm>
          <a:prstGeom prst="triangle">
            <a:avLst/>
          </a:prstGeom>
          <a:solidFill>
            <a:srgbClr val="FFFFFF"/>
          </a:solidFill>
          <a:ln w="698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LegendText_UPFWI"/>
          <p:cNvSpPr txBox="1"/>
          <p:nvPr/>
        </p:nvSpPr>
        <p:spPr>
          <a:xfrm>
            <a:off x="5001768" y="3840480"/>
            <a:ext cx="20574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40" b="0" i="0">
                <a:solidFill>
                  <a:srgbClr val="252525"/>
                </a:solidFill>
                <a:latin typeface="Times New Roman"/>
              </a:rPr>
              <a:t>UPFWI</a:t>
            </a:r>
          </a:p>
        </p:txBody>
      </p:sp>
      <p:cxnSp>
        <p:nvCxnSpPr>
          <p:cNvPr id="499" name="LegendLine_Auto-Linear"/>
          <p:cNvCxnSpPr/>
          <p:nvPr/>
        </p:nvCxnSpPr>
        <p:spPr>
          <a:xfrm>
            <a:off x="4617720" y="4174236"/>
            <a:ext cx="274320" cy="0"/>
          </a:xfrm>
          <a:prstGeom prst="line">
            <a:avLst/>
          </a:prstGeom>
          <a:ln w="12065">
            <a:solidFill>
              <a:srgbClr val="CC79A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Legend_Auto-Linear"/>
          <p:cNvSpPr/>
          <p:nvPr/>
        </p:nvSpPr>
        <p:spPr>
          <a:xfrm>
            <a:off x="4720590" y="4139946"/>
            <a:ext cx="68580" cy="68580"/>
          </a:xfrm>
          <a:prstGeom prst="diamond">
            <a:avLst/>
          </a:prstGeom>
          <a:solidFill>
            <a:srgbClr val="FFFFFF"/>
          </a:solidFill>
          <a:ln w="698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LegendText_Auto-Linear"/>
          <p:cNvSpPr txBox="1"/>
          <p:nvPr/>
        </p:nvSpPr>
        <p:spPr>
          <a:xfrm>
            <a:off x="5001768" y="4105656"/>
            <a:ext cx="20574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40" b="0" i="0">
                <a:solidFill>
                  <a:srgbClr val="252525"/>
                </a:solidFill>
                <a:latin typeface="Times New Roman"/>
              </a:rPr>
              <a:t>Auto-Linear</a:t>
            </a:r>
          </a:p>
        </p:txBody>
      </p:sp>
      <p:cxnSp>
        <p:nvCxnSpPr>
          <p:cNvPr id="502" name="LegendLine_Latent U-Net (Large)"/>
          <p:cNvCxnSpPr/>
          <p:nvPr/>
        </p:nvCxnSpPr>
        <p:spPr>
          <a:xfrm>
            <a:off x="7406640" y="3909060"/>
            <a:ext cx="274320" cy="0"/>
          </a:xfrm>
          <a:prstGeom prst="line">
            <a:avLst/>
          </a:prstGeom>
          <a:ln w="12065">
            <a:solidFill>
              <a:srgbClr val="56B4E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3" name="Legend_Latent U-Net (Large)"/>
          <p:cNvSpPr/>
          <p:nvPr/>
        </p:nvSpPr>
        <p:spPr>
          <a:xfrm rot="10800000">
            <a:off x="7509510" y="3874770"/>
            <a:ext cx="68580" cy="68580"/>
          </a:xfrm>
          <a:prstGeom prst="triangle">
            <a:avLst/>
          </a:prstGeom>
          <a:solidFill>
            <a:srgbClr val="FFFFFF"/>
          </a:solidFill>
          <a:ln w="6985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LegendText_Latent U-Net (Large)"/>
          <p:cNvSpPr txBox="1"/>
          <p:nvPr/>
        </p:nvSpPr>
        <p:spPr>
          <a:xfrm>
            <a:off x="7790688" y="3840480"/>
            <a:ext cx="20574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40" b="0" i="0">
                <a:solidFill>
                  <a:srgbClr val="252525"/>
                </a:solidFill>
                <a:latin typeface="Times New Roman"/>
              </a:rPr>
              <a:t>Latent U-Net (Large)</a:t>
            </a:r>
          </a:p>
        </p:txBody>
      </p:sp>
      <p:cxnSp>
        <p:nvCxnSpPr>
          <p:cNvPr id="505" name="LegendLine_PD-BG-RFM"/>
          <p:cNvCxnSpPr/>
          <p:nvPr/>
        </p:nvCxnSpPr>
        <p:spPr>
          <a:xfrm>
            <a:off x="7406640" y="4174236"/>
            <a:ext cx="274320" cy="0"/>
          </a:xfrm>
          <a:prstGeom prst="line">
            <a:avLst/>
          </a:prstGeom>
          <a:ln w="24130">
            <a:solidFill>
              <a:srgbClr val="D55E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Legend_PD-BG-RFM"/>
          <p:cNvSpPr/>
          <p:nvPr/>
        </p:nvSpPr>
        <p:spPr>
          <a:xfrm>
            <a:off x="7498079" y="4128516"/>
            <a:ext cx="91440" cy="91440"/>
          </a:xfrm>
          <a:prstGeom prst="star5">
            <a:avLst/>
          </a:prstGeom>
          <a:solidFill>
            <a:srgbClr val="FFFFFF"/>
          </a:solidFill>
          <a:ln w="698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LegendText_PD-BG-RFM"/>
          <p:cNvSpPr txBox="1"/>
          <p:nvPr/>
        </p:nvSpPr>
        <p:spPr>
          <a:xfrm>
            <a:off x="7790688" y="4105656"/>
            <a:ext cx="20574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40" b="0" i="0">
                <a:solidFill>
                  <a:srgbClr val="252525"/>
                </a:solidFill>
                <a:latin typeface="Times New Roman"/>
              </a:rPr>
              <a:t>PD-BG-RFM</a:t>
            </a:r>
          </a:p>
        </p:txBody>
      </p:sp>
      <p:sp>
        <p:nvSpPr>
          <p:cNvPr id="508" name="ScaleNote"/>
          <p:cNvSpPr txBox="1"/>
          <p:nvPr/>
        </p:nvSpPr>
        <p:spPr>
          <a:xfrm>
            <a:off x="8823960" y="4334256"/>
            <a:ext cx="2926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80" b="0" i="1">
                <a:solidFill>
                  <a:srgbClr val="666666"/>
                </a:solidFill>
                <a:latin typeface="Times New Roman"/>
              </a:rPr>
              <a:t>Raw SSIM; panel-specific radial display ranges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