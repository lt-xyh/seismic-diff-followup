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4800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8F8"/>
    <a:srgbClr val="DCE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894" y="23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rid_0.5"/>
          <p:cNvCxnSpPr/>
          <p:nvPr/>
        </p:nvCxnSpPr>
        <p:spPr>
          <a:xfrm>
            <a:off x="715805" y="3084110"/>
            <a:ext cx="10972800" cy="0"/>
          </a:xfrm>
          <a:prstGeom prst="line">
            <a:avLst/>
          </a:prstGeom>
          <a:ln w="698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YTick_0.5"/>
          <p:cNvSpPr txBox="1"/>
          <p:nvPr/>
        </p:nvSpPr>
        <p:spPr>
          <a:xfrm>
            <a:off x="458562" y="2976388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0.5</a:t>
            </a:r>
          </a:p>
        </p:txBody>
      </p:sp>
      <p:cxnSp>
        <p:nvCxnSpPr>
          <p:cNvPr id="6" name="Grid_0.6"/>
          <p:cNvCxnSpPr/>
          <p:nvPr/>
        </p:nvCxnSpPr>
        <p:spPr>
          <a:xfrm>
            <a:off x="715805" y="2600363"/>
            <a:ext cx="10972800" cy="0"/>
          </a:xfrm>
          <a:prstGeom prst="line">
            <a:avLst/>
          </a:prstGeom>
          <a:ln w="6985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YTick_0.6"/>
          <p:cNvSpPr txBox="1"/>
          <p:nvPr/>
        </p:nvSpPr>
        <p:spPr>
          <a:xfrm>
            <a:off x="458562" y="2492641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0.6</a:t>
            </a:r>
          </a:p>
        </p:txBody>
      </p:sp>
      <p:cxnSp>
        <p:nvCxnSpPr>
          <p:cNvPr id="8" name="Grid_0.7"/>
          <p:cNvCxnSpPr/>
          <p:nvPr/>
        </p:nvCxnSpPr>
        <p:spPr>
          <a:xfrm>
            <a:off x="715805" y="2116616"/>
            <a:ext cx="10972800" cy="0"/>
          </a:xfrm>
          <a:prstGeom prst="line">
            <a:avLst/>
          </a:prstGeom>
          <a:ln w="6985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YTick_0.7"/>
          <p:cNvSpPr txBox="1"/>
          <p:nvPr/>
        </p:nvSpPr>
        <p:spPr>
          <a:xfrm>
            <a:off x="458562" y="2008894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0.7</a:t>
            </a:r>
          </a:p>
        </p:txBody>
      </p:sp>
      <p:cxnSp>
        <p:nvCxnSpPr>
          <p:cNvPr id="10" name="Grid_0.8"/>
          <p:cNvCxnSpPr/>
          <p:nvPr/>
        </p:nvCxnSpPr>
        <p:spPr>
          <a:xfrm>
            <a:off x="715805" y="1632869"/>
            <a:ext cx="10972800" cy="0"/>
          </a:xfrm>
          <a:prstGeom prst="line">
            <a:avLst/>
          </a:prstGeom>
          <a:ln w="6985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YTick_0.8"/>
          <p:cNvSpPr txBox="1"/>
          <p:nvPr/>
        </p:nvSpPr>
        <p:spPr>
          <a:xfrm>
            <a:off x="458562" y="1525147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0.8</a:t>
            </a:r>
          </a:p>
        </p:txBody>
      </p:sp>
      <p:cxnSp>
        <p:nvCxnSpPr>
          <p:cNvPr id="12" name="Grid_0.9"/>
          <p:cNvCxnSpPr/>
          <p:nvPr/>
        </p:nvCxnSpPr>
        <p:spPr>
          <a:xfrm>
            <a:off x="715805" y="1149122"/>
            <a:ext cx="10972800" cy="0"/>
          </a:xfrm>
          <a:prstGeom prst="line">
            <a:avLst/>
          </a:prstGeom>
          <a:ln w="6985">
            <a:solidFill>
              <a:srgbClr val="E1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YTick_0.9"/>
          <p:cNvSpPr txBox="1"/>
          <p:nvPr/>
        </p:nvSpPr>
        <p:spPr>
          <a:xfrm>
            <a:off x="458562" y="1041400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0.9</a:t>
            </a:r>
          </a:p>
        </p:txBody>
      </p:sp>
      <p:cxnSp>
        <p:nvCxnSpPr>
          <p:cNvPr id="14" name="Grid_1.0"/>
          <p:cNvCxnSpPr/>
          <p:nvPr/>
        </p:nvCxnSpPr>
        <p:spPr>
          <a:xfrm>
            <a:off x="715805" y="665375"/>
            <a:ext cx="10972800" cy="0"/>
          </a:xfrm>
          <a:prstGeom prst="line">
            <a:avLst/>
          </a:prstGeom>
          <a:ln w="6985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YTick_1.0"/>
          <p:cNvSpPr txBox="1"/>
          <p:nvPr/>
        </p:nvSpPr>
        <p:spPr>
          <a:xfrm>
            <a:off x="458562" y="557653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1.0</a:t>
            </a:r>
          </a:p>
        </p:txBody>
      </p:sp>
      <p:sp>
        <p:nvSpPr>
          <p:cNvPr id="17" name="YTick_1.1"/>
          <p:cNvSpPr txBox="1"/>
          <p:nvPr/>
        </p:nvSpPr>
        <p:spPr>
          <a:xfrm>
            <a:off x="458562" y="73906"/>
            <a:ext cx="2244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4C5563"/>
                </a:solidFill>
                <a:latin typeface="Times New Roman"/>
              </a:rPr>
              <a:t>1.1</a:t>
            </a:r>
          </a:p>
        </p:txBody>
      </p:sp>
      <p:cxnSp>
        <p:nvCxnSpPr>
          <p:cNvPr id="18" name="Threshold_qT_1"/>
          <p:cNvCxnSpPr/>
          <p:nvPr/>
        </p:nvCxnSpPr>
        <p:spPr>
          <a:xfrm>
            <a:off x="715805" y="665375"/>
            <a:ext cx="10972800" cy="0"/>
          </a:xfrm>
          <a:prstGeom prst="line">
            <a:avLst/>
          </a:prstGeom>
          <a:ln w="13970">
            <a:solidFill>
              <a:srgbClr val="8357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Violin_FlatVelA"/>
          <p:cNvSpPr/>
          <p:nvPr/>
        </p:nvSpPr>
        <p:spPr>
          <a:xfrm>
            <a:off x="907829" y="569511"/>
            <a:ext cx="987552" cy="2348179"/>
          </a:xfrm>
          <a:custGeom>
            <a:avLst/>
            <a:gdLst/>
            <a:ahLst/>
            <a:cxnLst/>
            <a:rect l="l" t="t" r="r" b="b"/>
            <a:pathLst>
              <a:path w="1080" h="2568">
                <a:moveTo>
                  <a:pt x="539" y="2568"/>
                </a:moveTo>
                <a:lnTo>
                  <a:pt x="539" y="2551"/>
                </a:lnTo>
                <a:lnTo>
                  <a:pt x="539" y="2534"/>
                </a:lnTo>
                <a:lnTo>
                  <a:pt x="538" y="2517"/>
                </a:lnTo>
                <a:lnTo>
                  <a:pt x="537" y="2499"/>
                </a:lnTo>
                <a:lnTo>
                  <a:pt x="537" y="2482"/>
                </a:lnTo>
                <a:lnTo>
                  <a:pt x="536" y="2465"/>
                </a:lnTo>
                <a:lnTo>
                  <a:pt x="535" y="2448"/>
                </a:lnTo>
                <a:lnTo>
                  <a:pt x="534" y="2431"/>
                </a:lnTo>
                <a:lnTo>
                  <a:pt x="533" y="2413"/>
                </a:lnTo>
                <a:lnTo>
                  <a:pt x="532" y="2396"/>
                </a:lnTo>
                <a:lnTo>
                  <a:pt x="531" y="2379"/>
                </a:lnTo>
                <a:lnTo>
                  <a:pt x="530" y="2362"/>
                </a:lnTo>
                <a:lnTo>
                  <a:pt x="528" y="2344"/>
                </a:lnTo>
                <a:lnTo>
                  <a:pt x="527" y="2327"/>
                </a:lnTo>
                <a:lnTo>
                  <a:pt x="525" y="2310"/>
                </a:lnTo>
                <a:lnTo>
                  <a:pt x="524" y="2293"/>
                </a:lnTo>
                <a:lnTo>
                  <a:pt x="522" y="2275"/>
                </a:lnTo>
                <a:lnTo>
                  <a:pt x="520" y="2258"/>
                </a:lnTo>
                <a:lnTo>
                  <a:pt x="517" y="2241"/>
                </a:lnTo>
                <a:lnTo>
                  <a:pt x="515" y="2224"/>
                </a:lnTo>
                <a:lnTo>
                  <a:pt x="512" y="2206"/>
                </a:lnTo>
                <a:lnTo>
                  <a:pt x="508" y="2189"/>
                </a:lnTo>
                <a:lnTo>
                  <a:pt x="505" y="2172"/>
                </a:lnTo>
                <a:lnTo>
                  <a:pt x="500" y="2155"/>
                </a:lnTo>
                <a:lnTo>
                  <a:pt x="495" y="2137"/>
                </a:lnTo>
                <a:lnTo>
                  <a:pt x="489" y="2120"/>
                </a:lnTo>
                <a:lnTo>
                  <a:pt x="482" y="2103"/>
                </a:lnTo>
                <a:lnTo>
                  <a:pt x="475" y="2086"/>
                </a:lnTo>
                <a:lnTo>
                  <a:pt x="466" y="2068"/>
                </a:lnTo>
                <a:lnTo>
                  <a:pt x="457" y="2051"/>
                </a:lnTo>
                <a:lnTo>
                  <a:pt x="447" y="2034"/>
                </a:lnTo>
                <a:lnTo>
                  <a:pt x="436" y="2017"/>
                </a:lnTo>
                <a:lnTo>
                  <a:pt x="425" y="2000"/>
                </a:lnTo>
                <a:lnTo>
                  <a:pt x="414" y="1982"/>
                </a:lnTo>
                <a:lnTo>
                  <a:pt x="401" y="1965"/>
                </a:lnTo>
                <a:lnTo>
                  <a:pt x="389" y="1948"/>
                </a:lnTo>
                <a:lnTo>
                  <a:pt x="376" y="1931"/>
                </a:lnTo>
                <a:lnTo>
                  <a:pt x="364" y="1913"/>
                </a:lnTo>
                <a:lnTo>
                  <a:pt x="351" y="1896"/>
                </a:lnTo>
                <a:lnTo>
                  <a:pt x="339" y="1879"/>
                </a:lnTo>
                <a:lnTo>
                  <a:pt x="327" y="1862"/>
                </a:lnTo>
                <a:lnTo>
                  <a:pt x="316" y="1844"/>
                </a:lnTo>
                <a:lnTo>
                  <a:pt x="306" y="1827"/>
                </a:lnTo>
                <a:lnTo>
                  <a:pt x="296" y="1810"/>
                </a:lnTo>
                <a:lnTo>
                  <a:pt x="286" y="1793"/>
                </a:lnTo>
                <a:lnTo>
                  <a:pt x="277" y="1775"/>
                </a:lnTo>
                <a:lnTo>
                  <a:pt x="267" y="1758"/>
                </a:lnTo>
                <a:lnTo>
                  <a:pt x="257" y="1741"/>
                </a:lnTo>
                <a:lnTo>
                  <a:pt x="246" y="1724"/>
                </a:lnTo>
                <a:lnTo>
                  <a:pt x="235" y="1706"/>
                </a:lnTo>
                <a:lnTo>
                  <a:pt x="222" y="1689"/>
                </a:lnTo>
                <a:lnTo>
                  <a:pt x="209" y="1672"/>
                </a:lnTo>
                <a:lnTo>
                  <a:pt x="195" y="1655"/>
                </a:lnTo>
                <a:lnTo>
                  <a:pt x="180" y="1637"/>
                </a:lnTo>
                <a:lnTo>
                  <a:pt x="165" y="1620"/>
                </a:lnTo>
                <a:lnTo>
                  <a:pt x="151" y="1603"/>
                </a:lnTo>
                <a:lnTo>
                  <a:pt x="137" y="1586"/>
                </a:lnTo>
                <a:lnTo>
                  <a:pt x="124" y="1568"/>
                </a:lnTo>
                <a:lnTo>
                  <a:pt x="113" y="1551"/>
                </a:lnTo>
                <a:lnTo>
                  <a:pt x="102" y="1534"/>
                </a:lnTo>
                <a:lnTo>
                  <a:pt x="93" y="1517"/>
                </a:lnTo>
                <a:lnTo>
                  <a:pt x="84" y="1500"/>
                </a:lnTo>
                <a:lnTo>
                  <a:pt x="76" y="1482"/>
                </a:lnTo>
                <a:lnTo>
                  <a:pt x="68" y="1465"/>
                </a:lnTo>
                <a:lnTo>
                  <a:pt x="59" y="1448"/>
                </a:lnTo>
                <a:lnTo>
                  <a:pt x="51" y="1431"/>
                </a:lnTo>
                <a:lnTo>
                  <a:pt x="42" y="1413"/>
                </a:lnTo>
                <a:lnTo>
                  <a:pt x="34" y="1396"/>
                </a:lnTo>
                <a:lnTo>
                  <a:pt x="25" y="1379"/>
                </a:lnTo>
                <a:lnTo>
                  <a:pt x="17" y="1362"/>
                </a:lnTo>
                <a:lnTo>
                  <a:pt x="11" y="1344"/>
                </a:lnTo>
                <a:lnTo>
                  <a:pt x="6" y="1327"/>
                </a:lnTo>
                <a:lnTo>
                  <a:pt x="2" y="1310"/>
                </a:lnTo>
                <a:lnTo>
                  <a:pt x="0" y="1293"/>
                </a:lnTo>
                <a:lnTo>
                  <a:pt x="0" y="1275"/>
                </a:lnTo>
                <a:lnTo>
                  <a:pt x="1" y="1258"/>
                </a:lnTo>
                <a:lnTo>
                  <a:pt x="3" y="1241"/>
                </a:lnTo>
                <a:lnTo>
                  <a:pt x="7" y="1224"/>
                </a:lnTo>
                <a:lnTo>
                  <a:pt x="11" y="1206"/>
                </a:lnTo>
                <a:lnTo>
                  <a:pt x="16" y="1189"/>
                </a:lnTo>
                <a:lnTo>
                  <a:pt x="21" y="1172"/>
                </a:lnTo>
                <a:lnTo>
                  <a:pt x="28" y="1155"/>
                </a:lnTo>
                <a:lnTo>
                  <a:pt x="35" y="1137"/>
                </a:lnTo>
                <a:lnTo>
                  <a:pt x="43" y="1120"/>
                </a:lnTo>
                <a:lnTo>
                  <a:pt x="51" y="1103"/>
                </a:lnTo>
                <a:lnTo>
                  <a:pt x="60" y="1086"/>
                </a:lnTo>
                <a:lnTo>
                  <a:pt x="70" y="1069"/>
                </a:lnTo>
                <a:lnTo>
                  <a:pt x="80" y="1051"/>
                </a:lnTo>
                <a:lnTo>
                  <a:pt x="89" y="1034"/>
                </a:lnTo>
                <a:lnTo>
                  <a:pt x="98" y="1017"/>
                </a:lnTo>
                <a:lnTo>
                  <a:pt x="107" y="1000"/>
                </a:lnTo>
                <a:lnTo>
                  <a:pt x="115" y="982"/>
                </a:lnTo>
                <a:lnTo>
                  <a:pt x="122" y="965"/>
                </a:lnTo>
                <a:lnTo>
                  <a:pt x="129" y="948"/>
                </a:lnTo>
                <a:lnTo>
                  <a:pt x="136" y="931"/>
                </a:lnTo>
                <a:lnTo>
                  <a:pt x="142" y="913"/>
                </a:lnTo>
                <a:lnTo>
                  <a:pt x="148" y="896"/>
                </a:lnTo>
                <a:lnTo>
                  <a:pt x="154" y="879"/>
                </a:lnTo>
                <a:lnTo>
                  <a:pt x="161" y="862"/>
                </a:lnTo>
                <a:lnTo>
                  <a:pt x="168" y="844"/>
                </a:lnTo>
                <a:lnTo>
                  <a:pt x="176" y="827"/>
                </a:lnTo>
                <a:lnTo>
                  <a:pt x="184" y="810"/>
                </a:lnTo>
                <a:lnTo>
                  <a:pt x="194" y="793"/>
                </a:lnTo>
                <a:lnTo>
                  <a:pt x="204" y="775"/>
                </a:lnTo>
                <a:lnTo>
                  <a:pt x="216" y="758"/>
                </a:lnTo>
                <a:lnTo>
                  <a:pt x="228" y="741"/>
                </a:lnTo>
                <a:lnTo>
                  <a:pt x="240" y="724"/>
                </a:lnTo>
                <a:lnTo>
                  <a:pt x="253" y="706"/>
                </a:lnTo>
                <a:lnTo>
                  <a:pt x="267" y="689"/>
                </a:lnTo>
                <a:lnTo>
                  <a:pt x="280" y="672"/>
                </a:lnTo>
                <a:lnTo>
                  <a:pt x="293" y="655"/>
                </a:lnTo>
                <a:lnTo>
                  <a:pt x="306" y="638"/>
                </a:lnTo>
                <a:lnTo>
                  <a:pt x="319" y="620"/>
                </a:lnTo>
                <a:lnTo>
                  <a:pt x="332" y="603"/>
                </a:lnTo>
                <a:lnTo>
                  <a:pt x="344" y="586"/>
                </a:lnTo>
                <a:lnTo>
                  <a:pt x="356" y="569"/>
                </a:lnTo>
                <a:lnTo>
                  <a:pt x="367" y="551"/>
                </a:lnTo>
                <a:lnTo>
                  <a:pt x="378" y="534"/>
                </a:lnTo>
                <a:lnTo>
                  <a:pt x="389" y="517"/>
                </a:lnTo>
                <a:lnTo>
                  <a:pt x="400" y="500"/>
                </a:lnTo>
                <a:lnTo>
                  <a:pt x="410" y="482"/>
                </a:lnTo>
                <a:lnTo>
                  <a:pt x="421" y="465"/>
                </a:lnTo>
                <a:lnTo>
                  <a:pt x="431" y="448"/>
                </a:lnTo>
                <a:lnTo>
                  <a:pt x="440" y="431"/>
                </a:lnTo>
                <a:lnTo>
                  <a:pt x="449" y="413"/>
                </a:lnTo>
                <a:lnTo>
                  <a:pt x="458" y="396"/>
                </a:lnTo>
                <a:lnTo>
                  <a:pt x="465" y="379"/>
                </a:lnTo>
                <a:lnTo>
                  <a:pt x="472" y="362"/>
                </a:lnTo>
                <a:lnTo>
                  <a:pt x="478" y="344"/>
                </a:lnTo>
                <a:lnTo>
                  <a:pt x="484" y="327"/>
                </a:lnTo>
                <a:lnTo>
                  <a:pt x="489" y="310"/>
                </a:lnTo>
                <a:lnTo>
                  <a:pt x="494" y="293"/>
                </a:lnTo>
                <a:lnTo>
                  <a:pt x="498" y="275"/>
                </a:lnTo>
                <a:lnTo>
                  <a:pt x="503" y="258"/>
                </a:lnTo>
                <a:lnTo>
                  <a:pt x="507" y="241"/>
                </a:lnTo>
                <a:lnTo>
                  <a:pt x="511" y="224"/>
                </a:lnTo>
                <a:lnTo>
                  <a:pt x="514" y="206"/>
                </a:lnTo>
                <a:lnTo>
                  <a:pt x="518" y="189"/>
                </a:lnTo>
                <a:lnTo>
                  <a:pt x="521" y="172"/>
                </a:lnTo>
                <a:lnTo>
                  <a:pt x="524" y="155"/>
                </a:lnTo>
                <a:lnTo>
                  <a:pt x="527" y="138"/>
                </a:lnTo>
                <a:lnTo>
                  <a:pt x="530" y="120"/>
                </a:lnTo>
                <a:lnTo>
                  <a:pt x="532" y="103"/>
                </a:lnTo>
                <a:lnTo>
                  <a:pt x="534" y="86"/>
                </a:lnTo>
                <a:lnTo>
                  <a:pt x="535" y="69"/>
                </a:lnTo>
                <a:lnTo>
                  <a:pt x="537" y="51"/>
                </a:lnTo>
                <a:lnTo>
                  <a:pt x="538" y="34"/>
                </a:lnTo>
                <a:lnTo>
                  <a:pt x="538" y="17"/>
                </a:lnTo>
                <a:lnTo>
                  <a:pt x="539" y="0"/>
                </a:lnTo>
                <a:lnTo>
                  <a:pt x="541" y="0"/>
                </a:lnTo>
                <a:lnTo>
                  <a:pt x="542" y="17"/>
                </a:lnTo>
                <a:lnTo>
                  <a:pt x="542" y="34"/>
                </a:lnTo>
                <a:lnTo>
                  <a:pt x="543" y="51"/>
                </a:lnTo>
                <a:lnTo>
                  <a:pt x="545" y="69"/>
                </a:lnTo>
                <a:lnTo>
                  <a:pt x="546" y="86"/>
                </a:lnTo>
                <a:lnTo>
                  <a:pt x="548" y="103"/>
                </a:lnTo>
                <a:lnTo>
                  <a:pt x="550" y="120"/>
                </a:lnTo>
                <a:lnTo>
                  <a:pt x="553" y="138"/>
                </a:lnTo>
                <a:lnTo>
                  <a:pt x="556" y="155"/>
                </a:lnTo>
                <a:lnTo>
                  <a:pt x="559" y="172"/>
                </a:lnTo>
                <a:lnTo>
                  <a:pt x="562" y="189"/>
                </a:lnTo>
                <a:lnTo>
                  <a:pt x="566" y="206"/>
                </a:lnTo>
                <a:lnTo>
                  <a:pt x="569" y="224"/>
                </a:lnTo>
                <a:lnTo>
                  <a:pt x="573" y="241"/>
                </a:lnTo>
                <a:lnTo>
                  <a:pt x="577" y="258"/>
                </a:lnTo>
                <a:lnTo>
                  <a:pt x="582" y="275"/>
                </a:lnTo>
                <a:lnTo>
                  <a:pt x="586" y="293"/>
                </a:lnTo>
                <a:lnTo>
                  <a:pt x="591" y="310"/>
                </a:lnTo>
                <a:lnTo>
                  <a:pt x="596" y="327"/>
                </a:lnTo>
                <a:lnTo>
                  <a:pt x="602" y="344"/>
                </a:lnTo>
                <a:lnTo>
                  <a:pt x="608" y="362"/>
                </a:lnTo>
                <a:lnTo>
                  <a:pt x="615" y="379"/>
                </a:lnTo>
                <a:lnTo>
                  <a:pt x="622" y="396"/>
                </a:lnTo>
                <a:lnTo>
                  <a:pt x="631" y="413"/>
                </a:lnTo>
                <a:lnTo>
                  <a:pt x="640" y="431"/>
                </a:lnTo>
                <a:lnTo>
                  <a:pt x="649" y="448"/>
                </a:lnTo>
                <a:lnTo>
                  <a:pt x="659" y="465"/>
                </a:lnTo>
                <a:lnTo>
                  <a:pt x="670" y="482"/>
                </a:lnTo>
                <a:lnTo>
                  <a:pt x="680" y="500"/>
                </a:lnTo>
                <a:lnTo>
                  <a:pt x="691" y="517"/>
                </a:lnTo>
                <a:lnTo>
                  <a:pt x="702" y="534"/>
                </a:lnTo>
                <a:lnTo>
                  <a:pt x="713" y="551"/>
                </a:lnTo>
                <a:lnTo>
                  <a:pt x="724" y="569"/>
                </a:lnTo>
                <a:lnTo>
                  <a:pt x="736" y="586"/>
                </a:lnTo>
                <a:lnTo>
                  <a:pt x="748" y="603"/>
                </a:lnTo>
                <a:lnTo>
                  <a:pt x="761" y="620"/>
                </a:lnTo>
                <a:lnTo>
                  <a:pt x="774" y="638"/>
                </a:lnTo>
                <a:lnTo>
                  <a:pt x="787" y="655"/>
                </a:lnTo>
                <a:lnTo>
                  <a:pt x="800" y="672"/>
                </a:lnTo>
                <a:lnTo>
                  <a:pt x="813" y="689"/>
                </a:lnTo>
                <a:lnTo>
                  <a:pt x="827" y="706"/>
                </a:lnTo>
                <a:lnTo>
                  <a:pt x="840" y="724"/>
                </a:lnTo>
                <a:lnTo>
                  <a:pt x="852" y="741"/>
                </a:lnTo>
                <a:lnTo>
                  <a:pt x="864" y="758"/>
                </a:lnTo>
                <a:lnTo>
                  <a:pt x="876" y="775"/>
                </a:lnTo>
                <a:lnTo>
                  <a:pt x="886" y="793"/>
                </a:lnTo>
                <a:lnTo>
                  <a:pt x="896" y="810"/>
                </a:lnTo>
                <a:lnTo>
                  <a:pt x="904" y="827"/>
                </a:lnTo>
                <a:lnTo>
                  <a:pt x="912" y="844"/>
                </a:lnTo>
                <a:lnTo>
                  <a:pt x="919" y="862"/>
                </a:lnTo>
                <a:lnTo>
                  <a:pt x="926" y="879"/>
                </a:lnTo>
                <a:lnTo>
                  <a:pt x="932" y="896"/>
                </a:lnTo>
                <a:lnTo>
                  <a:pt x="938" y="913"/>
                </a:lnTo>
                <a:lnTo>
                  <a:pt x="944" y="931"/>
                </a:lnTo>
                <a:lnTo>
                  <a:pt x="951" y="948"/>
                </a:lnTo>
                <a:lnTo>
                  <a:pt x="958" y="965"/>
                </a:lnTo>
                <a:lnTo>
                  <a:pt x="965" y="982"/>
                </a:lnTo>
                <a:lnTo>
                  <a:pt x="973" y="1000"/>
                </a:lnTo>
                <a:lnTo>
                  <a:pt x="982" y="1017"/>
                </a:lnTo>
                <a:lnTo>
                  <a:pt x="991" y="1034"/>
                </a:lnTo>
                <a:lnTo>
                  <a:pt x="1000" y="1051"/>
                </a:lnTo>
                <a:lnTo>
                  <a:pt x="1010" y="1069"/>
                </a:lnTo>
                <a:lnTo>
                  <a:pt x="1020" y="1086"/>
                </a:lnTo>
                <a:lnTo>
                  <a:pt x="1029" y="1103"/>
                </a:lnTo>
                <a:lnTo>
                  <a:pt x="1037" y="1120"/>
                </a:lnTo>
                <a:lnTo>
                  <a:pt x="1045" y="1137"/>
                </a:lnTo>
                <a:lnTo>
                  <a:pt x="1052" y="1155"/>
                </a:lnTo>
                <a:lnTo>
                  <a:pt x="1059" y="1172"/>
                </a:lnTo>
                <a:lnTo>
                  <a:pt x="1064" y="1189"/>
                </a:lnTo>
                <a:lnTo>
                  <a:pt x="1069" y="1206"/>
                </a:lnTo>
                <a:lnTo>
                  <a:pt x="1073" y="1224"/>
                </a:lnTo>
                <a:lnTo>
                  <a:pt x="1077" y="1241"/>
                </a:lnTo>
                <a:lnTo>
                  <a:pt x="1079" y="1258"/>
                </a:lnTo>
                <a:lnTo>
                  <a:pt x="1080" y="1275"/>
                </a:lnTo>
                <a:lnTo>
                  <a:pt x="1080" y="1293"/>
                </a:lnTo>
                <a:lnTo>
                  <a:pt x="1078" y="1310"/>
                </a:lnTo>
                <a:lnTo>
                  <a:pt x="1074" y="1327"/>
                </a:lnTo>
                <a:lnTo>
                  <a:pt x="1069" y="1344"/>
                </a:lnTo>
                <a:lnTo>
                  <a:pt x="1063" y="1362"/>
                </a:lnTo>
                <a:lnTo>
                  <a:pt x="1055" y="1379"/>
                </a:lnTo>
                <a:lnTo>
                  <a:pt x="1046" y="1396"/>
                </a:lnTo>
                <a:lnTo>
                  <a:pt x="1038" y="1413"/>
                </a:lnTo>
                <a:lnTo>
                  <a:pt x="1029" y="1431"/>
                </a:lnTo>
                <a:lnTo>
                  <a:pt x="1021" y="1448"/>
                </a:lnTo>
                <a:lnTo>
                  <a:pt x="1012" y="1465"/>
                </a:lnTo>
                <a:lnTo>
                  <a:pt x="1004" y="1482"/>
                </a:lnTo>
                <a:lnTo>
                  <a:pt x="996" y="1500"/>
                </a:lnTo>
                <a:lnTo>
                  <a:pt x="987" y="1517"/>
                </a:lnTo>
                <a:lnTo>
                  <a:pt x="978" y="1534"/>
                </a:lnTo>
                <a:lnTo>
                  <a:pt x="967" y="1551"/>
                </a:lnTo>
                <a:lnTo>
                  <a:pt x="956" y="1568"/>
                </a:lnTo>
                <a:lnTo>
                  <a:pt x="943" y="1586"/>
                </a:lnTo>
                <a:lnTo>
                  <a:pt x="929" y="1603"/>
                </a:lnTo>
                <a:lnTo>
                  <a:pt x="915" y="1620"/>
                </a:lnTo>
                <a:lnTo>
                  <a:pt x="900" y="1637"/>
                </a:lnTo>
                <a:lnTo>
                  <a:pt x="885" y="1655"/>
                </a:lnTo>
                <a:lnTo>
                  <a:pt x="871" y="1672"/>
                </a:lnTo>
                <a:lnTo>
                  <a:pt x="858" y="1689"/>
                </a:lnTo>
                <a:lnTo>
                  <a:pt x="845" y="1706"/>
                </a:lnTo>
                <a:lnTo>
                  <a:pt x="834" y="1724"/>
                </a:lnTo>
                <a:lnTo>
                  <a:pt x="823" y="1741"/>
                </a:lnTo>
                <a:lnTo>
                  <a:pt x="813" y="1758"/>
                </a:lnTo>
                <a:lnTo>
                  <a:pt x="803" y="1775"/>
                </a:lnTo>
                <a:lnTo>
                  <a:pt x="794" y="1793"/>
                </a:lnTo>
                <a:lnTo>
                  <a:pt x="784" y="1810"/>
                </a:lnTo>
                <a:lnTo>
                  <a:pt x="774" y="1827"/>
                </a:lnTo>
                <a:lnTo>
                  <a:pt x="764" y="1844"/>
                </a:lnTo>
                <a:lnTo>
                  <a:pt x="753" y="1862"/>
                </a:lnTo>
                <a:lnTo>
                  <a:pt x="741" y="1879"/>
                </a:lnTo>
                <a:lnTo>
                  <a:pt x="729" y="1896"/>
                </a:lnTo>
                <a:lnTo>
                  <a:pt x="716" y="1913"/>
                </a:lnTo>
                <a:lnTo>
                  <a:pt x="704" y="1931"/>
                </a:lnTo>
                <a:lnTo>
                  <a:pt x="691" y="1948"/>
                </a:lnTo>
                <a:lnTo>
                  <a:pt x="679" y="1965"/>
                </a:lnTo>
                <a:lnTo>
                  <a:pt x="666" y="1982"/>
                </a:lnTo>
                <a:lnTo>
                  <a:pt x="655" y="2000"/>
                </a:lnTo>
                <a:lnTo>
                  <a:pt x="644" y="2017"/>
                </a:lnTo>
                <a:lnTo>
                  <a:pt x="633" y="2034"/>
                </a:lnTo>
                <a:lnTo>
                  <a:pt x="623" y="2051"/>
                </a:lnTo>
                <a:lnTo>
                  <a:pt x="614" y="2068"/>
                </a:lnTo>
                <a:lnTo>
                  <a:pt x="605" y="2086"/>
                </a:lnTo>
                <a:lnTo>
                  <a:pt x="598" y="2103"/>
                </a:lnTo>
                <a:lnTo>
                  <a:pt x="591" y="2120"/>
                </a:lnTo>
                <a:lnTo>
                  <a:pt x="585" y="2137"/>
                </a:lnTo>
                <a:lnTo>
                  <a:pt x="580" y="2155"/>
                </a:lnTo>
                <a:lnTo>
                  <a:pt x="575" y="2172"/>
                </a:lnTo>
                <a:lnTo>
                  <a:pt x="572" y="2189"/>
                </a:lnTo>
                <a:lnTo>
                  <a:pt x="568" y="2206"/>
                </a:lnTo>
                <a:lnTo>
                  <a:pt x="565" y="2224"/>
                </a:lnTo>
                <a:lnTo>
                  <a:pt x="563" y="2241"/>
                </a:lnTo>
                <a:lnTo>
                  <a:pt x="560" y="2258"/>
                </a:lnTo>
                <a:lnTo>
                  <a:pt x="558" y="2275"/>
                </a:lnTo>
                <a:lnTo>
                  <a:pt x="556" y="2293"/>
                </a:lnTo>
                <a:lnTo>
                  <a:pt x="555" y="2310"/>
                </a:lnTo>
                <a:lnTo>
                  <a:pt x="553" y="2327"/>
                </a:lnTo>
                <a:lnTo>
                  <a:pt x="552" y="2344"/>
                </a:lnTo>
                <a:lnTo>
                  <a:pt x="550" y="2362"/>
                </a:lnTo>
                <a:lnTo>
                  <a:pt x="549" y="2379"/>
                </a:lnTo>
                <a:lnTo>
                  <a:pt x="548" y="2396"/>
                </a:lnTo>
                <a:lnTo>
                  <a:pt x="547" y="2413"/>
                </a:lnTo>
                <a:lnTo>
                  <a:pt x="546" y="2431"/>
                </a:lnTo>
                <a:lnTo>
                  <a:pt x="545" y="2448"/>
                </a:lnTo>
                <a:lnTo>
                  <a:pt x="544" y="2465"/>
                </a:lnTo>
                <a:lnTo>
                  <a:pt x="543" y="2482"/>
                </a:lnTo>
                <a:lnTo>
                  <a:pt x="543" y="2499"/>
                </a:lnTo>
                <a:lnTo>
                  <a:pt x="542" y="2517"/>
                </a:lnTo>
                <a:lnTo>
                  <a:pt x="541" y="2534"/>
                </a:lnTo>
                <a:lnTo>
                  <a:pt x="541" y="2551"/>
                </a:lnTo>
                <a:lnTo>
                  <a:pt x="541" y="2568"/>
                </a:lnTo>
                <a:close/>
              </a:path>
            </a:pathLst>
          </a:custGeom>
          <a:solidFill>
            <a:srgbClr val="DCEFE4"/>
          </a:solidFill>
          <a:ln w="9525">
            <a:solidFill>
              <a:srgbClr val="83B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Box_FlatVelA_Whisker"/>
          <p:cNvCxnSpPr/>
          <p:nvPr/>
        </p:nvCxnSpPr>
        <p:spPr>
          <a:xfrm flipV="1">
            <a:off x="1401605" y="690083"/>
            <a:ext cx="0" cy="205572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ox_FlatVelA_LowerCap"/>
          <p:cNvCxnSpPr/>
          <p:nvPr/>
        </p:nvCxnSpPr>
        <p:spPr>
          <a:xfrm>
            <a:off x="1264445" y="2745803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ox_FlatVelA_UpperCap"/>
          <p:cNvCxnSpPr/>
          <p:nvPr/>
        </p:nvCxnSpPr>
        <p:spPr>
          <a:xfrm>
            <a:off x="1264445" y="690083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_FlatVelA_IQR"/>
          <p:cNvSpPr/>
          <p:nvPr/>
        </p:nvSpPr>
        <p:spPr>
          <a:xfrm>
            <a:off x="1257587" y="1429577"/>
            <a:ext cx="288036" cy="534738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Box_FlatVelA_Median"/>
          <p:cNvCxnSpPr/>
          <p:nvPr/>
        </p:nvCxnSpPr>
        <p:spPr>
          <a:xfrm>
            <a:off x="1113569" y="1703600"/>
            <a:ext cx="576072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abel_FlatVelA"/>
          <p:cNvSpPr txBox="1"/>
          <p:nvPr/>
        </p:nvSpPr>
        <p:spPr>
          <a:xfrm>
            <a:off x="1112874" y="3082325"/>
            <a:ext cx="57746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FVA</a:t>
            </a:r>
            <a:endParaRPr sz="2400" b="0" i="0" dirty="0">
              <a:latin typeface="Times New Roman"/>
            </a:endParaRPr>
          </a:p>
        </p:txBody>
      </p:sp>
      <p:sp>
        <p:nvSpPr>
          <p:cNvPr id="29" name="Violin_FlatVelB"/>
          <p:cNvSpPr/>
          <p:nvPr/>
        </p:nvSpPr>
        <p:spPr>
          <a:xfrm>
            <a:off x="2279429" y="560367"/>
            <a:ext cx="987552" cy="2468880"/>
          </a:xfrm>
          <a:custGeom>
            <a:avLst/>
            <a:gdLst/>
            <a:ahLst/>
            <a:cxnLst/>
            <a:rect l="l" t="t" r="r" b="b"/>
            <a:pathLst>
              <a:path w="1080" h="2700">
                <a:moveTo>
                  <a:pt x="540" y="2700"/>
                </a:moveTo>
                <a:lnTo>
                  <a:pt x="540" y="2682"/>
                </a:lnTo>
                <a:lnTo>
                  <a:pt x="540" y="2664"/>
                </a:lnTo>
                <a:lnTo>
                  <a:pt x="539" y="2646"/>
                </a:lnTo>
                <a:lnTo>
                  <a:pt x="539" y="2627"/>
                </a:lnTo>
                <a:lnTo>
                  <a:pt x="539" y="2609"/>
                </a:lnTo>
                <a:lnTo>
                  <a:pt x="539" y="2591"/>
                </a:lnTo>
                <a:lnTo>
                  <a:pt x="539" y="2573"/>
                </a:lnTo>
                <a:lnTo>
                  <a:pt x="538" y="2555"/>
                </a:lnTo>
                <a:lnTo>
                  <a:pt x="538" y="2537"/>
                </a:lnTo>
                <a:lnTo>
                  <a:pt x="538" y="2519"/>
                </a:lnTo>
                <a:lnTo>
                  <a:pt x="537" y="2501"/>
                </a:lnTo>
                <a:lnTo>
                  <a:pt x="537" y="2483"/>
                </a:lnTo>
                <a:lnTo>
                  <a:pt x="536" y="2464"/>
                </a:lnTo>
                <a:lnTo>
                  <a:pt x="535" y="2446"/>
                </a:lnTo>
                <a:lnTo>
                  <a:pt x="533" y="2428"/>
                </a:lnTo>
                <a:lnTo>
                  <a:pt x="532" y="2410"/>
                </a:lnTo>
                <a:lnTo>
                  <a:pt x="530" y="2392"/>
                </a:lnTo>
                <a:lnTo>
                  <a:pt x="529" y="2374"/>
                </a:lnTo>
                <a:lnTo>
                  <a:pt x="527" y="2356"/>
                </a:lnTo>
                <a:lnTo>
                  <a:pt x="524" y="2338"/>
                </a:lnTo>
                <a:lnTo>
                  <a:pt x="522" y="2319"/>
                </a:lnTo>
                <a:lnTo>
                  <a:pt x="519" y="2301"/>
                </a:lnTo>
                <a:lnTo>
                  <a:pt x="516" y="2283"/>
                </a:lnTo>
                <a:lnTo>
                  <a:pt x="512" y="2265"/>
                </a:lnTo>
                <a:lnTo>
                  <a:pt x="508" y="2247"/>
                </a:lnTo>
                <a:lnTo>
                  <a:pt x="503" y="2229"/>
                </a:lnTo>
                <a:lnTo>
                  <a:pt x="497" y="2211"/>
                </a:lnTo>
                <a:lnTo>
                  <a:pt x="491" y="2193"/>
                </a:lnTo>
                <a:lnTo>
                  <a:pt x="485" y="2175"/>
                </a:lnTo>
                <a:lnTo>
                  <a:pt x="478" y="2156"/>
                </a:lnTo>
                <a:lnTo>
                  <a:pt x="471" y="2138"/>
                </a:lnTo>
                <a:lnTo>
                  <a:pt x="463" y="2120"/>
                </a:lnTo>
                <a:lnTo>
                  <a:pt x="456" y="2102"/>
                </a:lnTo>
                <a:lnTo>
                  <a:pt x="448" y="2084"/>
                </a:lnTo>
                <a:lnTo>
                  <a:pt x="440" y="2066"/>
                </a:lnTo>
                <a:lnTo>
                  <a:pt x="433" y="2048"/>
                </a:lnTo>
                <a:lnTo>
                  <a:pt x="424" y="2030"/>
                </a:lnTo>
                <a:lnTo>
                  <a:pt x="416" y="2011"/>
                </a:lnTo>
                <a:lnTo>
                  <a:pt x="407" y="1993"/>
                </a:lnTo>
                <a:lnTo>
                  <a:pt x="397" y="1975"/>
                </a:lnTo>
                <a:lnTo>
                  <a:pt x="387" y="1957"/>
                </a:lnTo>
                <a:lnTo>
                  <a:pt x="376" y="1939"/>
                </a:lnTo>
                <a:lnTo>
                  <a:pt x="363" y="1921"/>
                </a:lnTo>
                <a:lnTo>
                  <a:pt x="350" y="1903"/>
                </a:lnTo>
                <a:lnTo>
                  <a:pt x="337" y="1885"/>
                </a:lnTo>
                <a:lnTo>
                  <a:pt x="322" y="1867"/>
                </a:lnTo>
                <a:lnTo>
                  <a:pt x="307" y="1848"/>
                </a:lnTo>
                <a:lnTo>
                  <a:pt x="292" y="1830"/>
                </a:lnTo>
                <a:lnTo>
                  <a:pt x="276" y="1812"/>
                </a:lnTo>
                <a:lnTo>
                  <a:pt x="260" y="1794"/>
                </a:lnTo>
                <a:lnTo>
                  <a:pt x="244" y="1776"/>
                </a:lnTo>
                <a:lnTo>
                  <a:pt x="228" y="1758"/>
                </a:lnTo>
                <a:lnTo>
                  <a:pt x="212" y="1740"/>
                </a:lnTo>
                <a:lnTo>
                  <a:pt x="195" y="1722"/>
                </a:lnTo>
                <a:lnTo>
                  <a:pt x="178" y="1703"/>
                </a:lnTo>
                <a:lnTo>
                  <a:pt x="160" y="1685"/>
                </a:lnTo>
                <a:lnTo>
                  <a:pt x="143" y="1667"/>
                </a:lnTo>
                <a:lnTo>
                  <a:pt x="126" y="1649"/>
                </a:lnTo>
                <a:lnTo>
                  <a:pt x="109" y="1631"/>
                </a:lnTo>
                <a:lnTo>
                  <a:pt x="93" y="1613"/>
                </a:lnTo>
                <a:lnTo>
                  <a:pt x="79" y="1595"/>
                </a:lnTo>
                <a:lnTo>
                  <a:pt x="66" y="1577"/>
                </a:lnTo>
                <a:lnTo>
                  <a:pt x="55" y="1558"/>
                </a:lnTo>
                <a:lnTo>
                  <a:pt x="46" y="1540"/>
                </a:lnTo>
                <a:lnTo>
                  <a:pt x="37" y="1522"/>
                </a:lnTo>
                <a:lnTo>
                  <a:pt x="30" y="1504"/>
                </a:lnTo>
                <a:lnTo>
                  <a:pt x="24" y="1486"/>
                </a:lnTo>
                <a:lnTo>
                  <a:pt x="18" y="1468"/>
                </a:lnTo>
                <a:lnTo>
                  <a:pt x="13" y="1450"/>
                </a:lnTo>
                <a:lnTo>
                  <a:pt x="8" y="1432"/>
                </a:lnTo>
                <a:lnTo>
                  <a:pt x="5" y="1414"/>
                </a:lnTo>
                <a:lnTo>
                  <a:pt x="2" y="1395"/>
                </a:lnTo>
                <a:lnTo>
                  <a:pt x="0" y="1377"/>
                </a:lnTo>
                <a:lnTo>
                  <a:pt x="0" y="1359"/>
                </a:lnTo>
                <a:lnTo>
                  <a:pt x="1" y="1341"/>
                </a:lnTo>
                <a:lnTo>
                  <a:pt x="3" y="1323"/>
                </a:lnTo>
                <a:lnTo>
                  <a:pt x="7" y="1305"/>
                </a:lnTo>
                <a:lnTo>
                  <a:pt x="11" y="1287"/>
                </a:lnTo>
                <a:lnTo>
                  <a:pt x="17" y="1269"/>
                </a:lnTo>
                <a:lnTo>
                  <a:pt x="23" y="1250"/>
                </a:lnTo>
                <a:lnTo>
                  <a:pt x="30" y="1232"/>
                </a:lnTo>
                <a:lnTo>
                  <a:pt x="37" y="1214"/>
                </a:lnTo>
                <a:lnTo>
                  <a:pt x="46" y="1196"/>
                </a:lnTo>
                <a:lnTo>
                  <a:pt x="55" y="1178"/>
                </a:lnTo>
                <a:lnTo>
                  <a:pt x="65" y="1160"/>
                </a:lnTo>
                <a:lnTo>
                  <a:pt x="76" y="1142"/>
                </a:lnTo>
                <a:lnTo>
                  <a:pt x="87" y="1124"/>
                </a:lnTo>
                <a:lnTo>
                  <a:pt x="98" y="1106"/>
                </a:lnTo>
                <a:lnTo>
                  <a:pt x="109" y="1087"/>
                </a:lnTo>
                <a:lnTo>
                  <a:pt x="119" y="1069"/>
                </a:lnTo>
                <a:lnTo>
                  <a:pt x="130" y="1051"/>
                </a:lnTo>
                <a:lnTo>
                  <a:pt x="140" y="1033"/>
                </a:lnTo>
                <a:lnTo>
                  <a:pt x="151" y="1015"/>
                </a:lnTo>
                <a:lnTo>
                  <a:pt x="162" y="997"/>
                </a:lnTo>
                <a:lnTo>
                  <a:pt x="174" y="979"/>
                </a:lnTo>
                <a:lnTo>
                  <a:pt x="186" y="961"/>
                </a:lnTo>
                <a:lnTo>
                  <a:pt x="199" y="942"/>
                </a:lnTo>
                <a:lnTo>
                  <a:pt x="212" y="924"/>
                </a:lnTo>
                <a:lnTo>
                  <a:pt x="227" y="906"/>
                </a:lnTo>
                <a:lnTo>
                  <a:pt x="241" y="888"/>
                </a:lnTo>
                <a:lnTo>
                  <a:pt x="256" y="870"/>
                </a:lnTo>
                <a:lnTo>
                  <a:pt x="271" y="852"/>
                </a:lnTo>
                <a:lnTo>
                  <a:pt x="286" y="834"/>
                </a:lnTo>
                <a:lnTo>
                  <a:pt x="300" y="816"/>
                </a:lnTo>
                <a:lnTo>
                  <a:pt x="313" y="798"/>
                </a:lnTo>
                <a:lnTo>
                  <a:pt x="325" y="779"/>
                </a:lnTo>
                <a:lnTo>
                  <a:pt x="337" y="761"/>
                </a:lnTo>
                <a:lnTo>
                  <a:pt x="347" y="743"/>
                </a:lnTo>
                <a:lnTo>
                  <a:pt x="357" y="725"/>
                </a:lnTo>
                <a:lnTo>
                  <a:pt x="367" y="707"/>
                </a:lnTo>
                <a:lnTo>
                  <a:pt x="376" y="689"/>
                </a:lnTo>
                <a:lnTo>
                  <a:pt x="386" y="671"/>
                </a:lnTo>
                <a:lnTo>
                  <a:pt x="395" y="653"/>
                </a:lnTo>
                <a:lnTo>
                  <a:pt x="404" y="634"/>
                </a:lnTo>
                <a:lnTo>
                  <a:pt x="413" y="616"/>
                </a:lnTo>
                <a:lnTo>
                  <a:pt x="422" y="598"/>
                </a:lnTo>
                <a:lnTo>
                  <a:pt x="431" y="580"/>
                </a:lnTo>
                <a:lnTo>
                  <a:pt x="439" y="562"/>
                </a:lnTo>
                <a:lnTo>
                  <a:pt x="446" y="544"/>
                </a:lnTo>
                <a:lnTo>
                  <a:pt x="453" y="526"/>
                </a:lnTo>
                <a:lnTo>
                  <a:pt x="459" y="508"/>
                </a:lnTo>
                <a:lnTo>
                  <a:pt x="464" y="490"/>
                </a:lnTo>
                <a:lnTo>
                  <a:pt x="469" y="471"/>
                </a:lnTo>
                <a:lnTo>
                  <a:pt x="473" y="453"/>
                </a:lnTo>
                <a:lnTo>
                  <a:pt x="477" y="435"/>
                </a:lnTo>
                <a:lnTo>
                  <a:pt x="480" y="417"/>
                </a:lnTo>
                <a:lnTo>
                  <a:pt x="484" y="399"/>
                </a:lnTo>
                <a:lnTo>
                  <a:pt x="487" y="381"/>
                </a:lnTo>
                <a:lnTo>
                  <a:pt x="491" y="363"/>
                </a:lnTo>
                <a:lnTo>
                  <a:pt x="495" y="345"/>
                </a:lnTo>
                <a:lnTo>
                  <a:pt x="499" y="326"/>
                </a:lnTo>
                <a:lnTo>
                  <a:pt x="503" y="308"/>
                </a:lnTo>
                <a:lnTo>
                  <a:pt x="507" y="290"/>
                </a:lnTo>
                <a:lnTo>
                  <a:pt x="511" y="272"/>
                </a:lnTo>
                <a:lnTo>
                  <a:pt x="515" y="254"/>
                </a:lnTo>
                <a:lnTo>
                  <a:pt x="519" y="236"/>
                </a:lnTo>
                <a:lnTo>
                  <a:pt x="523" y="218"/>
                </a:lnTo>
                <a:lnTo>
                  <a:pt x="526" y="200"/>
                </a:lnTo>
                <a:lnTo>
                  <a:pt x="528" y="182"/>
                </a:lnTo>
                <a:lnTo>
                  <a:pt x="531" y="163"/>
                </a:lnTo>
                <a:lnTo>
                  <a:pt x="533" y="145"/>
                </a:lnTo>
                <a:lnTo>
                  <a:pt x="534" y="127"/>
                </a:lnTo>
                <a:lnTo>
                  <a:pt x="536" y="109"/>
                </a:lnTo>
                <a:lnTo>
                  <a:pt x="537" y="91"/>
                </a:lnTo>
                <a:lnTo>
                  <a:pt x="537" y="73"/>
                </a:lnTo>
                <a:lnTo>
                  <a:pt x="538" y="55"/>
                </a:lnTo>
                <a:lnTo>
                  <a:pt x="539" y="37"/>
                </a:lnTo>
                <a:lnTo>
                  <a:pt x="539" y="18"/>
                </a:lnTo>
                <a:lnTo>
                  <a:pt x="539" y="0"/>
                </a:lnTo>
                <a:lnTo>
                  <a:pt x="541" y="0"/>
                </a:lnTo>
                <a:lnTo>
                  <a:pt x="541" y="18"/>
                </a:lnTo>
                <a:lnTo>
                  <a:pt x="541" y="37"/>
                </a:lnTo>
                <a:lnTo>
                  <a:pt x="542" y="55"/>
                </a:lnTo>
                <a:lnTo>
                  <a:pt x="543" y="73"/>
                </a:lnTo>
                <a:lnTo>
                  <a:pt x="543" y="91"/>
                </a:lnTo>
                <a:lnTo>
                  <a:pt x="544" y="109"/>
                </a:lnTo>
                <a:lnTo>
                  <a:pt x="546" y="127"/>
                </a:lnTo>
                <a:lnTo>
                  <a:pt x="547" y="145"/>
                </a:lnTo>
                <a:lnTo>
                  <a:pt x="549" y="163"/>
                </a:lnTo>
                <a:lnTo>
                  <a:pt x="552" y="182"/>
                </a:lnTo>
                <a:lnTo>
                  <a:pt x="554" y="200"/>
                </a:lnTo>
                <a:lnTo>
                  <a:pt x="557" y="218"/>
                </a:lnTo>
                <a:lnTo>
                  <a:pt x="561" y="236"/>
                </a:lnTo>
                <a:lnTo>
                  <a:pt x="565" y="254"/>
                </a:lnTo>
                <a:lnTo>
                  <a:pt x="569" y="272"/>
                </a:lnTo>
                <a:lnTo>
                  <a:pt x="573" y="290"/>
                </a:lnTo>
                <a:lnTo>
                  <a:pt x="577" y="308"/>
                </a:lnTo>
                <a:lnTo>
                  <a:pt x="581" y="326"/>
                </a:lnTo>
                <a:lnTo>
                  <a:pt x="585" y="345"/>
                </a:lnTo>
                <a:lnTo>
                  <a:pt x="589" y="363"/>
                </a:lnTo>
                <a:lnTo>
                  <a:pt x="593" y="381"/>
                </a:lnTo>
                <a:lnTo>
                  <a:pt x="596" y="399"/>
                </a:lnTo>
                <a:lnTo>
                  <a:pt x="600" y="417"/>
                </a:lnTo>
                <a:lnTo>
                  <a:pt x="603" y="435"/>
                </a:lnTo>
                <a:lnTo>
                  <a:pt x="607" y="453"/>
                </a:lnTo>
                <a:lnTo>
                  <a:pt x="611" y="471"/>
                </a:lnTo>
                <a:lnTo>
                  <a:pt x="616" y="490"/>
                </a:lnTo>
                <a:lnTo>
                  <a:pt x="621" y="508"/>
                </a:lnTo>
                <a:lnTo>
                  <a:pt x="627" y="526"/>
                </a:lnTo>
                <a:lnTo>
                  <a:pt x="634" y="544"/>
                </a:lnTo>
                <a:lnTo>
                  <a:pt x="641" y="562"/>
                </a:lnTo>
                <a:lnTo>
                  <a:pt x="649" y="580"/>
                </a:lnTo>
                <a:lnTo>
                  <a:pt x="658" y="598"/>
                </a:lnTo>
                <a:lnTo>
                  <a:pt x="667" y="616"/>
                </a:lnTo>
                <a:lnTo>
                  <a:pt x="676" y="634"/>
                </a:lnTo>
                <a:lnTo>
                  <a:pt x="685" y="653"/>
                </a:lnTo>
                <a:lnTo>
                  <a:pt x="694" y="671"/>
                </a:lnTo>
                <a:lnTo>
                  <a:pt x="704" y="689"/>
                </a:lnTo>
                <a:lnTo>
                  <a:pt x="713" y="707"/>
                </a:lnTo>
                <a:lnTo>
                  <a:pt x="723" y="725"/>
                </a:lnTo>
                <a:lnTo>
                  <a:pt x="733" y="743"/>
                </a:lnTo>
                <a:lnTo>
                  <a:pt x="743" y="761"/>
                </a:lnTo>
                <a:lnTo>
                  <a:pt x="755" y="779"/>
                </a:lnTo>
                <a:lnTo>
                  <a:pt x="767" y="798"/>
                </a:lnTo>
                <a:lnTo>
                  <a:pt x="780" y="816"/>
                </a:lnTo>
                <a:lnTo>
                  <a:pt x="794" y="834"/>
                </a:lnTo>
                <a:lnTo>
                  <a:pt x="809" y="852"/>
                </a:lnTo>
                <a:lnTo>
                  <a:pt x="824" y="870"/>
                </a:lnTo>
                <a:lnTo>
                  <a:pt x="839" y="888"/>
                </a:lnTo>
                <a:lnTo>
                  <a:pt x="853" y="906"/>
                </a:lnTo>
                <a:lnTo>
                  <a:pt x="868" y="924"/>
                </a:lnTo>
                <a:lnTo>
                  <a:pt x="881" y="942"/>
                </a:lnTo>
                <a:lnTo>
                  <a:pt x="894" y="961"/>
                </a:lnTo>
                <a:lnTo>
                  <a:pt x="906" y="979"/>
                </a:lnTo>
                <a:lnTo>
                  <a:pt x="918" y="997"/>
                </a:lnTo>
                <a:lnTo>
                  <a:pt x="929" y="1015"/>
                </a:lnTo>
                <a:lnTo>
                  <a:pt x="940" y="1033"/>
                </a:lnTo>
                <a:lnTo>
                  <a:pt x="950" y="1051"/>
                </a:lnTo>
                <a:lnTo>
                  <a:pt x="961" y="1069"/>
                </a:lnTo>
                <a:lnTo>
                  <a:pt x="971" y="1087"/>
                </a:lnTo>
                <a:lnTo>
                  <a:pt x="982" y="1106"/>
                </a:lnTo>
                <a:lnTo>
                  <a:pt x="993" y="1124"/>
                </a:lnTo>
                <a:lnTo>
                  <a:pt x="1004" y="1142"/>
                </a:lnTo>
                <a:lnTo>
                  <a:pt x="1015" y="1160"/>
                </a:lnTo>
                <a:lnTo>
                  <a:pt x="1025" y="1178"/>
                </a:lnTo>
                <a:lnTo>
                  <a:pt x="1034" y="1196"/>
                </a:lnTo>
                <a:lnTo>
                  <a:pt x="1043" y="1214"/>
                </a:lnTo>
                <a:lnTo>
                  <a:pt x="1050" y="1232"/>
                </a:lnTo>
                <a:lnTo>
                  <a:pt x="1057" y="1250"/>
                </a:lnTo>
                <a:lnTo>
                  <a:pt x="1063" y="1269"/>
                </a:lnTo>
                <a:lnTo>
                  <a:pt x="1069" y="1287"/>
                </a:lnTo>
                <a:lnTo>
                  <a:pt x="1073" y="1305"/>
                </a:lnTo>
                <a:lnTo>
                  <a:pt x="1077" y="1323"/>
                </a:lnTo>
                <a:lnTo>
                  <a:pt x="1079" y="1341"/>
                </a:lnTo>
                <a:lnTo>
                  <a:pt x="1080" y="1359"/>
                </a:lnTo>
                <a:lnTo>
                  <a:pt x="1080" y="1377"/>
                </a:lnTo>
                <a:lnTo>
                  <a:pt x="1078" y="1395"/>
                </a:lnTo>
                <a:lnTo>
                  <a:pt x="1075" y="1414"/>
                </a:lnTo>
                <a:lnTo>
                  <a:pt x="1072" y="1432"/>
                </a:lnTo>
                <a:lnTo>
                  <a:pt x="1067" y="1450"/>
                </a:lnTo>
                <a:lnTo>
                  <a:pt x="1062" y="1468"/>
                </a:lnTo>
                <a:lnTo>
                  <a:pt x="1056" y="1486"/>
                </a:lnTo>
                <a:lnTo>
                  <a:pt x="1050" y="1504"/>
                </a:lnTo>
                <a:lnTo>
                  <a:pt x="1043" y="1522"/>
                </a:lnTo>
                <a:lnTo>
                  <a:pt x="1034" y="1540"/>
                </a:lnTo>
                <a:lnTo>
                  <a:pt x="1025" y="1558"/>
                </a:lnTo>
                <a:lnTo>
                  <a:pt x="1014" y="1577"/>
                </a:lnTo>
                <a:lnTo>
                  <a:pt x="1001" y="1595"/>
                </a:lnTo>
                <a:lnTo>
                  <a:pt x="987" y="1613"/>
                </a:lnTo>
                <a:lnTo>
                  <a:pt x="971" y="1631"/>
                </a:lnTo>
                <a:lnTo>
                  <a:pt x="954" y="1649"/>
                </a:lnTo>
                <a:lnTo>
                  <a:pt x="937" y="1667"/>
                </a:lnTo>
                <a:lnTo>
                  <a:pt x="920" y="1685"/>
                </a:lnTo>
                <a:lnTo>
                  <a:pt x="902" y="1703"/>
                </a:lnTo>
                <a:lnTo>
                  <a:pt x="885" y="1722"/>
                </a:lnTo>
                <a:lnTo>
                  <a:pt x="868" y="1740"/>
                </a:lnTo>
                <a:lnTo>
                  <a:pt x="852" y="1758"/>
                </a:lnTo>
                <a:lnTo>
                  <a:pt x="836" y="1776"/>
                </a:lnTo>
                <a:lnTo>
                  <a:pt x="820" y="1794"/>
                </a:lnTo>
                <a:lnTo>
                  <a:pt x="804" y="1812"/>
                </a:lnTo>
                <a:lnTo>
                  <a:pt x="788" y="1830"/>
                </a:lnTo>
                <a:lnTo>
                  <a:pt x="773" y="1848"/>
                </a:lnTo>
                <a:lnTo>
                  <a:pt x="758" y="1867"/>
                </a:lnTo>
                <a:lnTo>
                  <a:pt x="743" y="1885"/>
                </a:lnTo>
                <a:lnTo>
                  <a:pt x="730" y="1903"/>
                </a:lnTo>
                <a:lnTo>
                  <a:pt x="717" y="1921"/>
                </a:lnTo>
                <a:lnTo>
                  <a:pt x="704" y="1939"/>
                </a:lnTo>
                <a:lnTo>
                  <a:pt x="693" y="1957"/>
                </a:lnTo>
                <a:lnTo>
                  <a:pt x="683" y="1975"/>
                </a:lnTo>
                <a:lnTo>
                  <a:pt x="673" y="1993"/>
                </a:lnTo>
                <a:lnTo>
                  <a:pt x="664" y="2011"/>
                </a:lnTo>
                <a:lnTo>
                  <a:pt x="656" y="2030"/>
                </a:lnTo>
                <a:lnTo>
                  <a:pt x="647" y="2048"/>
                </a:lnTo>
                <a:lnTo>
                  <a:pt x="640" y="2066"/>
                </a:lnTo>
                <a:lnTo>
                  <a:pt x="632" y="2084"/>
                </a:lnTo>
                <a:lnTo>
                  <a:pt x="624" y="2102"/>
                </a:lnTo>
                <a:lnTo>
                  <a:pt x="617" y="2120"/>
                </a:lnTo>
                <a:lnTo>
                  <a:pt x="609" y="2138"/>
                </a:lnTo>
                <a:lnTo>
                  <a:pt x="602" y="2156"/>
                </a:lnTo>
                <a:lnTo>
                  <a:pt x="595" y="2175"/>
                </a:lnTo>
                <a:lnTo>
                  <a:pt x="589" y="2193"/>
                </a:lnTo>
                <a:lnTo>
                  <a:pt x="583" y="2211"/>
                </a:lnTo>
                <a:lnTo>
                  <a:pt x="577" y="2229"/>
                </a:lnTo>
                <a:lnTo>
                  <a:pt x="572" y="2247"/>
                </a:lnTo>
                <a:lnTo>
                  <a:pt x="568" y="2265"/>
                </a:lnTo>
                <a:lnTo>
                  <a:pt x="564" y="2283"/>
                </a:lnTo>
                <a:lnTo>
                  <a:pt x="561" y="2301"/>
                </a:lnTo>
                <a:lnTo>
                  <a:pt x="558" y="2319"/>
                </a:lnTo>
                <a:lnTo>
                  <a:pt x="556" y="2338"/>
                </a:lnTo>
                <a:lnTo>
                  <a:pt x="553" y="2356"/>
                </a:lnTo>
                <a:lnTo>
                  <a:pt x="551" y="2374"/>
                </a:lnTo>
                <a:lnTo>
                  <a:pt x="550" y="2392"/>
                </a:lnTo>
                <a:lnTo>
                  <a:pt x="548" y="2410"/>
                </a:lnTo>
                <a:lnTo>
                  <a:pt x="547" y="2428"/>
                </a:lnTo>
                <a:lnTo>
                  <a:pt x="545" y="2446"/>
                </a:lnTo>
                <a:lnTo>
                  <a:pt x="544" y="2464"/>
                </a:lnTo>
                <a:lnTo>
                  <a:pt x="543" y="2483"/>
                </a:lnTo>
                <a:lnTo>
                  <a:pt x="543" y="2501"/>
                </a:lnTo>
                <a:lnTo>
                  <a:pt x="542" y="2519"/>
                </a:lnTo>
                <a:lnTo>
                  <a:pt x="542" y="2537"/>
                </a:lnTo>
                <a:lnTo>
                  <a:pt x="542" y="2555"/>
                </a:lnTo>
                <a:lnTo>
                  <a:pt x="541" y="2573"/>
                </a:lnTo>
                <a:lnTo>
                  <a:pt x="541" y="2591"/>
                </a:lnTo>
                <a:lnTo>
                  <a:pt x="541" y="2609"/>
                </a:lnTo>
                <a:lnTo>
                  <a:pt x="541" y="2627"/>
                </a:lnTo>
                <a:lnTo>
                  <a:pt x="541" y="2646"/>
                </a:lnTo>
                <a:lnTo>
                  <a:pt x="540" y="2664"/>
                </a:lnTo>
                <a:lnTo>
                  <a:pt x="540" y="2682"/>
                </a:lnTo>
                <a:lnTo>
                  <a:pt x="540" y="2700"/>
                </a:lnTo>
                <a:close/>
              </a:path>
            </a:pathLst>
          </a:custGeom>
          <a:solidFill>
            <a:srgbClr val="DCEFE4"/>
          </a:solidFill>
          <a:ln w="9525">
            <a:solidFill>
              <a:srgbClr val="83B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Box_FlatVelB_Whisker"/>
          <p:cNvCxnSpPr/>
          <p:nvPr/>
        </p:nvCxnSpPr>
        <p:spPr>
          <a:xfrm flipV="1">
            <a:off x="2773205" y="783124"/>
            <a:ext cx="0" cy="1962216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ox_FlatVelB_LowerCap"/>
          <p:cNvCxnSpPr/>
          <p:nvPr/>
        </p:nvCxnSpPr>
        <p:spPr>
          <a:xfrm>
            <a:off x="2636045" y="2745340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Box_FlatVelB_UpperCap"/>
          <p:cNvCxnSpPr/>
          <p:nvPr/>
        </p:nvCxnSpPr>
        <p:spPr>
          <a:xfrm>
            <a:off x="2636045" y="783124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Box_FlatVelB_IQR"/>
          <p:cNvSpPr/>
          <p:nvPr/>
        </p:nvSpPr>
        <p:spPr>
          <a:xfrm>
            <a:off x="2629187" y="1519679"/>
            <a:ext cx="288036" cy="497764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Box_FlatVelB_Median"/>
          <p:cNvCxnSpPr/>
          <p:nvPr/>
        </p:nvCxnSpPr>
        <p:spPr>
          <a:xfrm>
            <a:off x="2485169" y="1774776"/>
            <a:ext cx="576072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Label_FlatVelB"/>
          <p:cNvSpPr txBox="1"/>
          <p:nvPr/>
        </p:nvSpPr>
        <p:spPr>
          <a:xfrm>
            <a:off x="2473444" y="3082325"/>
            <a:ext cx="599524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FVB</a:t>
            </a:r>
            <a:endParaRPr sz="2400" b="0" i="0" dirty="0">
              <a:latin typeface="Times New Roman"/>
            </a:endParaRPr>
          </a:p>
        </p:txBody>
      </p:sp>
      <p:sp>
        <p:nvSpPr>
          <p:cNvPr id="37" name="Violin_CurveVelA"/>
          <p:cNvSpPr/>
          <p:nvPr/>
        </p:nvSpPr>
        <p:spPr>
          <a:xfrm>
            <a:off x="3651029" y="588713"/>
            <a:ext cx="987552" cy="2390242"/>
          </a:xfrm>
          <a:custGeom>
            <a:avLst/>
            <a:gdLst/>
            <a:ahLst/>
            <a:cxnLst/>
            <a:rect l="l" t="t" r="r" b="b"/>
            <a:pathLst>
              <a:path w="1080" h="2614">
                <a:moveTo>
                  <a:pt x="540" y="2614"/>
                </a:moveTo>
                <a:lnTo>
                  <a:pt x="540" y="2596"/>
                </a:lnTo>
                <a:lnTo>
                  <a:pt x="539" y="2579"/>
                </a:lnTo>
                <a:lnTo>
                  <a:pt x="539" y="2561"/>
                </a:lnTo>
                <a:lnTo>
                  <a:pt x="539" y="2544"/>
                </a:lnTo>
                <a:lnTo>
                  <a:pt x="538" y="2526"/>
                </a:lnTo>
                <a:lnTo>
                  <a:pt x="538" y="2509"/>
                </a:lnTo>
                <a:lnTo>
                  <a:pt x="537" y="2491"/>
                </a:lnTo>
                <a:lnTo>
                  <a:pt x="537" y="2474"/>
                </a:lnTo>
                <a:lnTo>
                  <a:pt x="536" y="2456"/>
                </a:lnTo>
                <a:lnTo>
                  <a:pt x="535" y="2439"/>
                </a:lnTo>
                <a:lnTo>
                  <a:pt x="535" y="2421"/>
                </a:lnTo>
                <a:lnTo>
                  <a:pt x="534" y="2404"/>
                </a:lnTo>
                <a:lnTo>
                  <a:pt x="533" y="2386"/>
                </a:lnTo>
                <a:lnTo>
                  <a:pt x="532" y="2368"/>
                </a:lnTo>
                <a:lnTo>
                  <a:pt x="531" y="2351"/>
                </a:lnTo>
                <a:lnTo>
                  <a:pt x="530" y="2333"/>
                </a:lnTo>
                <a:lnTo>
                  <a:pt x="529" y="2316"/>
                </a:lnTo>
                <a:lnTo>
                  <a:pt x="527" y="2298"/>
                </a:lnTo>
                <a:lnTo>
                  <a:pt x="525" y="2281"/>
                </a:lnTo>
                <a:lnTo>
                  <a:pt x="523" y="2263"/>
                </a:lnTo>
                <a:lnTo>
                  <a:pt x="521" y="2246"/>
                </a:lnTo>
                <a:lnTo>
                  <a:pt x="519" y="2228"/>
                </a:lnTo>
                <a:lnTo>
                  <a:pt x="516" y="2211"/>
                </a:lnTo>
                <a:lnTo>
                  <a:pt x="513" y="2193"/>
                </a:lnTo>
                <a:lnTo>
                  <a:pt x="511" y="2175"/>
                </a:lnTo>
                <a:lnTo>
                  <a:pt x="508" y="2158"/>
                </a:lnTo>
                <a:lnTo>
                  <a:pt x="504" y="2140"/>
                </a:lnTo>
                <a:lnTo>
                  <a:pt x="500" y="2123"/>
                </a:lnTo>
                <a:lnTo>
                  <a:pt x="496" y="2105"/>
                </a:lnTo>
                <a:lnTo>
                  <a:pt x="491" y="2088"/>
                </a:lnTo>
                <a:lnTo>
                  <a:pt x="485" y="2070"/>
                </a:lnTo>
                <a:lnTo>
                  <a:pt x="478" y="2053"/>
                </a:lnTo>
                <a:lnTo>
                  <a:pt x="470" y="2035"/>
                </a:lnTo>
                <a:lnTo>
                  <a:pt x="461" y="2018"/>
                </a:lnTo>
                <a:lnTo>
                  <a:pt x="452" y="2000"/>
                </a:lnTo>
                <a:lnTo>
                  <a:pt x="441" y="1983"/>
                </a:lnTo>
                <a:lnTo>
                  <a:pt x="431" y="1965"/>
                </a:lnTo>
                <a:lnTo>
                  <a:pt x="421" y="1947"/>
                </a:lnTo>
                <a:lnTo>
                  <a:pt x="410" y="1930"/>
                </a:lnTo>
                <a:lnTo>
                  <a:pt x="400" y="1912"/>
                </a:lnTo>
                <a:lnTo>
                  <a:pt x="391" y="1895"/>
                </a:lnTo>
                <a:lnTo>
                  <a:pt x="381" y="1877"/>
                </a:lnTo>
                <a:lnTo>
                  <a:pt x="371" y="1860"/>
                </a:lnTo>
                <a:lnTo>
                  <a:pt x="362" y="1842"/>
                </a:lnTo>
                <a:lnTo>
                  <a:pt x="351" y="1825"/>
                </a:lnTo>
                <a:lnTo>
                  <a:pt x="340" y="1807"/>
                </a:lnTo>
                <a:lnTo>
                  <a:pt x="329" y="1790"/>
                </a:lnTo>
                <a:lnTo>
                  <a:pt x="316" y="1772"/>
                </a:lnTo>
                <a:lnTo>
                  <a:pt x="303" y="1754"/>
                </a:lnTo>
                <a:lnTo>
                  <a:pt x="290" y="1737"/>
                </a:lnTo>
                <a:lnTo>
                  <a:pt x="276" y="1719"/>
                </a:lnTo>
                <a:lnTo>
                  <a:pt x="262" y="1702"/>
                </a:lnTo>
                <a:lnTo>
                  <a:pt x="247" y="1684"/>
                </a:lnTo>
                <a:lnTo>
                  <a:pt x="233" y="1667"/>
                </a:lnTo>
                <a:lnTo>
                  <a:pt x="218" y="1649"/>
                </a:lnTo>
                <a:lnTo>
                  <a:pt x="204" y="1632"/>
                </a:lnTo>
                <a:lnTo>
                  <a:pt x="189" y="1614"/>
                </a:lnTo>
                <a:lnTo>
                  <a:pt x="176" y="1597"/>
                </a:lnTo>
                <a:lnTo>
                  <a:pt x="163" y="1579"/>
                </a:lnTo>
                <a:lnTo>
                  <a:pt x="150" y="1562"/>
                </a:lnTo>
                <a:lnTo>
                  <a:pt x="138" y="1544"/>
                </a:lnTo>
                <a:lnTo>
                  <a:pt x="128" y="1526"/>
                </a:lnTo>
                <a:lnTo>
                  <a:pt x="117" y="1509"/>
                </a:lnTo>
                <a:lnTo>
                  <a:pt x="108" y="1491"/>
                </a:lnTo>
                <a:lnTo>
                  <a:pt x="98" y="1474"/>
                </a:lnTo>
                <a:lnTo>
                  <a:pt x="89" y="1456"/>
                </a:lnTo>
                <a:lnTo>
                  <a:pt x="80" y="1439"/>
                </a:lnTo>
                <a:lnTo>
                  <a:pt x="70" y="1421"/>
                </a:lnTo>
                <a:lnTo>
                  <a:pt x="60" y="1404"/>
                </a:lnTo>
                <a:lnTo>
                  <a:pt x="49" y="1386"/>
                </a:lnTo>
                <a:lnTo>
                  <a:pt x="39" y="1369"/>
                </a:lnTo>
                <a:lnTo>
                  <a:pt x="29" y="1351"/>
                </a:lnTo>
                <a:lnTo>
                  <a:pt x="20" y="1333"/>
                </a:lnTo>
                <a:lnTo>
                  <a:pt x="12" y="1316"/>
                </a:lnTo>
                <a:lnTo>
                  <a:pt x="6" y="1298"/>
                </a:lnTo>
                <a:lnTo>
                  <a:pt x="2" y="1281"/>
                </a:lnTo>
                <a:lnTo>
                  <a:pt x="0" y="1263"/>
                </a:lnTo>
                <a:lnTo>
                  <a:pt x="0" y="1246"/>
                </a:lnTo>
                <a:lnTo>
                  <a:pt x="2" y="1228"/>
                </a:lnTo>
                <a:lnTo>
                  <a:pt x="6" y="1211"/>
                </a:lnTo>
                <a:lnTo>
                  <a:pt x="11" y="1193"/>
                </a:lnTo>
                <a:lnTo>
                  <a:pt x="17" y="1176"/>
                </a:lnTo>
                <a:lnTo>
                  <a:pt x="24" y="1158"/>
                </a:lnTo>
                <a:lnTo>
                  <a:pt x="30" y="1141"/>
                </a:lnTo>
                <a:lnTo>
                  <a:pt x="38" y="1123"/>
                </a:lnTo>
                <a:lnTo>
                  <a:pt x="45" y="1105"/>
                </a:lnTo>
                <a:lnTo>
                  <a:pt x="54" y="1088"/>
                </a:lnTo>
                <a:lnTo>
                  <a:pt x="63" y="1070"/>
                </a:lnTo>
                <a:lnTo>
                  <a:pt x="74" y="1053"/>
                </a:lnTo>
                <a:lnTo>
                  <a:pt x="85" y="1035"/>
                </a:lnTo>
                <a:lnTo>
                  <a:pt x="98" y="1018"/>
                </a:lnTo>
                <a:lnTo>
                  <a:pt x="110" y="1000"/>
                </a:lnTo>
                <a:lnTo>
                  <a:pt x="123" y="983"/>
                </a:lnTo>
                <a:lnTo>
                  <a:pt x="135" y="965"/>
                </a:lnTo>
                <a:lnTo>
                  <a:pt x="146" y="948"/>
                </a:lnTo>
                <a:lnTo>
                  <a:pt x="157" y="930"/>
                </a:lnTo>
                <a:lnTo>
                  <a:pt x="167" y="912"/>
                </a:lnTo>
                <a:lnTo>
                  <a:pt x="176" y="895"/>
                </a:lnTo>
                <a:lnTo>
                  <a:pt x="185" y="877"/>
                </a:lnTo>
                <a:lnTo>
                  <a:pt x="194" y="860"/>
                </a:lnTo>
                <a:lnTo>
                  <a:pt x="204" y="842"/>
                </a:lnTo>
                <a:lnTo>
                  <a:pt x="214" y="825"/>
                </a:lnTo>
                <a:lnTo>
                  <a:pt x="224" y="807"/>
                </a:lnTo>
                <a:lnTo>
                  <a:pt x="235" y="790"/>
                </a:lnTo>
                <a:lnTo>
                  <a:pt x="247" y="772"/>
                </a:lnTo>
                <a:lnTo>
                  <a:pt x="258" y="755"/>
                </a:lnTo>
                <a:lnTo>
                  <a:pt x="270" y="737"/>
                </a:lnTo>
                <a:lnTo>
                  <a:pt x="281" y="720"/>
                </a:lnTo>
                <a:lnTo>
                  <a:pt x="291" y="702"/>
                </a:lnTo>
                <a:lnTo>
                  <a:pt x="301" y="684"/>
                </a:lnTo>
                <a:lnTo>
                  <a:pt x="311" y="667"/>
                </a:lnTo>
                <a:lnTo>
                  <a:pt x="321" y="649"/>
                </a:lnTo>
                <a:lnTo>
                  <a:pt x="330" y="632"/>
                </a:lnTo>
                <a:lnTo>
                  <a:pt x="340" y="614"/>
                </a:lnTo>
                <a:lnTo>
                  <a:pt x="350" y="597"/>
                </a:lnTo>
                <a:lnTo>
                  <a:pt x="360" y="579"/>
                </a:lnTo>
                <a:lnTo>
                  <a:pt x="371" y="562"/>
                </a:lnTo>
                <a:lnTo>
                  <a:pt x="381" y="544"/>
                </a:lnTo>
                <a:lnTo>
                  <a:pt x="391" y="527"/>
                </a:lnTo>
                <a:lnTo>
                  <a:pt x="400" y="509"/>
                </a:lnTo>
                <a:lnTo>
                  <a:pt x="409" y="491"/>
                </a:lnTo>
                <a:lnTo>
                  <a:pt x="417" y="474"/>
                </a:lnTo>
                <a:lnTo>
                  <a:pt x="425" y="456"/>
                </a:lnTo>
                <a:lnTo>
                  <a:pt x="431" y="439"/>
                </a:lnTo>
                <a:lnTo>
                  <a:pt x="438" y="421"/>
                </a:lnTo>
                <a:lnTo>
                  <a:pt x="443" y="404"/>
                </a:lnTo>
                <a:lnTo>
                  <a:pt x="449" y="386"/>
                </a:lnTo>
                <a:lnTo>
                  <a:pt x="455" y="369"/>
                </a:lnTo>
                <a:lnTo>
                  <a:pt x="460" y="351"/>
                </a:lnTo>
                <a:lnTo>
                  <a:pt x="466" y="334"/>
                </a:lnTo>
                <a:lnTo>
                  <a:pt x="471" y="316"/>
                </a:lnTo>
                <a:lnTo>
                  <a:pt x="477" y="299"/>
                </a:lnTo>
                <a:lnTo>
                  <a:pt x="483" y="281"/>
                </a:lnTo>
                <a:lnTo>
                  <a:pt x="488" y="263"/>
                </a:lnTo>
                <a:lnTo>
                  <a:pt x="493" y="246"/>
                </a:lnTo>
                <a:lnTo>
                  <a:pt x="498" y="228"/>
                </a:lnTo>
                <a:lnTo>
                  <a:pt x="503" y="211"/>
                </a:lnTo>
                <a:lnTo>
                  <a:pt x="508" y="193"/>
                </a:lnTo>
                <a:lnTo>
                  <a:pt x="513" y="176"/>
                </a:lnTo>
                <a:lnTo>
                  <a:pt x="517" y="158"/>
                </a:lnTo>
                <a:lnTo>
                  <a:pt x="521" y="141"/>
                </a:lnTo>
                <a:lnTo>
                  <a:pt x="525" y="123"/>
                </a:lnTo>
                <a:lnTo>
                  <a:pt x="529" y="106"/>
                </a:lnTo>
                <a:lnTo>
                  <a:pt x="531" y="88"/>
                </a:lnTo>
                <a:lnTo>
                  <a:pt x="534" y="70"/>
                </a:lnTo>
                <a:lnTo>
                  <a:pt x="536" y="53"/>
                </a:lnTo>
                <a:lnTo>
                  <a:pt x="537" y="35"/>
                </a:lnTo>
                <a:lnTo>
                  <a:pt x="538" y="18"/>
                </a:lnTo>
                <a:lnTo>
                  <a:pt x="539" y="0"/>
                </a:lnTo>
                <a:lnTo>
                  <a:pt x="541" y="0"/>
                </a:lnTo>
                <a:lnTo>
                  <a:pt x="542" y="18"/>
                </a:lnTo>
                <a:lnTo>
                  <a:pt x="543" y="35"/>
                </a:lnTo>
                <a:lnTo>
                  <a:pt x="544" y="53"/>
                </a:lnTo>
                <a:lnTo>
                  <a:pt x="546" y="70"/>
                </a:lnTo>
                <a:lnTo>
                  <a:pt x="549" y="88"/>
                </a:lnTo>
                <a:lnTo>
                  <a:pt x="551" y="106"/>
                </a:lnTo>
                <a:lnTo>
                  <a:pt x="555" y="123"/>
                </a:lnTo>
                <a:lnTo>
                  <a:pt x="559" y="141"/>
                </a:lnTo>
                <a:lnTo>
                  <a:pt x="563" y="158"/>
                </a:lnTo>
                <a:lnTo>
                  <a:pt x="567" y="176"/>
                </a:lnTo>
                <a:lnTo>
                  <a:pt x="572" y="193"/>
                </a:lnTo>
                <a:lnTo>
                  <a:pt x="577" y="211"/>
                </a:lnTo>
                <a:lnTo>
                  <a:pt x="582" y="228"/>
                </a:lnTo>
                <a:lnTo>
                  <a:pt x="587" y="246"/>
                </a:lnTo>
                <a:lnTo>
                  <a:pt x="592" y="263"/>
                </a:lnTo>
                <a:lnTo>
                  <a:pt x="597" y="281"/>
                </a:lnTo>
                <a:lnTo>
                  <a:pt x="603" y="299"/>
                </a:lnTo>
                <a:lnTo>
                  <a:pt x="609" y="316"/>
                </a:lnTo>
                <a:lnTo>
                  <a:pt x="614" y="334"/>
                </a:lnTo>
                <a:lnTo>
                  <a:pt x="620" y="351"/>
                </a:lnTo>
                <a:lnTo>
                  <a:pt x="625" y="369"/>
                </a:lnTo>
                <a:lnTo>
                  <a:pt x="631" y="386"/>
                </a:lnTo>
                <a:lnTo>
                  <a:pt x="637" y="404"/>
                </a:lnTo>
                <a:lnTo>
                  <a:pt x="642" y="421"/>
                </a:lnTo>
                <a:lnTo>
                  <a:pt x="649" y="439"/>
                </a:lnTo>
                <a:lnTo>
                  <a:pt x="655" y="456"/>
                </a:lnTo>
                <a:lnTo>
                  <a:pt x="663" y="474"/>
                </a:lnTo>
                <a:lnTo>
                  <a:pt x="671" y="491"/>
                </a:lnTo>
                <a:lnTo>
                  <a:pt x="680" y="509"/>
                </a:lnTo>
                <a:lnTo>
                  <a:pt x="689" y="527"/>
                </a:lnTo>
                <a:lnTo>
                  <a:pt x="699" y="544"/>
                </a:lnTo>
                <a:lnTo>
                  <a:pt x="709" y="562"/>
                </a:lnTo>
                <a:lnTo>
                  <a:pt x="720" y="579"/>
                </a:lnTo>
                <a:lnTo>
                  <a:pt x="730" y="597"/>
                </a:lnTo>
                <a:lnTo>
                  <a:pt x="740" y="614"/>
                </a:lnTo>
                <a:lnTo>
                  <a:pt x="750" y="632"/>
                </a:lnTo>
                <a:lnTo>
                  <a:pt x="759" y="649"/>
                </a:lnTo>
                <a:lnTo>
                  <a:pt x="769" y="667"/>
                </a:lnTo>
                <a:lnTo>
                  <a:pt x="779" y="684"/>
                </a:lnTo>
                <a:lnTo>
                  <a:pt x="789" y="702"/>
                </a:lnTo>
                <a:lnTo>
                  <a:pt x="799" y="720"/>
                </a:lnTo>
                <a:lnTo>
                  <a:pt x="810" y="737"/>
                </a:lnTo>
                <a:lnTo>
                  <a:pt x="822" y="755"/>
                </a:lnTo>
                <a:lnTo>
                  <a:pt x="833" y="772"/>
                </a:lnTo>
                <a:lnTo>
                  <a:pt x="845" y="790"/>
                </a:lnTo>
                <a:lnTo>
                  <a:pt x="856" y="807"/>
                </a:lnTo>
                <a:lnTo>
                  <a:pt x="866" y="825"/>
                </a:lnTo>
                <a:lnTo>
                  <a:pt x="876" y="842"/>
                </a:lnTo>
                <a:lnTo>
                  <a:pt x="886" y="860"/>
                </a:lnTo>
                <a:lnTo>
                  <a:pt x="895" y="877"/>
                </a:lnTo>
                <a:lnTo>
                  <a:pt x="904" y="895"/>
                </a:lnTo>
                <a:lnTo>
                  <a:pt x="913" y="912"/>
                </a:lnTo>
                <a:lnTo>
                  <a:pt x="923" y="930"/>
                </a:lnTo>
                <a:lnTo>
                  <a:pt x="934" y="948"/>
                </a:lnTo>
                <a:lnTo>
                  <a:pt x="945" y="965"/>
                </a:lnTo>
                <a:lnTo>
                  <a:pt x="957" y="983"/>
                </a:lnTo>
                <a:lnTo>
                  <a:pt x="970" y="1000"/>
                </a:lnTo>
                <a:lnTo>
                  <a:pt x="982" y="1018"/>
                </a:lnTo>
                <a:lnTo>
                  <a:pt x="995" y="1035"/>
                </a:lnTo>
                <a:lnTo>
                  <a:pt x="1006" y="1053"/>
                </a:lnTo>
                <a:lnTo>
                  <a:pt x="1017" y="1070"/>
                </a:lnTo>
                <a:lnTo>
                  <a:pt x="1026" y="1088"/>
                </a:lnTo>
                <a:lnTo>
                  <a:pt x="1035" y="1105"/>
                </a:lnTo>
                <a:lnTo>
                  <a:pt x="1042" y="1123"/>
                </a:lnTo>
                <a:lnTo>
                  <a:pt x="1050" y="1141"/>
                </a:lnTo>
                <a:lnTo>
                  <a:pt x="1056" y="1158"/>
                </a:lnTo>
                <a:lnTo>
                  <a:pt x="1063" y="1176"/>
                </a:lnTo>
                <a:lnTo>
                  <a:pt x="1069" y="1193"/>
                </a:lnTo>
                <a:lnTo>
                  <a:pt x="1074" y="1211"/>
                </a:lnTo>
                <a:lnTo>
                  <a:pt x="1078" y="1228"/>
                </a:lnTo>
                <a:lnTo>
                  <a:pt x="1080" y="1246"/>
                </a:lnTo>
                <a:lnTo>
                  <a:pt x="1080" y="1263"/>
                </a:lnTo>
                <a:lnTo>
                  <a:pt x="1078" y="1281"/>
                </a:lnTo>
                <a:lnTo>
                  <a:pt x="1074" y="1298"/>
                </a:lnTo>
                <a:lnTo>
                  <a:pt x="1068" y="1316"/>
                </a:lnTo>
                <a:lnTo>
                  <a:pt x="1060" y="1333"/>
                </a:lnTo>
                <a:lnTo>
                  <a:pt x="1051" y="1351"/>
                </a:lnTo>
                <a:lnTo>
                  <a:pt x="1041" y="1369"/>
                </a:lnTo>
                <a:lnTo>
                  <a:pt x="1031" y="1386"/>
                </a:lnTo>
                <a:lnTo>
                  <a:pt x="1020" y="1404"/>
                </a:lnTo>
                <a:lnTo>
                  <a:pt x="1010" y="1421"/>
                </a:lnTo>
                <a:lnTo>
                  <a:pt x="1000" y="1439"/>
                </a:lnTo>
                <a:lnTo>
                  <a:pt x="991" y="1456"/>
                </a:lnTo>
                <a:lnTo>
                  <a:pt x="982" y="1474"/>
                </a:lnTo>
                <a:lnTo>
                  <a:pt x="972" y="1491"/>
                </a:lnTo>
                <a:lnTo>
                  <a:pt x="963" y="1509"/>
                </a:lnTo>
                <a:lnTo>
                  <a:pt x="952" y="1526"/>
                </a:lnTo>
                <a:lnTo>
                  <a:pt x="942" y="1544"/>
                </a:lnTo>
                <a:lnTo>
                  <a:pt x="930" y="1562"/>
                </a:lnTo>
                <a:lnTo>
                  <a:pt x="917" y="1579"/>
                </a:lnTo>
                <a:lnTo>
                  <a:pt x="904" y="1597"/>
                </a:lnTo>
                <a:lnTo>
                  <a:pt x="891" y="1614"/>
                </a:lnTo>
                <a:lnTo>
                  <a:pt x="876" y="1632"/>
                </a:lnTo>
                <a:lnTo>
                  <a:pt x="862" y="1649"/>
                </a:lnTo>
                <a:lnTo>
                  <a:pt x="847" y="1667"/>
                </a:lnTo>
                <a:lnTo>
                  <a:pt x="833" y="1684"/>
                </a:lnTo>
                <a:lnTo>
                  <a:pt x="818" y="1702"/>
                </a:lnTo>
                <a:lnTo>
                  <a:pt x="804" y="1719"/>
                </a:lnTo>
                <a:lnTo>
                  <a:pt x="790" y="1737"/>
                </a:lnTo>
                <a:lnTo>
                  <a:pt x="777" y="1754"/>
                </a:lnTo>
                <a:lnTo>
                  <a:pt x="764" y="1772"/>
                </a:lnTo>
                <a:lnTo>
                  <a:pt x="751" y="1790"/>
                </a:lnTo>
                <a:lnTo>
                  <a:pt x="740" y="1807"/>
                </a:lnTo>
                <a:lnTo>
                  <a:pt x="729" y="1825"/>
                </a:lnTo>
                <a:lnTo>
                  <a:pt x="718" y="1842"/>
                </a:lnTo>
                <a:lnTo>
                  <a:pt x="709" y="1860"/>
                </a:lnTo>
                <a:lnTo>
                  <a:pt x="699" y="1877"/>
                </a:lnTo>
                <a:lnTo>
                  <a:pt x="689" y="1895"/>
                </a:lnTo>
                <a:lnTo>
                  <a:pt x="680" y="1912"/>
                </a:lnTo>
                <a:lnTo>
                  <a:pt x="670" y="1930"/>
                </a:lnTo>
                <a:lnTo>
                  <a:pt x="659" y="1947"/>
                </a:lnTo>
                <a:lnTo>
                  <a:pt x="649" y="1965"/>
                </a:lnTo>
                <a:lnTo>
                  <a:pt x="639" y="1983"/>
                </a:lnTo>
                <a:lnTo>
                  <a:pt x="628" y="2000"/>
                </a:lnTo>
                <a:lnTo>
                  <a:pt x="619" y="2018"/>
                </a:lnTo>
                <a:lnTo>
                  <a:pt x="610" y="2035"/>
                </a:lnTo>
                <a:lnTo>
                  <a:pt x="602" y="2053"/>
                </a:lnTo>
                <a:lnTo>
                  <a:pt x="595" y="2070"/>
                </a:lnTo>
                <a:lnTo>
                  <a:pt x="589" y="2088"/>
                </a:lnTo>
                <a:lnTo>
                  <a:pt x="584" y="2105"/>
                </a:lnTo>
                <a:lnTo>
                  <a:pt x="580" y="2123"/>
                </a:lnTo>
                <a:lnTo>
                  <a:pt x="576" y="2140"/>
                </a:lnTo>
                <a:lnTo>
                  <a:pt x="572" y="2158"/>
                </a:lnTo>
                <a:lnTo>
                  <a:pt x="569" y="2175"/>
                </a:lnTo>
                <a:lnTo>
                  <a:pt x="567" y="2193"/>
                </a:lnTo>
                <a:lnTo>
                  <a:pt x="564" y="2211"/>
                </a:lnTo>
                <a:lnTo>
                  <a:pt x="561" y="2228"/>
                </a:lnTo>
                <a:lnTo>
                  <a:pt x="559" y="2246"/>
                </a:lnTo>
                <a:lnTo>
                  <a:pt x="557" y="2263"/>
                </a:lnTo>
                <a:lnTo>
                  <a:pt x="555" y="2281"/>
                </a:lnTo>
                <a:lnTo>
                  <a:pt x="553" y="2298"/>
                </a:lnTo>
                <a:lnTo>
                  <a:pt x="551" y="2316"/>
                </a:lnTo>
                <a:lnTo>
                  <a:pt x="550" y="2333"/>
                </a:lnTo>
                <a:lnTo>
                  <a:pt x="549" y="2351"/>
                </a:lnTo>
                <a:lnTo>
                  <a:pt x="548" y="2368"/>
                </a:lnTo>
                <a:lnTo>
                  <a:pt x="547" y="2386"/>
                </a:lnTo>
                <a:lnTo>
                  <a:pt x="546" y="2404"/>
                </a:lnTo>
                <a:lnTo>
                  <a:pt x="545" y="2421"/>
                </a:lnTo>
                <a:lnTo>
                  <a:pt x="545" y="2439"/>
                </a:lnTo>
                <a:lnTo>
                  <a:pt x="544" y="2456"/>
                </a:lnTo>
                <a:lnTo>
                  <a:pt x="543" y="2474"/>
                </a:lnTo>
                <a:lnTo>
                  <a:pt x="543" y="2491"/>
                </a:lnTo>
                <a:lnTo>
                  <a:pt x="542" y="2509"/>
                </a:lnTo>
                <a:lnTo>
                  <a:pt x="542" y="2526"/>
                </a:lnTo>
                <a:lnTo>
                  <a:pt x="541" y="2544"/>
                </a:lnTo>
                <a:lnTo>
                  <a:pt x="541" y="2561"/>
                </a:lnTo>
                <a:lnTo>
                  <a:pt x="541" y="2579"/>
                </a:lnTo>
                <a:lnTo>
                  <a:pt x="540" y="2596"/>
                </a:lnTo>
                <a:lnTo>
                  <a:pt x="540" y="2614"/>
                </a:lnTo>
                <a:close/>
              </a:path>
            </a:pathLst>
          </a:custGeom>
          <a:solidFill>
            <a:srgbClr val="DCEFE4"/>
          </a:solidFill>
          <a:ln w="9525">
            <a:solidFill>
              <a:srgbClr val="83B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Box_CurveVelA_Whisker"/>
          <p:cNvCxnSpPr/>
          <p:nvPr/>
        </p:nvCxnSpPr>
        <p:spPr>
          <a:xfrm flipV="1">
            <a:off x="4144805" y="709934"/>
            <a:ext cx="0" cy="2022494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Box_CurveVelA_LowerCap"/>
          <p:cNvCxnSpPr/>
          <p:nvPr/>
        </p:nvCxnSpPr>
        <p:spPr>
          <a:xfrm>
            <a:off x="4007644" y="2732428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Box_CurveVelA_UpperCap"/>
          <p:cNvCxnSpPr/>
          <p:nvPr/>
        </p:nvCxnSpPr>
        <p:spPr>
          <a:xfrm>
            <a:off x="4007644" y="709934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Box_CurveVelA_IQR"/>
          <p:cNvSpPr/>
          <p:nvPr/>
        </p:nvSpPr>
        <p:spPr>
          <a:xfrm>
            <a:off x="4000787" y="1442157"/>
            <a:ext cx="288036" cy="516284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Box_CurveVelA_Median"/>
          <p:cNvCxnSpPr/>
          <p:nvPr/>
        </p:nvCxnSpPr>
        <p:spPr>
          <a:xfrm>
            <a:off x="3856768" y="1708366"/>
            <a:ext cx="576073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Label_CurveVelA"/>
          <p:cNvSpPr txBox="1"/>
          <p:nvPr/>
        </p:nvSpPr>
        <p:spPr>
          <a:xfrm>
            <a:off x="3839242" y="3082325"/>
            <a:ext cx="611129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CVA</a:t>
            </a:r>
            <a:endParaRPr sz="2400" b="0" i="0" dirty="0">
              <a:latin typeface="Times New Roman"/>
            </a:endParaRPr>
          </a:p>
        </p:txBody>
      </p:sp>
      <p:sp>
        <p:nvSpPr>
          <p:cNvPr id="45" name="Violin_CurveVelB"/>
          <p:cNvSpPr/>
          <p:nvPr/>
        </p:nvSpPr>
        <p:spPr>
          <a:xfrm>
            <a:off x="5022629" y="590542"/>
            <a:ext cx="987552" cy="2425903"/>
          </a:xfrm>
          <a:custGeom>
            <a:avLst/>
            <a:gdLst/>
            <a:ahLst/>
            <a:cxnLst/>
            <a:rect l="l" t="t" r="r" b="b"/>
            <a:pathLst>
              <a:path w="1080" h="2653">
                <a:moveTo>
                  <a:pt x="540" y="2653"/>
                </a:moveTo>
                <a:lnTo>
                  <a:pt x="540" y="2635"/>
                </a:lnTo>
                <a:lnTo>
                  <a:pt x="540" y="2617"/>
                </a:lnTo>
                <a:lnTo>
                  <a:pt x="539" y="2599"/>
                </a:lnTo>
                <a:lnTo>
                  <a:pt x="539" y="2582"/>
                </a:lnTo>
                <a:lnTo>
                  <a:pt x="539" y="2564"/>
                </a:lnTo>
                <a:lnTo>
                  <a:pt x="539" y="2546"/>
                </a:lnTo>
                <a:lnTo>
                  <a:pt x="539" y="2528"/>
                </a:lnTo>
                <a:lnTo>
                  <a:pt x="539" y="2510"/>
                </a:lnTo>
                <a:lnTo>
                  <a:pt x="538" y="2493"/>
                </a:lnTo>
                <a:lnTo>
                  <a:pt x="538" y="2475"/>
                </a:lnTo>
                <a:lnTo>
                  <a:pt x="538" y="2457"/>
                </a:lnTo>
                <a:lnTo>
                  <a:pt x="538" y="2439"/>
                </a:lnTo>
                <a:lnTo>
                  <a:pt x="538" y="2421"/>
                </a:lnTo>
                <a:lnTo>
                  <a:pt x="537" y="2404"/>
                </a:lnTo>
                <a:lnTo>
                  <a:pt x="537" y="2386"/>
                </a:lnTo>
                <a:lnTo>
                  <a:pt x="536" y="2368"/>
                </a:lnTo>
                <a:lnTo>
                  <a:pt x="535" y="2350"/>
                </a:lnTo>
                <a:lnTo>
                  <a:pt x="534" y="2332"/>
                </a:lnTo>
                <a:lnTo>
                  <a:pt x="532" y="2315"/>
                </a:lnTo>
                <a:lnTo>
                  <a:pt x="530" y="2297"/>
                </a:lnTo>
                <a:lnTo>
                  <a:pt x="528" y="2279"/>
                </a:lnTo>
                <a:lnTo>
                  <a:pt x="526" y="2261"/>
                </a:lnTo>
                <a:lnTo>
                  <a:pt x="523" y="2243"/>
                </a:lnTo>
                <a:lnTo>
                  <a:pt x="521" y="2226"/>
                </a:lnTo>
                <a:lnTo>
                  <a:pt x="518" y="2208"/>
                </a:lnTo>
                <a:lnTo>
                  <a:pt x="515" y="2190"/>
                </a:lnTo>
                <a:lnTo>
                  <a:pt x="512" y="2172"/>
                </a:lnTo>
                <a:lnTo>
                  <a:pt x="509" y="2154"/>
                </a:lnTo>
                <a:lnTo>
                  <a:pt x="506" y="2137"/>
                </a:lnTo>
                <a:lnTo>
                  <a:pt x="503" y="2119"/>
                </a:lnTo>
                <a:lnTo>
                  <a:pt x="500" y="2101"/>
                </a:lnTo>
                <a:lnTo>
                  <a:pt x="496" y="2083"/>
                </a:lnTo>
                <a:lnTo>
                  <a:pt x="492" y="2065"/>
                </a:lnTo>
                <a:lnTo>
                  <a:pt x="487" y="2048"/>
                </a:lnTo>
                <a:lnTo>
                  <a:pt x="481" y="2030"/>
                </a:lnTo>
                <a:lnTo>
                  <a:pt x="475" y="2012"/>
                </a:lnTo>
                <a:lnTo>
                  <a:pt x="468" y="1994"/>
                </a:lnTo>
                <a:lnTo>
                  <a:pt x="460" y="1976"/>
                </a:lnTo>
                <a:lnTo>
                  <a:pt x="452" y="1959"/>
                </a:lnTo>
                <a:lnTo>
                  <a:pt x="443" y="1941"/>
                </a:lnTo>
                <a:lnTo>
                  <a:pt x="434" y="1923"/>
                </a:lnTo>
                <a:lnTo>
                  <a:pt x="424" y="1905"/>
                </a:lnTo>
                <a:lnTo>
                  <a:pt x="415" y="1887"/>
                </a:lnTo>
                <a:lnTo>
                  <a:pt x="405" y="1870"/>
                </a:lnTo>
                <a:lnTo>
                  <a:pt x="395" y="1852"/>
                </a:lnTo>
                <a:lnTo>
                  <a:pt x="385" y="1834"/>
                </a:lnTo>
                <a:lnTo>
                  <a:pt x="374" y="1816"/>
                </a:lnTo>
                <a:lnTo>
                  <a:pt x="362" y="1798"/>
                </a:lnTo>
                <a:lnTo>
                  <a:pt x="348" y="1781"/>
                </a:lnTo>
                <a:lnTo>
                  <a:pt x="334" y="1763"/>
                </a:lnTo>
                <a:lnTo>
                  <a:pt x="317" y="1745"/>
                </a:lnTo>
                <a:lnTo>
                  <a:pt x="299" y="1727"/>
                </a:lnTo>
                <a:lnTo>
                  <a:pt x="280" y="1709"/>
                </a:lnTo>
                <a:lnTo>
                  <a:pt x="259" y="1692"/>
                </a:lnTo>
                <a:lnTo>
                  <a:pt x="238" y="1674"/>
                </a:lnTo>
                <a:lnTo>
                  <a:pt x="216" y="1656"/>
                </a:lnTo>
                <a:lnTo>
                  <a:pt x="195" y="1638"/>
                </a:lnTo>
                <a:lnTo>
                  <a:pt x="175" y="1620"/>
                </a:lnTo>
                <a:lnTo>
                  <a:pt x="156" y="1603"/>
                </a:lnTo>
                <a:lnTo>
                  <a:pt x="139" y="1585"/>
                </a:lnTo>
                <a:lnTo>
                  <a:pt x="124" y="1567"/>
                </a:lnTo>
                <a:lnTo>
                  <a:pt x="111" y="1549"/>
                </a:lnTo>
                <a:lnTo>
                  <a:pt x="100" y="1531"/>
                </a:lnTo>
                <a:lnTo>
                  <a:pt x="91" y="1514"/>
                </a:lnTo>
                <a:lnTo>
                  <a:pt x="83" y="1496"/>
                </a:lnTo>
                <a:lnTo>
                  <a:pt x="75" y="1478"/>
                </a:lnTo>
                <a:lnTo>
                  <a:pt x="67" y="1460"/>
                </a:lnTo>
                <a:lnTo>
                  <a:pt x="59" y="1442"/>
                </a:lnTo>
                <a:lnTo>
                  <a:pt x="50" y="1425"/>
                </a:lnTo>
                <a:lnTo>
                  <a:pt x="42" y="1407"/>
                </a:lnTo>
                <a:lnTo>
                  <a:pt x="33" y="1389"/>
                </a:lnTo>
                <a:lnTo>
                  <a:pt x="24" y="1371"/>
                </a:lnTo>
                <a:lnTo>
                  <a:pt x="16" y="1353"/>
                </a:lnTo>
                <a:lnTo>
                  <a:pt x="10" y="1336"/>
                </a:lnTo>
                <a:lnTo>
                  <a:pt x="5" y="1318"/>
                </a:lnTo>
                <a:lnTo>
                  <a:pt x="1" y="1300"/>
                </a:lnTo>
                <a:lnTo>
                  <a:pt x="0" y="1282"/>
                </a:lnTo>
                <a:lnTo>
                  <a:pt x="0" y="1264"/>
                </a:lnTo>
                <a:lnTo>
                  <a:pt x="2" y="1247"/>
                </a:lnTo>
                <a:lnTo>
                  <a:pt x="5" y="1229"/>
                </a:lnTo>
                <a:lnTo>
                  <a:pt x="10" y="1211"/>
                </a:lnTo>
                <a:lnTo>
                  <a:pt x="16" y="1193"/>
                </a:lnTo>
                <a:lnTo>
                  <a:pt x="23" y="1175"/>
                </a:lnTo>
                <a:lnTo>
                  <a:pt x="32" y="1158"/>
                </a:lnTo>
                <a:lnTo>
                  <a:pt x="42" y="1140"/>
                </a:lnTo>
                <a:lnTo>
                  <a:pt x="53" y="1122"/>
                </a:lnTo>
                <a:lnTo>
                  <a:pt x="65" y="1104"/>
                </a:lnTo>
                <a:lnTo>
                  <a:pt x="76" y="1086"/>
                </a:lnTo>
                <a:lnTo>
                  <a:pt x="89" y="1069"/>
                </a:lnTo>
                <a:lnTo>
                  <a:pt x="100" y="1051"/>
                </a:lnTo>
                <a:lnTo>
                  <a:pt x="112" y="1033"/>
                </a:lnTo>
                <a:lnTo>
                  <a:pt x="124" y="1015"/>
                </a:lnTo>
                <a:lnTo>
                  <a:pt x="135" y="997"/>
                </a:lnTo>
                <a:lnTo>
                  <a:pt x="146" y="980"/>
                </a:lnTo>
                <a:lnTo>
                  <a:pt x="157" y="962"/>
                </a:lnTo>
                <a:lnTo>
                  <a:pt x="169" y="944"/>
                </a:lnTo>
                <a:lnTo>
                  <a:pt x="181" y="926"/>
                </a:lnTo>
                <a:lnTo>
                  <a:pt x="193" y="908"/>
                </a:lnTo>
                <a:lnTo>
                  <a:pt x="206" y="891"/>
                </a:lnTo>
                <a:lnTo>
                  <a:pt x="219" y="873"/>
                </a:lnTo>
                <a:lnTo>
                  <a:pt x="232" y="855"/>
                </a:lnTo>
                <a:lnTo>
                  <a:pt x="246" y="837"/>
                </a:lnTo>
                <a:lnTo>
                  <a:pt x="260" y="819"/>
                </a:lnTo>
                <a:lnTo>
                  <a:pt x="274" y="802"/>
                </a:lnTo>
                <a:lnTo>
                  <a:pt x="289" y="784"/>
                </a:lnTo>
                <a:lnTo>
                  <a:pt x="302" y="766"/>
                </a:lnTo>
                <a:lnTo>
                  <a:pt x="316" y="748"/>
                </a:lnTo>
                <a:lnTo>
                  <a:pt x="330" y="730"/>
                </a:lnTo>
                <a:lnTo>
                  <a:pt x="344" y="713"/>
                </a:lnTo>
                <a:lnTo>
                  <a:pt x="357" y="695"/>
                </a:lnTo>
                <a:lnTo>
                  <a:pt x="370" y="677"/>
                </a:lnTo>
                <a:lnTo>
                  <a:pt x="382" y="659"/>
                </a:lnTo>
                <a:lnTo>
                  <a:pt x="394" y="641"/>
                </a:lnTo>
                <a:lnTo>
                  <a:pt x="405" y="624"/>
                </a:lnTo>
                <a:lnTo>
                  <a:pt x="415" y="606"/>
                </a:lnTo>
                <a:lnTo>
                  <a:pt x="424" y="588"/>
                </a:lnTo>
                <a:lnTo>
                  <a:pt x="433" y="570"/>
                </a:lnTo>
                <a:lnTo>
                  <a:pt x="441" y="552"/>
                </a:lnTo>
                <a:lnTo>
                  <a:pt x="448" y="535"/>
                </a:lnTo>
                <a:lnTo>
                  <a:pt x="454" y="517"/>
                </a:lnTo>
                <a:lnTo>
                  <a:pt x="460" y="499"/>
                </a:lnTo>
                <a:lnTo>
                  <a:pt x="465" y="481"/>
                </a:lnTo>
                <a:lnTo>
                  <a:pt x="470" y="463"/>
                </a:lnTo>
                <a:lnTo>
                  <a:pt x="475" y="446"/>
                </a:lnTo>
                <a:lnTo>
                  <a:pt x="480" y="428"/>
                </a:lnTo>
                <a:lnTo>
                  <a:pt x="484" y="410"/>
                </a:lnTo>
                <a:lnTo>
                  <a:pt x="488" y="392"/>
                </a:lnTo>
                <a:lnTo>
                  <a:pt x="492" y="374"/>
                </a:lnTo>
                <a:lnTo>
                  <a:pt x="496" y="357"/>
                </a:lnTo>
                <a:lnTo>
                  <a:pt x="500" y="339"/>
                </a:lnTo>
                <a:lnTo>
                  <a:pt x="503" y="321"/>
                </a:lnTo>
                <a:lnTo>
                  <a:pt x="507" y="303"/>
                </a:lnTo>
                <a:lnTo>
                  <a:pt x="510" y="285"/>
                </a:lnTo>
                <a:lnTo>
                  <a:pt x="513" y="268"/>
                </a:lnTo>
                <a:lnTo>
                  <a:pt x="516" y="250"/>
                </a:lnTo>
                <a:lnTo>
                  <a:pt x="518" y="232"/>
                </a:lnTo>
                <a:lnTo>
                  <a:pt x="521" y="214"/>
                </a:lnTo>
                <a:lnTo>
                  <a:pt x="523" y="196"/>
                </a:lnTo>
                <a:lnTo>
                  <a:pt x="525" y="179"/>
                </a:lnTo>
                <a:lnTo>
                  <a:pt x="527" y="161"/>
                </a:lnTo>
                <a:lnTo>
                  <a:pt x="529" y="143"/>
                </a:lnTo>
                <a:lnTo>
                  <a:pt x="530" y="125"/>
                </a:lnTo>
                <a:lnTo>
                  <a:pt x="532" y="107"/>
                </a:lnTo>
                <a:lnTo>
                  <a:pt x="534" y="90"/>
                </a:lnTo>
                <a:lnTo>
                  <a:pt x="535" y="72"/>
                </a:lnTo>
                <a:lnTo>
                  <a:pt x="537" y="54"/>
                </a:lnTo>
                <a:lnTo>
                  <a:pt x="538" y="36"/>
                </a:lnTo>
                <a:lnTo>
                  <a:pt x="538" y="18"/>
                </a:lnTo>
                <a:lnTo>
                  <a:pt x="539" y="0"/>
                </a:lnTo>
                <a:lnTo>
                  <a:pt x="541" y="0"/>
                </a:lnTo>
                <a:lnTo>
                  <a:pt x="542" y="18"/>
                </a:lnTo>
                <a:lnTo>
                  <a:pt x="542" y="36"/>
                </a:lnTo>
                <a:lnTo>
                  <a:pt x="543" y="54"/>
                </a:lnTo>
                <a:lnTo>
                  <a:pt x="545" y="72"/>
                </a:lnTo>
                <a:lnTo>
                  <a:pt x="546" y="90"/>
                </a:lnTo>
                <a:lnTo>
                  <a:pt x="548" y="107"/>
                </a:lnTo>
                <a:lnTo>
                  <a:pt x="550" y="125"/>
                </a:lnTo>
                <a:lnTo>
                  <a:pt x="551" y="143"/>
                </a:lnTo>
                <a:lnTo>
                  <a:pt x="553" y="161"/>
                </a:lnTo>
                <a:lnTo>
                  <a:pt x="555" y="179"/>
                </a:lnTo>
                <a:lnTo>
                  <a:pt x="557" y="196"/>
                </a:lnTo>
                <a:lnTo>
                  <a:pt x="559" y="214"/>
                </a:lnTo>
                <a:lnTo>
                  <a:pt x="562" y="232"/>
                </a:lnTo>
                <a:lnTo>
                  <a:pt x="564" y="250"/>
                </a:lnTo>
                <a:lnTo>
                  <a:pt x="567" y="268"/>
                </a:lnTo>
                <a:lnTo>
                  <a:pt x="570" y="285"/>
                </a:lnTo>
                <a:lnTo>
                  <a:pt x="573" y="303"/>
                </a:lnTo>
                <a:lnTo>
                  <a:pt x="577" y="321"/>
                </a:lnTo>
                <a:lnTo>
                  <a:pt x="580" y="339"/>
                </a:lnTo>
                <a:lnTo>
                  <a:pt x="584" y="357"/>
                </a:lnTo>
                <a:lnTo>
                  <a:pt x="588" y="374"/>
                </a:lnTo>
                <a:lnTo>
                  <a:pt x="592" y="392"/>
                </a:lnTo>
                <a:lnTo>
                  <a:pt x="596" y="410"/>
                </a:lnTo>
                <a:lnTo>
                  <a:pt x="600" y="428"/>
                </a:lnTo>
                <a:lnTo>
                  <a:pt x="605" y="446"/>
                </a:lnTo>
                <a:lnTo>
                  <a:pt x="610" y="463"/>
                </a:lnTo>
                <a:lnTo>
                  <a:pt x="615" y="481"/>
                </a:lnTo>
                <a:lnTo>
                  <a:pt x="620" y="499"/>
                </a:lnTo>
                <a:lnTo>
                  <a:pt x="626" y="517"/>
                </a:lnTo>
                <a:lnTo>
                  <a:pt x="632" y="535"/>
                </a:lnTo>
                <a:lnTo>
                  <a:pt x="639" y="552"/>
                </a:lnTo>
                <a:lnTo>
                  <a:pt x="647" y="570"/>
                </a:lnTo>
                <a:lnTo>
                  <a:pt x="656" y="588"/>
                </a:lnTo>
                <a:lnTo>
                  <a:pt x="665" y="606"/>
                </a:lnTo>
                <a:lnTo>
                  <a:pt x="675" y="624"/>
                </a:lnTo>
                <a:lnTo>
                  <a:pt x="686" y="641"/>
                </a:lnTo>
                <a:lnTo>
                  <a:pt x="698" y="659"/>
                </a:lnTo>
                <a:lnTo>
                  <a:pt x="710" y="677"/>
                </a:lnTo>
                <a:lnTo>
                  <a:pt x="723" y="695"/>
                </a:lnTo>
                <a:lnTo>
                  <a:pt x="736" y="713"/>
                </a:lnTo>
                <a:lnTo>
                  <a:pt x="750" y="730"/>
                </a:lnTo>
                <a:lnTo>
                  <a:pt x="764" y="748"/>
                </a:lnTo>
                <a:lnTo>
                  <a:pt x="778" y="766"/>
                </a:lnTo>
                <a:lnTo>
                  <a:pt x="791" y="784"/>
                </a:lnTo>
                <a:lnTo>
                  <a:pt x="806" y="802"/>
                </a:lnTo>
                <a:lnTo>
                  <a:pt x="820" y="819"/>
                </a:lnTo>
                <a:lnTo>
                  <a:pt x="834" y="837"/>
                </a:lnTo>
                <a:lnTo>
                  <a:pt x="848" y="855"/>
                </a:lnTo>
                <a:lnTo>
                  <a:pt x="861" y="873"/>
                </a:lnTo>
                <a:lnTo>
                  <a:pt x="874" y="891"/>
                </a:lnTo>
                <a:lnTo>
                  <a:pt x="887" y="908"/>
                </a:lnTo>
                <a:lnTo>
                  <a:pt x="899" y="926"/>
                </a:lnTo>
                <a:lnTo>
                  <a:pt x="911" y="944"/>
                </a:lnTo>
                <a:lnTo>
                  <a:pt x="923" y="962"/>
                </a:lnTo>
                <a:lnTo>
                  <a:pt x="934" y="980"/>
                </a:lnTo>
                <a:lnTo>
                  <a:pt x="945" y="997"/>
                </a:lnTo>
                <a:lnTo>
                  <a:pt x="956" y="1015"/>
                </a:lnTo>
                <a:lnTo>
                  <a:pt x="968" y="1033"/>
                </a:lnTo>
                <a:lnTo>
                  <a:pt x="980" y="1051"/>
                </a:lnTo>
                <a:lnTo>
                  <a:pt x="991" y="1069"/>
                </a:lnTo>
                <a:lnTo>
                  <a:pt x="1004" y="1086"/>
                </a:lnTo>
                <a:lnTo>
                  <a:pt x="1015" y="1104"/>
                </a:lnTo>
                <a:lnTo>
                  <a:pt x="1027" y="1122"/>
                </a:lnTo>
                <a:lnTo>
                  <a:pt x="1038" y="1140"/>
                </a:lnTo>
                <a:lnTo>
                  <a:pt x="1048" y="1158"/>
                </a:lnTo>
                <a:lnTo>
                  <a:pt x="1057" y="1175"/>
                </a:lnTo>
                <a:lnTo>
                  <a:pt x="1064" y="1193"/>
                </a:lnTo>
                <a:lnTo>
                  <a:pt x="1070" y="1211"/>
                </a:lnTo>
                <a:lnTo>
                  <a:pt x="1075" y="1229"/>
                </a:lnTo>
                <a:lnTo>
                  <a:pt x="1078" y="1247"/>
                </a:lnTo>
                <a:lnTo>
                  <a:pt x="1080" y="1264"/>
                </a:lnTo>
                <a:lnTo>
                  <a:pt x="1080" y="1282"/>
                </a:lnTo>
                <a:lnTo>
                  <a:pt x="1079" y="1300"/>
                </a:lnTo>
                <a:lnTo>
                  <a:pt x="1075" y="1318"/>
                </a:lnTo>
                <a:lnTo>
                  <a:pt x="1070" y="1336"/>
                </a:lnTo>
                <a:lnTo>
                  <a:pt x="1064" y="1353"/>
                </a:lnTo>
                <a:lnTo>
                  <a:pt x="1056" y="1371"/>
                </a:lnTo>
                <a:lnTo>
                  <a:pt x="1047" y="1389"/>
                </a:lnTo>
                <a:lnTo>
                  <a:pt x="1038" y="1407"/>
                </a:lnTo>
                <a:lnTo>
                  <a:pt x="1030" y="1425"/>
                </a:lnTo>
                <a:lnTo>
                  <a:pt x="1021" y="1442"/>
                </a:lnTo>
                <a:lnTo>
                  <a:pt x="1013" y="1460"/>
                </a:lnTo>
                <a:lnTo>
                  <a:pt x="1005" y="1478"/>
                </a:lnTo>
                <a:lnTo>
                  <a:pt x="997" y="1496"/>
                </a:lnTo>
                <a:lnTo>
                  <a:pt x="989" y="1514"/>
                </a:lnTo>
                <a:lnTo>
                  <a:pt x="980" y="1531"/>
                </a:lnTo>
                <a:lnTo>
                  <a:pt x="969" y="1549"/>
                </a:lnTo>
                <a:lnTo>
                  <a:pt x="956" y="1567"/>
                </a:lnTo>
                <a:lnTo>
                  <a:pt x="941" y="1585"/>
                </a:lnTo>
                <a:lnTo>
                  <a:pt x="924" y="1603"/>
                </a:lnTo>
                <a:lnTo>
                  <a:pt x="905" y="1620"/>
                </a:lnTo>
                <a:lnTo>
                  <a:pt x="885" y="1638"/>
                </a:lnTo>
                <a:lnTo>
                  <a:pt x="864" y="1656"/>
                </a:lnTo>
                <a:lnTo>
                  <a:pt x="842" y="1674"/>
                </a:lnTo>
                <a:lnTo>
                  <a:pt x="821" y="1692"/>
                </a:lnTo>
                <a:lnTo>
                  <a:pt x="800" y="1709"/>
                </a:lnTo>
                <a:lnTo>
                  <a:pt x="781" y="1727"/>
                </a:lnTo>
                <a:lnTo>
                  <a:pt x="763" y="1745"/>
                </a:lnTo>
                <a:lnTo>
                  <a:pt x="746" y="1763"/>
                </a:lnTo>
                <a:lnTo>
                  <a:pt x="732" y="1781"/>
                </a:lnTo>
                <a:lnTo>
                  <a:pt x="718" y="1798"/>
                </a:lnTo>
                <a:lnTo>
                  <a:pt x="706" y="1816"/>
                </a:lnTo>
                <a:lnTo>
                  <a:pt x="695" y="1834"/>
                </a:lnTo>
                <a:lnTo>
                  <a:pt x="685" y="1852"/>
                </a:lnTo>
                <a:lnTo>
                  <a:pt x="675" y="1870"/>
                </a:lnTo>
                <a:lnTo>
                  <a:pt x="665" y="1887"/>
                </a:lnTo>
                <a:lnTo>
                  <a:pt x="656" y="1905"/>
                </a:lnTo>
                <a:lnTo>
                  <a:pt x="646" y="1923"/>
                </a:lnTo>
                <a:lnTo>
                  <a:pt x="637" y="1941"/>
                </a:lnTo>
                <a:lnTo>
                  <a:pt x="628" y="1959"/>
                </a:lnTo>
                <a:lnTo>
                  <a:pt x="620" y="1976"/>
                </a:lnTo>
                <a:lnTo>
                  <a:pt x="612" y="1994"/>
                </a:lnTo>
                <a:lnTo>
                  <a:pt x="605" y="2012"/>
                </a:lnTo>
                <a:lnTo>
                  <a:pt x="599" y="2030"/>
                </a:lnTo>
                <a:lnTo>
                  <a:pt x="593" y="2048"/>
                </a:lnTo>
                <a:lnTo>
                  <a:pt x="588" y="2065"/>
                </a:lnTo>
                <a:lnTo>
                  <a:pt x="584" y="2083"/>
                </a:lnTo>
                <a:lnTo>
                  <a:pt x="580" y="2101"/>
                </a:lnTo>
                <a:lnTo>
                  <a:pt x="577" y="2119"/>
                </a:lnTo>
                <a:lnTo>
                  <a:pt x="574" y="2137"/>
                </a:lnTo>
                <a:lnTo>
                  <a:pt x="571" y="2154"/>
                </a:lnTo>
                <a:lnTo>
                  <a:pt x="568" y="2172"/>
                </a:lnTo>
                <a:lnTo>
                  <a:pt x="565" y="2190"/>
                </a:lnTo>
                <a:lnTo>
                  <a:pt x="562" y="2208"/>
                </a:lnTo>
                <a:lnTo>
                  <a:pt x="559" y="2226"/>
                </a:lnTo>
                <a:lnTo>
                  <a:pt x="557" y="2243"/>
                </a:lnTo>
                <a:lnTo>
                  <a:pt x="554" y="2261"/>
                </a:lnTo>
                <a:lnTo>
                  <a:pt x="552" y="2279"/>
                </a:lnTo>
                <a:lnTo>
                  <a:pt x="550" y="2297"/>
                </a:lnTo>
                <a:lnTo>
                  <a:pt x="548" y="2315"/>
                </a:lnTo>
                <a:lnTo>
                  <a:pt x="546" y="2332"/>
                </a:lnTo>
                <a:lnTo>
                  <a:pt x="545" y="2350"/>
                </a:lnTo>
                <a:lnTo>
                  <a:pt x="544" y="2368"/>
                </a:lnTo>
                <a:lnTo>
                  <a:pt x="543" y="2386"/>
                </a:lnTo>
                <a:lnTo>
                  <a:pt x="543" y="2404"/>
                </a:lnTo>
                <a:lnTo>
                  <a:pt x="542" y="2421"/>
                </a:lnTo>
                <a:lnTo>
                  <a:pt x="542" y="2439"/>
                </a:lnTo>
                <a:lnTo>
                  <a:pt x="542" y="2457"/>
                </a:lnTo>
                <a:lnTo>
                  <a:pt x="542" y="2475"/>
                </a:lnTo>
                <a:lnTo>
                  <a:pt x="542" y="2493"/>
                </a:lnTo>
                <a:lnTo>
                  <a:pt x="541" y="2510"/>
                </a:lnTo>
                <a:lnTo>
                  <a:pt x="541" y="2528"/>
                </a:lnTo>
                <a:lnTo>
                  <a:pt x="541" y="2546"/>
                </a:lnTo>
                <a:lnTo>
                  <a:pt x="541" y="2564"/>
                </a:lnTo>
                <a:lnTo>
                  <a:pt x="541" y="2582"/>
                </a:lnTo>
                <a:lnTo>
                  <a:pt x="541" y="2599"/>
                </a:lnTo>
                <a:lnTo>
                  <a:pt x="540" y="2617"/>
                </a:lnTo>
                <a:lnTo>
                  <a:pt x="540" y="2635"/>
                </a:lnTo>
                <a:lnTo>
                  <a:pt x="540" y="2653"/>
                </a:lnTo>
                <a:close/>
              </a:path>
            </a:pathLst>
          </a:custGeom>
          <a:solidFill>
            <a:srgbClr val="DCEFE4"/>
          </a:solidFill>
          <a:ln w="9525">
            <a:solidFill>
              <a:srgbClr val="83B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Box_CurveVelB_Whisker"/>
          <p:cNvCxnSpPr/>
          <p:nvPr/>
        </p:nvCxnSpPr>
        <p:spPr>
          <a:xfrm flipV="1">
            <a:off x="5516405" y="821588"/>
            <a:ext cx="0" cy="1824498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Box_CurveVelB_LowerCap"/>
          <p:cNvCxnSpPr/>
          <p:nvPr/>
        </p:nvCxnSpPr>
        <p:spPr>
          <a:xfrm>
            <a:off x="5379244" y="2646086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Box_CurveVelB_UpperCap"/>
          <p:cNvCxnSpPr/>
          <p:nvPr/>
        </p:nvCxnSpPr>
        <p:spPr>
          <a:xfrm>
            <a:off x="5379244" y="821588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ox_CurveVelB_IQR"/>
          <p:cNvSpPr/>
          <p:nvPr/>
        </p:nvSpPr>
        <p:spPr>
          <a:xfrm>
            <a:off x="5372387" y="1503675"/>
            <a:ext cx="288036" cy="464495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Box_CurveVelB_Median"/>
          <p:cNvCxnSpPr/>
          <p:nvPr/>
        </p:nvCxnSpPr>
        <p:spPr>
          <a:xfrm>
            <a:off x="5228368" y="1742902"/>
            <a:ext cx="576073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Label_CurveVelB"/>
          <p:cNvSpPr txBox="1"/>
          <p:nvPr/>
        </p:nvSpPr>
        <p:spPr>
          <a:xfrm>
            <a:off x="5199813" y="3082325"/>
            <a:ext cx="63318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CVB</a:t>
            </a:r>
            <a:endParaRPr sz="2400" b="0" i="0" dirty="0">
              <a:latin typeface="Times New Roman"/>
            </a:endParaRPr>
          </a:p>
        </p:txBody>
      </p:sp>
      <p:sp>
        <p:nvSpPr>
          <p:cNvPr id="53" name="Violin_FlatFaultA"/>
          <p:cNvSpPr/>
          <p:nvPr/>
        </p:nvSpPr>
        <p:spPr>
          <a:xfrm>
            <a:off x="6394229" y="544822"/>
            <a:ext cx="987552" cy="2510942"/>
          </a:xfrm>
          <a:custGeom>
            <a:avLst/>
            <a:gdLst/>
            <a:ahLst/>
            <a:cxnLst/>
            <a:rect l="l" t="t" r="r" b="b"/>
            <a:pathLst>
              <a:path w="1080" h="2746">
                <a:moveTo>
                  <a:pt x="537" y="2746"/>
                </a:moveTo>
                <a:lnTo>
                  <a:pt x="535" y="2728"/>
                </a:lnTo>
                <a:lnTo>
                  <a:pt x="534" y="2709"/>
                </a:lnTo>
                <a:lnTo>
                  <a:pt x="531" y="2691"/>
                </a:lnTo>
                <a:lnTo>
                  <a:pt x="529" y="2672"/>
                </a:lnTo>
                <a:lnTo>
                  <a:pt x="525" y="2654"/>
                </a:lnTo>
                <a:lnTo>
                  <a:pt x="522" y="2636"/>
                </a:lnTo>
                <a:lnTo>
                  <a:pt x="517" y="2617"/>
                </a:lnTo>
                <a:lnTo>
                  <a:pt x="512" y="2599"/>
                </a:lnTo>
                <a:lnTo>
                  <a:pt x="507" y="2580"/>
                </a:lnTo>
                <a:lnTo>
                  <a:pt x="501" y="2562"/>
                </a:lnTo>
                <a:lnTo>
                  <a:pt x="495" y="2543"/>
                </a:lnTo>
                <a:lnTo>
                  <a:pt x="488" y="2525"/>
                </a:lnTo>
                <a:lnTo>
                  <a:pt x="481" y="2507"/>
                </a:lnTo>
                <a:lnTo>
                  <a:pt x="474" y="2488"/>
                </a:lnTo>
                <a:lnTo>
                  <a:pt x="466" y="2470"/>
                </a:lnTo>
                <a:lnTo>
                  <a:pt x="458" y="2451"/>
                </a:lnTo>
                <a:lnTo>
                  <a:pt x="450" y="2433"/>
                </a:lnTo>
                <a:lnTo>
                  <a:pt x="441" y="2414"/>
                </a:lnTo>
                <a:lnTo>
                  <a:pt x="432" y="2396"/>
                </a:lnTo>
                <a:lnTo>
                  <a:pt x="422" y="2378"/>
                </a:lnTo>
                <a:lnTo>
                  <a:pt x="412" y="2359"/>
                </a:lnTo>
                <a:lnTo>
                  <a:pt x="402" y="2341"/>
                </a:lnTo>
                <a:lnTo>
                  <a:pt x="391" y="2322"/>
                </a:lnTo>
                <a:lnTo>
                  <a:pt x="380" y="2304"/>
                </a:lnTo>
                <a:lnTo>
                  <a:pt x="368" y="2285"/>
                </a:lnTo>
                <a:lnTo>
                  <a:pt x="356" y="2267"/>
                </a:lnTo>
                <a:lnTo>
                  <a:pt x="343" y="2249"/>
                </a:lnTo>
                <a:lnTo>
                  <a:pt x="331" y="2230"/>
                </a:lnTo>
                <a:lnTo>
                  <a:pt x="318" y="2212"/>
                </a:lnTo>
                <a:lnTo>
                  <a:pt x="305" y="2193"/>
                </a:lnTo>
                <a:lnTo>
                  <a:pt x="291" y="2175"/>
                </a:lnTo>
                <a:lnTo>
                  <a:pt x="278" y="2156"/>
                </a:lnTo>
                <a:lnTo>
                  <a:pt x="265" y="2138"/>
                </a:lnTo>
                <a:lnTo>
                  <a:pt x="252" y="2120"/>
                </a:lnTo>
                <a:lnTo>
                  <a:pt x="239" y="2101"/>
                </a:lnTo>
                <a:lnTo>
                  <a:pt x="226" y="2083"/>
                </a:lnTo>
                <a:lnTo>
                  <a:pt x="214" y="2064"/>
                </a:lnTo>
                <a:lnTo>
                  <a:pt x="202" y="2046"/>
                </a:lnTo>
                <a:lnTo>
                  <a:pt x="190" y="2027"/>
                </a:lnTo>
                <a:lnTo>
                  <a:pt x="180" y="2009"/>
                </a:lnTo>
                <a:lnTo>
                  <a:pt x="170" y="1990"/>
                </a:lnTo>
                <a:lnTo>
                  <a:pt x="162" y="1972"/>
                </a:lnTo>
                <a:lnTo>
                  <a:pt x="155" y="1954"/>
                </a:lnTo>
                <a:lnTo>
                  <a:pt x="148" y="1935"/>
                </a:lnTo>
                <a:lnTo>
                  <a:pt x="143" y="1917"/>
                </a:lnTo>
                <a:lnTo>
                  <a:pt x="138" y="1898"/>
                </a:lnTo>
                <a:lnTo>
                  <a:pt x="134" y="1880"/>
                </a:lnTo>
                <a:lnTo>
                  <a:pt x="130" y="1861"/>
                </a:lnTo>
                <a:lnTo>
                  <a:pt x="127" y="1843"/>
                </a:lnTo>
                <a:lnTo>
                  <a:pt x="123" y="1825"/>
                </a:lnTo>
                <a:lnTo>
                  <a:pt x="119" y="1806"/>
                </a:lnTo>
                <a:lnTo>
                  <a:pt x="115" y="1788"/>
                </a:lnTo>
                <a:lnTo>
                  <a:pt x="110" y="1769"/>
                </a:lnTo>
                <a:lnTo>
                  <a:pt x="106" y="1751"/>
                </a:lnTo>
                <a:lnTo>
                  <a:pt x="101" y="1732"/>
                </a:lnTo>
                <a:lnTo>
                  <a:pt x="95" y="1714"/>
                </a:lnTo>
                <a:lnTo>
                  <a:pt x="90" y="1696"/>
                </a:lnTo>
                <a:lnTo>
                  <a:pt x="84" y="1677"/>
                </a:lnTo>
                <a:lnTo>
                  <a:pt x="78" y="1659"/>
                </a:lnTo>
                <a:lnTo>
                  <a:pt x="71" y="1640"/>
                </a:lnTo>
                <a:lnTo>
                  <a:pt x="65" y="1622"/>
                </a:lnTo>
                <a:lnTo>
                  <a:pt x="58" y="1603"/>
                </a:lnTo>
                <a:lnTo>
                  <a:pt x="52" y="1585"/>
                </a:lnTo>
                <a:lnTo>
                  <a:pt x="45" y="1567"/>
                </a:lnTo>
                <a:lnTo>
                  <a:pt x="39" y="1548"/>
                </a:lnTo>
                <a:lnTo>
                  <a:pt x="33" y="1530"/>
                </a:lnTo>
                <a:lnTo>
                  <a:pt x="27" y="1511"/>
                </a:lnTo>
                <a:lnTo>
                  <a:pt x="21" y="1493"/>
                </a:lnTo>
                <a:lnTo>
                  <a:pt x="16" y="1474"/>
                </a:lnTo>
                <a:lnTo>
                  <a:pt x="12" y="1456"/>
                </a:lnTo>
                <a:lnTo>
                  <a:pt x="8" y="1438"/>
                </a:lnTo>
                <a:lnTo>
                  <a:pt x="5" y="1419"/>
                </a:lnTo>
                <a:lnTo>
                  <a:pt x="2" y="1401"/>
                </a:lnTo>
                <a:lnTo>
                  <a:pt x="1" y="1382"/>
                </a:lnTo>
                <a:lnTo>
                  <a:pt x="0" y="1364"/>
                </a:lnTo>
                <a:lnTo>
                  <a:pt x="0" y="1345"/>
                </a:lnTo>
                <a:lnTo>
                  <a:pt x="1" y="1327"/>
                </a:lnTo>
                <a:lnTo>
                  <a:pt x="2" y="1308"/>
                </a:lnTo>
                <a:lnTo>
                  <a:pt x="5" y="1290"/>
                </a:lnTo>
                <a:lnTo>
                  <a:pt x="7" y="1272"/>
                </a:lnTo>
                <a:lnTo>
                  <a:pt x="10" y="1253"/>
                </a:lnTo>
                <a:lnTo>
                  <a:pt x="13" y="1235"/>
                </a:lnTo>
                <a:lnTo>
                  <a:pt x="17" y="1216"/>
                </a:lnTo>
                <a:lnTo>
                  <a:pt x="21" y="1198"/>
                </a:lnTo>
                <a:lnTo>
                  <a:pt x="25" y="1179"/>
                </a:lnTo>
                <a:lnTo>
                  <a:pt x="30" y="1161"/>
                </a:lnTo>
                <a:lnTo>
                  <a:pt x="35" y="1143"/>
                </a:lnTo>
                <a:lnTo>
                  <a:pt x="41" y="1124"/>
                </a:lnTo>
                <a:lnTo>
                  <a:pt x="47" y="1106"/>
                </a:lnTo>
                <a:lnTo>
                  <a:pt x="54" y="1087"/>
                </a:lnTo>
                <a:lnTo>
                  <a:pt x="62" y="1069"/>
                </a:lnTo>
                <a:lnTo>
                  <a:pt x="71" y="1050"/>
                </a:lnTo>
                <a:lnTo>
                  <a:pt x="79" y="1032"/>
                </a:lnTo>
                <a:lnTo>
                  <a:pt x="88" y="1014"/>
                </a:lnTo>
                <a:lnTo>
                  <a:pt x="98" y="995"/>
                </a:lnTo>
                <a:lnTo>
                  <a:pt x="107" y="977"/>
                </a:lnTo>
                <a:lnTo>
                  <a:pt x="115" y="958"/>
                </a:lnTo>
                <a:lnTo>
                  <a:pt x="124" y="940"/>
                </a:lnTo>
                <a:lnTo>
                  <a:pt x="131" y="921"/>
                </a:lnTo>
                <a:lnTo>
                  <a:pt x="139" y="903"/>
                </a:lnTo>
                <a:lnTo>
                  <a:pt x="145" y="885"/>
                </a:lnTo>
                <a:lnTo>
                  <a:pt x="152" y="866"/>
                </a:lnTo>
                <a:lnTo>
                  <a:pt x="158" y="848"/>
                </a:lnTo>
                <a:lnTo>
                  <a:pt x="165" y="829"/>
                </a:lnTo>
                <a:lnTo>
                  <a:pt x="171" y="811"/>
                </a:lnTo>
                <a:lnTo>
                  <a:pt x="178" y="792"/>
                </a:lnTo>
                <a:lnTo>
                  <a:pt x="185" y="774"/>
                </a:lnTo>
                <a:lnTo>
                  <a:pt x="193" y="756"/>
                </a:lnTo>
                <a:lnTo>
                  <a:pt x="200" y="737"/>
                </a:lnTo>
                <a:lnTo>
                  <a:pt x="208" y="719"/>
                </a:lnTo>
                <a:lnTo>
                  <a:pt x="216" y="700"/>
                </a:lnTo>
                <a:lnTo>
                  <a:pt x="224" y="682"/>
                </a:lnTo>
                <a:lnTo>
                  <a:pt x="231" y="663"/>
                </a:lnTo>
                <a:lnTo>
                  <a:pt x="239" y="645"/>
                </a:lnTo>
                <a:lnTo>
                  <a:pt x="246" y="627"/>
                </a:lnTo>
                <a:lnTo>
                  <a:pt x="253" y="608"/>
                </a:lnTo>
                <a:lnTo>
                  <a:pt x="260" y="590"/>
                </a:lnTo>
                <a:lnTo>
                  <a:pt x="266" y="571"/>
                </a:lnTo>
                <a:lnTo>
                  <a:pt x="272" y="553"/>
                </a:lnTo>
                <a:lnTo>
                  <a:pt x="278" y="534"/>
                </a:lnTo>
                <a:lnTo>
                  <a:pt x="283" y="516"/>
                </a:lnTo>
                <a:lnTo>
                  <a:pt x="289" y="497"/>
                </a:lnTo>
                <a:lnTo>
                  <a:pt x="294" y="479"/>
                </a:lnTo>
                <a:lnTo>
                  <a:pt x="299" y="461"/>
                </a:lnTo>
                <a:lnTo>
                  <a:pt x="304" y="442"/>
                </a:lnTo>
                <a:lnTo>
                  <a:pt x="309" y="424"/>
                </a:lnTo>
                <a:lnTo>
                  <a:pt x="315" y="405"/>
                </a:lnTo>
                <a:lnTo>
                  <a:pt x="321" y="387"/>
                </a:lnTo>
                <a:lnTo>
                  <a:pt x="328" y="368"/>
                </a:lnTo>
                <a:lnTo>
                  <a:pt x="335" y="350"/>
                </a:lnTo>
                <a:lnTo>
                  <a:pt x="342" y="332"/>
                </a:lnTo>
                <a:lnTo>
                  <a:pt x="350" y="313"/>
                </a:lnTo>
                <a:lnTo>
                  <a:pt x="359" y="295"/>
                </a:lnTo>
                <a:lnTo>
                  <a:pt x="369" y="276"/>
                </a:lnTo>
                <a:lnTo>
                  <a:pt x="379" y="258"/>
                </a:lnTo>
                <a:lnTo>
                  <a:pt x="389" y="239"/>
                </a:lnTo>
                <a:lnTo>
                  <a:pt x="401" y="221"/>
                </a:lnTo>
                <a:lnTo>
                  <a:pt x="413" y="203"/>
                </a:lnTo>
                <a:lnTo>
                  <a:pt x="426" y="184"/>
                </a:lnTo>
                <a:lnTo>
                  <a:pt x="438" y="166"/>
                </a:lnTo>
                <a:lnTo>
                  <a:pt x="451" y="147"/>
                </a:lnTo>
                <a:lnTo>
                  <a:pt x="464" y="129"/>
                </a:lnTo>
                <a:lnTo>
                  <a:pt x="477" y="110"/>
                </a:lnTo>
                <a:lnTo>
                  <a:pt x="488" y="92"/>
                </a:lnTo>
                <a:lnTo>
                  <a:pt x="498" y="74"/>
                </a:lnTo>
                <a:lnTo>
                  <a:pt x="508" y="55"/>
                </a:lnTo>
                <a:lnTo>
                  <a:pt x="515" y="37"/>
                </a:lnTo>
                <a:lnTo>
                  <a:pt x="522" y="18"/>
                </a:lnTo>
                <a:lnTo>
                  <a:pt x="527" y="0"/>
                </a:lnTo>
                <a:lnTo>
                  <a:pt x="553" y="0"/>
                </a:lnTo>
                <a:lnTo>
                  <a:pt x="558" y="18"/>
                </a:lnTo>
                <a:lnTo>
                  <a:pt x="565" y="37"/>
                </a:lnTo>
                <a:lnTo>
                  <a:pt x="572" y="55"/>
                </a:lnTo>
                <a:lnTo>
                  <a:pt x="582" y="74"/>
                </a:lnTo>
                <a:lnTo>
                  <a:pt x="592" y="92"/>
                </a:lnTo>
                <a:lnTo>
                  <a:pt x="603" y="110"/>
                </a:lnTo>
                <a:lnTo>
                  <a:pt x="616" y="129"/>
                </a:lnTo>
                <a:lnTo>
                  <a:pt x="629" y="147"/>
                </a:lnTo>
                <a:lnTo>
                  <a:pt x="642" y="166"/>
                </a:lnTo>
                <a:lnTo>
                  <a:pt x="654" y="184"/>
                </a:lnTo>
                <a:lnTo>
                  <a:pt x="667" y="203"/>
                </a:lnTo>
                <a:lnTo>
                  <a:pt x="679" y="221"/>
                </a:lnTo>
                <a:lnTo>
                  <a:pt x="691" y="239"/>
                </a:lnTo>
                <a:lnTo>
                  <a:pt x="701" y="258"/>
                </a:lnTo>
                <a:lnTo>
                  <a:pt x="711" y="276"/>
                </a:lnTo>
                <a:lnTo>
                  <a:pt x="721" y="295"/>
                </a:lnTo>
                <a:lnTo>
                  <a:pt x="730" y="313"/>
                </a:lnTo>
                <a:lnTo>
                  <a:pt x="738" y="332"/>
                </a:lnTo>
                <a:lnTo>
                  <a:pt x="745" y="350"/>
                </a:lnTo>
                <a:lnTo>
                  <a:pt x="752" y="368"/>
                </a:lnTo>
                <a:lnTo>
                  <a:pt x="759" y="387"/>
                </a:lnTo>
                <a:lnTo>
                  <a:pt x="765" y="405"/>
                </a:lnTo>
                <a:lnTo>
                  <a:pt x="771" y="424"/>
                </a:lnTo>
                <a:lnTo>
                  <a:pt x="776" y="442"/>
                </a:lnTo>
                <a:lnTo>
                  <a:pt x="781" y="461"/>
                </a:lnTo>
                <a:lnTo>
                  <a:pt x="786" y="479"/>
                </a:lnTo>
                <a:lnTo>
                  <a:pt x="791" y="497"/>
                </a:lnTo>
                <a:lnTo>
                  <a:pt x="797" y="516"/>
                </a:lnTo>
                <a:lnTo>
                  <a:pt x="802" y="534"/>
                </a:lnTo>
                <a:lnTo>
                  <a:pt x="808" y="553"/>
                </a:lnTo>
                <a:lnTo>
                  <a:pt x="814" y="571"/>
                </a:lnTo>
                <a:lnTo>
                  <a:pt x="820" y="590"/>
                </a:lnTo>
                <a:lnTo>
                  <a:pt x="827" y="608"/>
                </a:lnTo>
                <a:lnTo>
                  <a:pt x="834" y="627"/>
                </a:lnTo>
                <a:lnTo>
                  <a:pt x="841" y="645"/>
                </a:lnTo>
                <a:lnTo>
                  <a:pt x="849" y="663"/>
                </a:lnTo>
                <a:lnTo>
                  <a:pt x="856" y="682"/>
                </a:lnTo>
                <a:lnTo>
                  <a:pt x="864" y="700"/>
                </a:lnTo>
                <a:lnTo>
                  <a:pt x="872" y="719"/>
                </a:lnTo>
                <a:lnTo>
                  <a:pt x="880" y="737"/>
                </a:lnTo>
                <a:lnTo>
                  <a:pt x="887" y="756"/>
                </a:lnTo>
                <a:lnTo>
                  <a:pt x="895" y="774"/>
                </a:lnTo>
                <a:lnTo>
                  <a:pt x="902" y="792"/>
                </a:lnTo>
                <a:lnTo>
                  <a:pt x="909" y="811"/>
                </a:lnTo>
                <a:lnTo>
                  <a:pt x="915" y="829"/>
                </a:lnTo>
                <a:lnTo>
                  <a:pt x="922" y="848"/>
                </a:lnTo>
                <a:lnTo>
                  <a:pt x="928" y="866"/>
                </a:lnTo>
                <a:lnTo>
                  <a:pt x="935" y="885"/>
                </a:lnTo>
                <a:lnTo>
                  <a:pt x="941" y="903"/>
                </a:lnTo>
                <a:lnTo>
                  <a:pt x="949" y="921"/>
                </a:lnTo>
                <a:lnTo>
                  <a:pt x="956" y="940"/>
                </a:lnTo>
                <a:lnTo>
                  <a:pt x="965" y="958"/>
                </a:lnTo>
                <a:lnTo>
                  <a:pt x="973" y="977"/>
                </a:lnTo>
                <a:lnTo>
                  <a:pt x="982" y="995"/>
                </a:lnTo>
                <a:lnTo>
                  <a:pt x="992" y="1014"/>
                </a:lnTo>
                <a:lnTo>
                  <a:pt x="1001" y="1032"/>
                </a:lnTo>
                <a:lnTo>
                  <a:pt x="1009" y="1050"/>
                </a:lnTo>
                <a:lnTo>
                  <a:pt x="1018" y="1069"/>
                </a:lnTo>
                <a:lnTo>
                  <a:pt x="1026" y="1087"/>
                </a:lnTo>
                <a:lnTo>
                  <a:pt x="1033" y="1106"/>
                </a:lnTo>
                <a:lnTo>
                  <a:pt x="1039" y="1124"/>
                </a:lnTo>
                <a:lnTo>
                  <a:pt x="1045" y="1143"/>
                </a:lnTo>
                <a:lnTo>
                  <a:pt x="1050" y="1161"/>
                </a:lnTo>
                <a:lnTo>
                  <a:pt x="1055" y="1179"/>
                </a:lnTo>
                <a:lnTo>
                  <a:pt x="1059" y="1198"/>
                </a:lnTo>
                <a:lnTo>
                  <a:pt x="1063" y="1216"/>
                </a:lnTo>
                <a:lnTo>
                  <a:pt x="1067" y="1235"/>
                </a:lnTo>
                <a:lnTo>
                  <a:pt x="1070" y="1253"/>
                </a:lnTo>
                <a:lnTo>
                  <a:pt x="1073" y="1272"/>
                </a:lnTo>
                <a:lnTo>
                  <a:pt x="1075" y="1290"/>
                </a:lnTo>
                <a:lnTo>
                  <a:pt x="1078" y="1308"/>
                </a:lnTo>
                <a:lnTo>
                  <a:pt x="1079" y="1327"/>
                </a:lnTo>
                <a:lnTo>
                  <a:pt x="1080" y="1345"/>
                </a:lnTo>
                <a:lnTo>
                  <a:pt x="1080" y="1364"/>
                </a:lnTo>
                <a:lnTo>
                  <a:pt x="1079" y="1382"/>
                </a:lnTo>
                <a:lnTo>
                  <a:pt x="1078" y="1401"/>
                </a:lnTo>
                <a:lnTo>
                  <a:pt x="1075" y="1419"/>
                </a:lnTo>
                <a:lnTo>
                  <a:pt x="1072" y="1438"/>
                </a:lnTo>
                <a:lnTo>
                  <a:pt x="1068" y="1456"/>
                </a:lnTo>
                <a:lnTo>
                  <a:pt x="1064" y="1474"/>
                </a:lnTo>
                <a:lnTo>
                  <a:pt x="1059" y="1493"/>
                </a:lnTo>
                <a:lnTo>
                  <a:pt x="1053" y="1511"/>
                </a:lnTo>
                <a:lnTo>
                  <a:pt x="1047" y="1530"/>
                </a:lnTo>
                <a:lnTo>
                  <a:pt x="1041" y="1548"/>
                </a:lnTo>
                <a:lnTo>
                  <a:pt x="1035" y="1567"/>
                </a:lnTo>
                <a:lnTo>
                  <a:pt x="1028" y="1585"/>
                </a:lnTo>
                <a:lnTo>
                  <a:pt x="1022" y="1603"/>
                </a:lnTo>
                <a:lnTo>
                  <a:pt x="1015" y="1622"/>
                </a:lnTo>
                <a:lnTo>
                  <a:pt x="1009" y="1640"/>
                </a:lnTo>
                <a:lnTo>
                  <a:pt x="1002" y="1659"/>
                </a:lnTo>
                <a:lnTo>
                  <a:pt x="996" y="1677"/>
                </a:lnTo>
                <a:lnTo>
                  <a:pt x="990" y="1696"/>
                </a:lnTo>
                <a:lnTo>
                  <a:pt x="985" y="1714"/>
                </a:lnTo>
                <a:lnTo>
                  <a:pt x="979" y="1732"/>
                </a:lnTo>
                <a:lnTo>
                  <a:pt x="974" y="1751"/>
                </a:lnTo>
                <a:lnTo>
                  <a:pt x="970" y="1769"/>
                </a:lnTo>
                <a:lnTo>
                  <a:pt x="965" y="1788"/>
                </a:lnTo>
                <a:lnTo>
                  <a:pt x="961" y="1806"/>
                </a:lnTo>
                <a:lnTo>
                  <a:pt x="957" y="1825"/>
                </a:lnTo>
                <a:lnTo>
                  <a:pt x="953" y="1843"/>
                </a:lnTo>
                <a:lnTo>
                  <a:pt x="950" y="1861"/>
                </a:lnTo>
                <a:lnTo>
                  <a:pt x="946" y="1880"/>
                </a:lnTo>
                <a:lnTo>
                  <a:pt x="942" y="1898"/>
                </a:lnTo>
                <a:lnTo>
                  <a:pt x="937" y="1917"/>
                </a:lnTo>
                <a:lnTo>
                  <a:pt x="932" y="1935"/>
                </a:lnTo>
                <a:lnTo>
                  <a:pt x="925" y="1954"/>
                </a:lnTo>
                <a:lnTo>
                  <a:pt x="918" y="1972"/>
                </a:lnTo>
                <a:lnTo>
                  <a:pt x="910" y="1990"/>
                </a:lnTo>
                <a:lnTo>
                  <a:pt x="900" y="2009"/>
                </a:lnTo>
                <a:lnTo>
                  <a:pt x="890" y="2027"/>
                </a:lnTo>
                <a:lnTo>
                  <a:pt x="878" y="2046"/>
                </a:lnTo>
                <a:lnTo>
                  <a:pt x="866" y="2064"/>
                </a:lnTo>
                <a:lnTo>
                  <a:pt x="854" y="2083"/>
                </a:lnTo>
                <a:lnTo>
                  <a:pt x="841" y="2101"/>
                </a:lnTo>
                <a:lnTo>
                  <a:pt x="828" y="2120"/>
                </a:lnTo>
                <a:lnTo>
                  <a:pt x="815" y="2138"/>
                </a:lnTo>
                <a:lnTo>
                  <a:pt x="802" y="2156"/>
                </a:lnTo>
                <a:lnTo>
                  <a:pt x="789" y="2175"/>
                </a:lnTo>
                <a:lnTo>
                  <a:pt x="775" y="2193"/>
                </a:lnTo>
                <a:lnTo>
                  <a:pt x="762" y="2212"/>
                </a:lnTo>
                <a:lnTo>
                  <a:pt x="749" y="2230"/>
                </a:lnTo>
                <a:lnTo>
                  <a:pt x="737" y="2249"/>
                </a:lnTo>
                <a:lnTo>
                  <a:pt x="724" y="2267"/>
                </a:lnTo>
                <a:lnTo>
                  <a:pt x="712" y="2285"/>
                </a:lnTo>
                <a:lnTo>
                  <a:pt x="700" y="2304"/>
                </a:lnTo>
                <a:lnTo>
                  <a:pt x="689" y="2322"/>
                </a:lnTo>
                <a:lnTo>
                  <a:pt x="678" y="2341"/>
                </a:lnTo>
                <a:lnTo>
                  <a:pt x="668" y="2359"/>
                </a:lnTo>
                <a:lnTo>
                  <a:pt x="658" y="2378"/>
                </a:lnTo>
                <a:lnTo>
                  <a:pt x="648" y="2396"/>
                </a:lnTo>
                <a:lnTo>
                  <a:pt x="639" y="2414"/>
                </a:lnTo>
                <a:lnTo>
                  <a:pt x="630" y="2433"/>
                </a:lnTo>
                <a:lnTo>
                  <a:pt x="622" y="2451"/>
                </a:lnTo>
                <a:lnTo>
                  <a:pt x="614" y="2470"/>
                </a:lnTo>
                <a:lnTo>
                  <a:pt x="606" y="2488"/>
                </a:lnTo>
                <a:lnTo>
                  <a:pt x="599" y="2507"/>
                </a:lnTo>
                <a:lnTo>
                  <a:pt x="592" y="2525"/>
                </a:lnTo>
                <a:lnTo>
                  <a:pt x="585" y="2543"/>
                </a:lnTo>
                <a:lnTo>
                  <a:pt x="579" y="2562"/>
                </a:lnTo>
                <a:lnTo>
                  <a:pt x="573" y="2580"/>
                </a:lnTo>
                <a:lnTo>
                  <a:pt x="568" y="2599"/>
                </a:lnTo>
                <a:lnTo>
                  <a:pt x="563" y="2617"/>
                </a:lnTo>
                <a:lnTo>
                  <a:pt x="558" y="2636"/>
                </a:lnTo>
                <a:lnTo>
                  <a:pt x="555" y="2654"/>
                </a:lnTo>
                <a:lnTo>
                  <a:pt x="551" y="2672"/>
                </a:lnTo>
                <a:lnTo>
                  <a:pt x="549" y="2691"/>
                </a:lnTo>
                <a:lnTo>
                  <a:pt x="546" y="2709"/>
                </a:lnTo>
                <a:lnTo>
                  <a:pt x="545" y="2728"/>
                </a:lnTo>
                <a:lnTo>
                  <a:pt x="543" y="2746"/>
                </a:lnTo>
                <a:close/>
              </a:path>
            </a:pathLst>
          </a:custGeom>
          <a:solidFill>
            <a:srgbClr val="DCE8F8"/>
          </a:solidFill>
          <a:ln w="9525">
            <a:solidFill>
              <a:srgbClr val="82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Box_FlatFaultA_Whisker"/>
          <p:cNvCxnSpPr/>
          <p:nvPr/>
        </p:nvCxnSpPr>
        <p:spPr>
          <a:xfrm flipV="1">
            <a:off x="6888005" y="665588"/>
            <a:ext cx="0" cy="2269418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Box_FlatFaultA_LowerCap"/>
          <p:cNvCxnSpPr/>
          <p:nvPr/>
        </p:nvCxnSpPr>
        <p:spPr>
          <a:xfrm>
            <a:off x="6750844" y="2935006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Box_FlatFaultA_UpperCap"/>
          <p:cNvCxnSpPr/>
          <p:nvPr/>
        </p:nvCxnSpPr>
        <p:spPr>
          <a:xfrm>
            <a:off x="6750844" y="665588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Box_FlatFaultA_IQR"/>
          <p:cNvSpPr/>
          <p:nvPr/>
        </p:nvSpPr>
        <p:spPr>
          <a:xfrm>
            <a:off x="6743987" y="1380751"/>
            <a:ext cx="288036" cy="765745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Box_FlatFaultA_Median"/>
          <p:cNvCxnSpPr/>
          <p:nvPr/>
        </p:nvCxnSpPr>
        <p:spPr>
          <a:xfrm>
            <a:off x="6599968" y="1766263"/>
            <a:ext cx="576072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Label_FlatFaultA"/>
          <p:cNvSpPr txBox="1"/>
          <p:nvPr/>
        </p:nvSpPr>
        <p:spPr>
          <a:xfrm>
            <a:off x="6616490" y="3082325"/>
            <a:ext cx="543034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FFA</a:t>
            </a:r>
            <a:endParaRPr sz="2400" b="0" i="0" dirty="0">
              <a:latin typeface="Times New Roman"/>
            </a:endParaRPr>
          </a:p>
        </p:txBody>
      </p:sp>
      <p:sp>
        <p:nvSpPr>
          <p:cNvPr id="61" name="Violin_FlatFaultB"/>
          <p:cNvSpPr/>
          <p:nvPr/>
        </p:nvSpPr>
        <p:spPr>
          <a:xfrm>
            <a:off x="7765829" y="799025"/>
            <a:ext cx="987552" cy="1904695"/>
          </a:xfrm>
          <a:custGeom>
            <a:avLst/>
            <a:gdLst/>
            <a:ahLst/>
            <a:cxnLst/>
            <a:rect l="l" t="t" r="r" b="b"/>
            <a:pathLst>
              <a:path w="1080" h="2083">
                <a:moveTo>
                  <a:pt x="540" y="2083"/>
                </a:moveTo>
                <a:lnTo>
                  <a:pt x="540" y="2069"/>
                </a:lnTo>
                <a:lnTo>
                  <a:pt x="540" y="2055"/>
                </a:lnTo>
                <a:lnTo>
                  <a:pt x="539" y="2041"/>
                </a:lnTo>
                <a:lnTo>
                  <a:pt x="539" y="2027"/>
                </a:lnTo>
                <a:lnTo>
                  <a:pt x="538" y="2013"/>
                </a:lnTo>
                <a:lnTo>
                  <a:pt x="538" y="1999"/>
                </a:lnTo>
                <a:lnTo>
                  <a:pt x="537" y="1985"/>
                </a:lnTo>
                <a:lnTo>
                  <a:pt x="536" y="1971"/>
                </a:lnTo>
                <a:lnTo>
                  <a:pt x="535" y="1957"/>
                </a:lnTo>
                <a:lnTo>
                  <a:pt x="533" y="1943"/>
                </a:lnTo>
                <a:lnTo>
                  <a:pt x="532" y="1929"/>
                </a:lnTo>
                <a:lnTo>
                  <a:pt x="530" y="1915"/>
                </a:lnTo>
                <a:lnTo>
                  <a:pt x="528" y="1901"/>
                </a:lnTo>
                <a:lnTo>
                  <a:pt x="526" y="1887"/>
                </a:lnTo>
                <a:lnTo>
                  <a:pt x="523" y="1873"/>
                </a:lnTo>
                <a:lnTo>
                  <a:pt x="520" y="1859"/>
                </a:lnTo>
                <a:lnTo>
                  <a:pt x="516" y="1845"/>
                </a:lnTo>
                <a:lnTo>
                  <a:pt x="512" y="1831"/>
                </a:lnTo>
                <a:lnTo>
                  <a:pt x="508" y="1817"/>
                </a:lnTo>
                <a:lnTo>
                  <a:pt x="503" y="1803"/>
                </a:lnTo>
                <a:lnTo>
                  <a:pt x="497" y="1789"/>
                </a:lnTo>
                <a:lnTo>
                  <a:pt x="491" y="1775"/>
                </a:lnTo>
                <a:lnTo>
                  <a:pt x="484" y="1761"/>
                </a:lnTo>
                <a:lnTo>
                  <a:pt x="477" y="1747"/>
                </a:lnTo>
                <a:lnTo>
                  <a:pt x="469" y="1734"/>
                </a:lnTo>
                <a:lnTo>
                  <a:pt x="459" y="1720"/>
                </a:lnTo>
                <a:lnTo>
                  <a:pt x="449" y="1706"/>
                </a:lnTo>
                <a:lnTo>
                  <a:pt x="437" y="1692"/>
                </a:lnTo>
                <a:lnTo>
                  <a:pt x="425" y="1678"/>
                </a:lnTo>
                <a:lnTo>
                  <a:pt x="412" y="1664"/>
                </a:lnTo>
                <a:lnTo>
                  <a:pt x="399" y="1650"/>
                </a:lnTo>
                <a:lnTo>
                  <a:pt x="387" y="1636"/>
                </a:lnTo>
                <a:lnTo>
                  <a:pt x="375" y="1622"/>
                </a:lnTo>
                <a:lnTo>
                  <a:pt x="364" y="1608"/>
                </a:lnTo>
                <a:lnTo>
                  <a:pt x="352" y="1594"/>
                </a:lnTo>
                <a:lnTo>
                  <a:pt x="341" y="1580"/>
                </a:lnTo>
                <a:lnTo>
                  <a:pt x="329" y="1566"/>
                </a:lnTo>
                <a:lnTo>
                  <a:pt x="315" y="1552"/>
                </a:lnTo>
                <a:lnTo>
                  <a:pt x="300" y="1538"/>
                </a:lnTo>
                <a:lnTo>
                  <a:pt x="284" y="1524"/>
                </a:lnTo>
                <a:lnTo>
                  <a:pt x="266" y="1510"/>
                </a:lnTo>
                <a:lnTo>
                  <a:pt x="247" y="1496"/>
                </a:lnTo>
                <a:lnTo>
                  <a:pt x="227" y="1482"/>
                </a:lnTo>
                <a:lnTo>
                  <a:pt x="207" y="1468"/>
                </a:lnTo>
                <a:lnTo>
                  <a:pt x="187" y="1454"/>
                </a:lnTo>
                <a:lnTo>
                  <a:pt x="168" y="1440"/>
                </a:lnTo>
                <a:lnTo>
                  <a:pt x="149" y="1426"/>
                </a:lnTo>
                <a:lnTo>
                  <a:pt x="131" y="1412"/>
                </a:lnTo>
                <a:lnTo>
                  <a:pt x="115" y="1398"/>
                </a:lnTo>
                <a:lnTo>
                  <a:pt x="100" y="1384"/>
                </a:lnTo>
                <a:lnTo>
                  <a:pt x="88" y="1370"/>
                </a:lnTo>
                <a:lnTo>
                  <a:pt x="78" y="1356"/>
                </a:lnTo>
                <a:lnTo>
                  <a:pt x="69" y="1342"/>
                </a:lnTo>
                <a:lnTo>
                  <a:pt x="62" y="1328"/>
                </a:lnTo>
                <a:lnTo>
                  <a:pt x="55" y="1314"/>
                </a:lnTo>
                <a:lnTo>
                  <a:pt x="48" y="1300"/>
                </a:lnTo>
                <a:lnTo>
                  <a:pt x="40" y="1286"/>
                </a:lnTo>
                <a:lnTo>
                  <a:pt x="33" y="1272"/>
                </a:lnTo>
                <a:lnTo>
                  <a:pt x="26" y="1258"/>
                </a:lnTo>
                <a:lnTo>
                  <a:pt x="19" y="1244"/>
                </a:lnTo>
                <a:lnTo>
                  <a:pt x="13" y="1230"/>
                </a:lnTo>
                <a:lnTo>
                  <a:pt x="8" y="1216"/>
                </a:lnTo>
                <a:lnTo>
                  <a:pt x="4" y="1202"/>
                </a:lnTo>
                <a:lnTo>
                  <a:pt x="1" y="1188"/>
                </a:lnTo>
                <a:lnTo>
                  <a:pt x="0" y="1174"/>
                </a:lnTo>
                <a:lnTo>
                  <a:pt x="0" y="1160"/>
                </a:lnTo>
                <a:lnTo>
                  <a:pt x="2" y="1146"/>
                </a:lnTo>
                <a:lnTo>
                  <a:pt x="6" y="1133"/>
                </a:lnTo>
                <a:lnTo>
                  <a:pt x="13" y="1119"/>
                </a:lnTo>
                <a:lnTo>
                  <a:pt x="21" y="1105"/>
                </a:lnTo>
                <a:lnTo>
                  <a:pt x="30" y="1091"/>
                </a:lnTo>
                <a:lnTo>
                  <a:pt x="39" y="1077"/>
                </a:lnTo>
                <a:lnTo>
                  <a:pt x="49" y="1063"/>
                </a:lnTo>
                <a:lnTo>
                  <a:pt x="58" y="1049"/>
                </a:lnTo>
                <a:lnTo>
                  <a:pt x="66" y="1035"/>
                </a:lnTo>
                <a:lnTo>
                  <a:pt x="75" y="1021"/>
                </a:lnTo>
                <a:lnTo>
                  <a:pt x="83" y="1007"/>
                </a:lnTo>
                <a:lnTo>
                  <a:pt x="91" y="993"/>
                </a:lnTo>
                <a:lnTo>
                  <a:pt x="100" y="979"/>
                </a:lnTo>
                <a:lnTo>
                  <a:pt x="110" y="965"/>
                </a:lnTo>
                <a:lnTo>
                  <a:pt x="120" y="951"/>
                </a:lnTo>
                <a:lnTo>
                  <a:pt x="131" y="937"/>
                </a:lnTo>
                <a:lnTo>
                  <a:pt x="142" y="923"/>
                </a:lnTo>
                <a:lnTo>
                  <a:pt x="152" y="909"/>
                </a:lnTo>
                <a:lnTo>
                  <a:pt x="163" y="895"/>
                </a:lnTo>
                <a:lnTo>
                  <a:pt x="173" y="881"/>
                </a:lnTo>
                <a:lnTo>
                  <a:pt x="183" y="867"/>
                </a:lnTo>
                <a:lnTo>
                  <a:pt x="192" y="853"/>
                </a:lnTo>
                <a:lnTo>
                  <a:pt x="202" y="839"/>
                </a:lnTo>
                <a:lnTo>
                  <a:pt x="213" y="825"/>
                </a:lnTo>
                <a:lnTo>
                  <a:pt x="223" y="811"/>
                </a:lnTo>
                <a:lnTo>
                  <a:pt x="234" y="797"/>
                </a:lnTo>
                <a:lnTo>
                  <a:pt x="245" y="783"/>
                </a:lnTo>
                <a:lnTo>
                  <a:pt x="256" y="769"/>
                </a:lnTo>
                <a:lnTo>
                  <a:pt x="269" y="755"/>
                </a:lnTo>
                <a:lnTo>
                  <a:pt x="282" y="741"/>
                </a:lnTo>
                <a:lnTo>
                  <a:pt x="296" y="727"/>
                </a:lnTo>
                <a:lnTo>
                  <a:pt x="310" y="713"/>
                </a:lnTo>
                <a:lnTo>
                  <a:pt x="324" y="699"/>
                </a:lnTo>
                <a:lnTo>
                  <a:pt x="339" y="685"/>
                </a:lnTo>
                <a:lnTo>
                  <a:pt x="352" y="671"/>
                </a:lnTo>
                <a:lnTo>
                  <a:pt x="365" y="657"/>
                </a:lnTo>
                <a:lnTo>
                  <a:pt x="377" y="643"/>
                </a:lnTo>
                <a:lnTo>
                  <a:pt x="388" y="629"/>
                </a:lnTo>
                <a:lnTo>
                  <a:pt x="398" y="615"/>
                </a:lnTo>
                <a:lnTo>
                  <a:pt x="407" y="601"/>
                </a:lnTo>
                <a:lnTo>
                  <a:pt x="416" y="587"/>
                </a:lnTo>
                <a:lnTo>
                  <a:pt x="424" y="573"/>
                </a:lnTo>
                <a:lnTo>
                  <a:pt x="432" y="559"/>
                </a:lnTo>
                <a:lnTo>
                  <a:pt x="439" y="545"/>
                </a:lnTo>
                <a:lnTo>
                  <a:pt x="447" y="532"/>
                </a:lnTo>
                <a:lnTo>
                  <a:pt x="454" y="518"/>
                </a:lnTo>
                <a:lnTo>
                  <a:pt x="462" y="504"/>
                </a:lnTo>
                <a:lnTo>
                  <a:pt x="469" y="490"/>
                </a:lnTo>
                <a:lnTo>
                  <a:pt x="477" y="476"/>
                </a:lnTo>
                <a:lnTo>
                  <a:pt x="484" y="462"/>
                </a:lnTo>
                <a:lnTo>
                  <a:pt x="490" y="448"/>
                </a:lnTo>
                <a:lnTo>
                  <a:pt x="496" y="434"/>
                </a:lnTo>
                <a:lnTo>
                  <a:pt x="501" y="420"/>
                </a:lnTo>
                <a:lnTo>
                  <a:pt x="506" y="406"/>
                </a:lnTo>
                <a:lnTo>
                  <a:pt x="510" y="392"/>
                </a:lnTo>
                <a:lnTo>
                  <a:pt x="513" y="378"/>
                </a:lnTo>
                <a:lnTo>
                  <a:pt x="516" y="364"/>
                </a:lnTo>
                <a:lnTo>
                  <a:pt x="519" y="350"/>
                </a:lnTo>
                <a:lnTo>
                  <a:pt x="521" y="336"/>
                </a:lnTo>
                <a:lnTo>
                  <a:pt x="523" y="322"/>
                </a:lnTo>
                <a:lnTo>
                  <a:pt x="525" y="308"/>
                </a:lnTo>
                <a:lnTo>
                  <a:pt x="527" y="294"/>
                </a:lnTo>
                <a:lnTo>
                  <a:pt x="529" y="280"/>
                </a:lnTo>
                <a:lnTo>
                  <a:pt x="531" y="266"/>
                </a:lnTo>
                <a:lnTo>
                  <a:pt x="532" y="252"/>
                </a:lnTo>
                <a:lnTo>
                  <a:pt x="534" y="238"/>
                </a:lnTo>
                <a:lnTo>
                  <a:pt x="535" y="224"/>
                </a:lnTo>
                <a:lnTo>
                  <a:pt x="535" y="210"/>
                </a:lnTo>
                <a:lnTo>
                  <a:pt x="536" y="196"/>
                </a:lnTo>
                <a:lnTo>
                  <a:pt x="536" y="182"/>
                </a:lnTo>
                <a:lnTo>
                  <a:pt x="536" y="168"/>
                </a:lnTo>
                <a:lnTo>
                  <a:pt x="537" y="154"/>
                </a:lnTo>
                <a:lnTo>
                  <a:pt x="537" y="140"/>
                </a:lnTo>
                <a:lnTo>
                  <a:pt x="537" y="126"/>
                </a:lnTo>
                <a:lnTo>
                  <a:pt x="538" y="112"/>
                </a:lnTo>
                <a:lnTo>
                  <a:pt x="538" y="98"/>
                </a:lnTo>
                <a:lnTo>
                  <a:pt x="539" y="84"/>
                </a:lnTo>
                <a:lnTo>
                  <a:pt x="539" y="70"/>
                </a:lnTo>
                <a:lnTo>
                  <a:pt x="539" y="56"/>
                </a:lnTo>
                <a:lnTo>
                  <a:pt x="540" y="42"/>
                </a:lnTo>
                <a:lnTo>
                  <a:pt x="540" y="28"/>
                </a:lnTo>
                <a:lnTo>
                  <a:pt x="540" y="14"/>
                </a:lnTo>
                <a:lnTo>
                  <a:pt x="540" y="0"/>
                </a:lnTo>
                <a:lnTo>
                  <a:pt x="540" y="0"/>
                </a:lnTo>
                <a:lnTo>
                  <a:pt x="540" y="14"/>
                </a:lnTo>
                <a:lnTo>
                  <a:pt x="540" y="28"/>
                </a:lnTo>
                <a:lnTo>
                  <a:pt x="540" y="42"/>
                </a:lnTo>
                <a:lnTo>
                  <a:pt x="541" y="56"/>
                </a:lnTo>
                <a:lnTo>
                  <a:pt x="541" y="70"/>
                </a:lnTo>
                <a:lnTo>
                  <a:pt x="541" y="84"/>
                </a:lnTo>
                <a:lnTo>
                  <a:pt x="542" y="98"/>
                </a:lnTo>
                <a:lnTo>
                  <a:pt x="542" y="112"/>
                </a:lnTo>
                <a:lnTo>
                  <a:pt x="543" y="126"/>
                </a:lnTo>
                <a:lnTo>
                  <a:pt x="543" y="140"/>
                </a:lnTo>
                <a:lnTo>
                  <a:pt x="543" y="154"/>
                </a:lnTo>
                <a:lnTo>
                  <a:pt x="544" y="168"/>
                </a:lnTo>
                <a:lnTo>
                  <a:pt x="544" y="182"/>
                </a:lnTo>
                <a:lnTo>
                  <a:pt x="544" y="196"/>
                </a:lnTo>
                <a:lnTo>
                  <a:pt x="545" y="210"/>
                </a:lnTo>
                <a:lnTo>
                  <a:pt x="545" y="224"/>
                </a:lnTo>
                <a:lnTo>
                  <a:pt x="546" y="238"/>
                </a:lnTo>
                <a:lnTo>
                  <a:pt x="548" y="252"/>
                </a:lnTo>
                <a:lnTo>
                  <a:pt x="549" y="266"/>
                </a:lnTo>
                <a:lnTo>
                  <a:pt x="551" y="280"/>
                </a:lnTo>
                <a:lnTo>
                  <a:pt x="553" y="294"/>
                </a:lnTo>
                <a:lnTo>
                  <a:pt x="555" y="308"/>
                </a:lnTo>
                <a:lnTo>
                  <a:pt x="557" y="322"/>
                </a:lnTo>
                <a:lnTo>
                  <a:pt x="559" y="336"/>
                </a:lnTo>
                <a:lnTo>
                  <a:pt x="561" y="350"/>
                </a:lnTo>
                <a:lnTo>
                  <a:pt x="564" y="364"/>
                </a:lnTo>
                <a:lnTo>
                  <a:pt x="567" y="378"/>
                </a:lnTo>
                <a:lnTo>
                  <a:pt x="570" y="392"/>
                </a:lnTo>
                <a:lnTo>
                  <a:pt x="574" y="406"/>
                </a:lnTo>
                <a:lnTo>
                  <a:pt x="579" y="420"/>
                </a:lnTo>
                <a:lnTo>
                  <a:pt x="584" y="434"/>
                </a:lnTo>
                <a:lnTo>
                  <a:pt x="590" y="448"/>
                </a:lnTo>
                <a:lnTo>
                  <a:pt x="596" y="462"/>
                </a:lnTo>
                <a:lnTo>
                  <a:pt x="603" y="476"/>
                </a:lnTo>
                <a:lnTo>
                  <a:pt x="611" y="490"/>
                </a:lnTo>
                <a:lnTo>
                  <a:pt x="618" y="504"/>
                </a:lnTo>
                <a:lnTo>
                  <a:pt x="626" y="518"/>
                </a:lnTo>
                <a:lnTo>
                  <a:pt x="633" y="532"/>
                </a:lnTo>
                <a:lnTo>
                  <a:pt x="641" y="545"/>
                </a:lnTo>
                <a:lnTo>
                  <a:pt x="648" y="559"/>
                </a:lnTo>
                <a:lnTo>
                  <a:pt x="656" y="573"/>
                </a:lnTo>
                <a:lnTo>
                  <a:pt x="664" y="587"/>
                </a:lnTo>
                <a:lnTo>
                  <a:pt x="673" y="601"/>
                </a:lnTo>
                <a:lnTo>
                  <a:pt x="682" y="615"/>
                </a:lnTo>
                <a:lnTo>
                  <a:pt x="692" y="629"/>
                </a:lnTo>
                <a:lnTo>
                  <a:pt x="703" y="643"/>
                </a:lnTo>
                <a:lnTo>
                  <a:pt x="715" y="657"/>
                </a:lnTo>
                <a:lnTo>
                  <a:pt x="728" y="671"/>
                </a:lnTo>
                <a:lnTo>
                  <a:pt x="741" y="685"/>
                </a:lnTo>
                <a:lnTo>
                  <a:pt x="756" y="699"/>
                </a:lnTo>
                <a:lnTo>
                  <a:pt x="770" y="713"/>
                </a:lnTo>
                <a:lnTo>
                  <a:pt x="784" y="727"/>
                </a:lnTo>
                <a:lnTo>
                  <a:pt x="798" y="741"/>
                </a:lnTo>
                <a:lnTo>
                  <a:pt x="811" y="755"/>
                </a:lnTo>
                <a:lnTo>
                  <a:pt x="824" y="769"/>
                </a:lnTo>
                <a:lnTo>
                  <a:pt x="835" y="783"/>
                </a:lnTo>
                <a:lnTo>
                  <a:pt x="846" y="797"/>
                </a:lnTo>
                <a:lnTo>
                  <a:pt x="857" y="811"/>
                </a:lnTo>
                <a:lnTo>
                  <a:pt x="867" y="825"/>
                </a:lnTo>
                <a:lnTo>
                  <a:pt x="878" y="839"/>
                </a:lnTo>
                <a:lnTo>
                  <a:pt x="888" y="853"/>
                </a:lnTo>
                <a:lnTo>
                  <a:pt x="897" y="867"/>
                </a:lnTo>
                <a:lnTo>
                  <a:pt x="907" y="881"/>
                </a:lnTo>
                <a:lnTo>
                  <a:pt x="917" y="895"/>
                </a:lnTo>
                <a:lnTo>
                  <a:pt x="928" y="909"/>
                </a:lnTo>
                <a:lnTo>
                  <a:pt x="938" y="923"/>
                </a:lnTo>
                <a:lnTo>
                  <a:pt x="949" y="937"/>
                </a:lnTo>
                <a:lnTo>
                  <a:pt x="960" y="951"/>
                </a:lnTo>
                <a:lnTo>
                  <a:pt x="970" y="965"/>
                </a:lnTo>
                <a:lnTo>
                  <a:pt x="980" y="979"/>
                </a:lnTo>
                <a:lnTo>
                  <a:pt x="989" y="993"/>
                </a:lnTo>
                <a:lnTo>
                  <a:pt x="997" y="1007"/>
                </a:lnTo>
                <a:lnTo>
                  <a:pt x="1005" y="1021"/>
                </a:lnTo>
                <a:lnTo>
                  <a:pt x="1014" y="1035"/>
                </a:lnTo>
                <a:lnTo>
                  <a:pt x="1022" y="1049"/>
                </a:lnTo>
                <a:lnTo>
                  <a:pt x="1031" y="1063"/>
                </a:lnTo>
                <a:lnTo>
                  <a:pt x="1041" y="1077"/>
                </a:lnTo>
                <a:lnTo>
                  <a:pt x="1050" y="1091"/>
                </a:lnTo>
                <a:lnTo>
                  <a:pt x="1059" y="1105"/>
                </a:lnTo>
                <a:lnTo>
                  <a:pt x="1067" y="1119"/>
                </a:lnTo>
                <a:lnTo>
                  <a:pt x="1074" y="1133"/>
                </a:lnTo>
                <a:lnTo>
                  <a:pt x="1078" y="1146"/>
                </a:lnTo>
                <a:lnTo>
                  <a:pt x="1080" y="1160"/>
                </a:lnTo>
                <a:lnTo>
                  <a:pt x="1080" y="1174"/>
                </a:lnTo>
                <a:lnTo>
                  <a:pt x="1079" y="1188"/>
                </a:lnTo>
                <a:lnTo>
                  <a:pt x="1076" y="1202"/>
                </a:lnTo>
                <a:lnTo>
                  <a:pt x="1072" y="1216"/>
                </a:lnTo>
                <a:lnTo>
                  <a:pt x="1067" y="1230"/>
                </a:lnTo>
                <a:lnTo>
                  <a:pt x="1061" y="1244"/>
                </a:lnTo>
                <a:lnTo>
                  <a:pt x="1054" y="1258"/>
                </a:lnTo>
                <a:lnTo>
                  <a:pt x="1047" y="1272"/>
                </a:lnTo>
                <a:lnTo>
                  <a:pt x="1040" y="1286"/>
                </a:lnTo>
                <a:lnTo>
                  <a:pt x="1032" y="1300"/>
                </a:lnTo>
                <a:lnTo>
                  <a:pt x="1025" y="1314"/>
                </a:lnTo>
                <a:lnTo>
                  <a:pt x="1018" y="1328"/>
                </a:lnTo>
                <a:lnTo>
                  <a:pt x="1011" y="1342"/>
                </a:lnTo>
                <a:lnTo>
                  <a:pt x="1002" y="1356"/>
                </a:lnTo>
                <a:lnTo>
                  <a:pt x="992" y="1370"/>
                </a:lnTo>
                <a:lnTo>
                  <a:pt x="980" y="1384"/>
                </a:lnTo>
                <a:lnTo>
                  <a:pt x="965" y="1398"/>
                </a:lnTo>
                <a:lnTo>
                  <a:pt x="949" y="1412"/>
                </a:lnTo>
                <a:lnTo>
                  <a:pt x="931" y="1426"/>
                </a:lnTo>
                <a:lnTo>
                  <a:pt x="912" y="1440"/>
                </a:lnTo>
                <a:lnTo>
                  <a:pt x="893" y="1454"/>
                </a:lnTo>
                <a:lnTo>
                  <a:pt x="873" y="1468"/>
                </a:lnTo>
                <a:lnTo>
                  <a:pt x="853" y="1482"/>
                </a:lnTo>
                <a:lnTo>
                  <a:pt x="833" y="1496"/>
                </a:lnTo>
                <a:lnTo>
                  <a:pt x="814" y="1510"/>
                </a:lnTo>
                <a:lnTo>
                  <a:pt x="796" y="1524"/>
                </a:lnTo>
                <a:lnTo>
                  <a:pt x="780" y="1538"/>
                </a:lnTo>
                <a:lnTo>
                  <a:pt x="765" y="1552"/>
                </a:lnTo>
                <a:lnTo>
                  <a:pt x="751" y="1566"/>
                </a:lnTo>
                <a:lnTo>
                  <a:pt x="739" y="1580"/>
                </a:lnTo>
                <a:lnTo>
                  <a:pt x="728" y="1594"/>
                </a:lnTo>
                <a:lnTo>
                  <a:pt x="716" y="1608"/>
                </a:lnTo>
                <a:lnTo>
                  <a:pt x="705" y="1622"/>
                </a:lnTo>
                <a:lnTo>
                  <a:pt x="693" y="1636"/>
                </a:lnTo>
                <a:lnTo>
                  <a:pt x="681" y="1650"/>
                </a:lnTo>
                <a:lnTo>
                  <a:pt x="668" y="1664"/>
                </a:lnTo>
                <a:lnTo>
                  <a:pt x="655" y="1678"/>
                </a:lnTo>
                <a:lnTo>
                  <a:pt x="643" y="1692"/>
                </a:lnTo>
                <a:lnTo>
                  <a:pt x="631" y="1706"/>
                </a:lnTo>
                <a:lnTo>
                  <a:pt x="621" y="1720"/>
                </a:lnTo>
                <a:lnTo>
                  <a:pt x="611" y="1734"/>
                </a:lnTo>
                <a:lnTo>
                  <a:pt x="603" y="1747"/>
                </a:lnTo>
                <a:lnTo>
                  <a:pt x="596" y="1761"/>
                </a:lnTo>
                <a:lnTo>
                  <a:pt x="589" y="1775"/>
                </a:lnTo>
                <a:lnTo>
                  <a:pt x="583" y="1789"/>
                </a:lnTo>
                <a:lnTo>
                  <a:pt x="577" y="1803"/>
                </a:lnTo>
                <a:lnTo>
                  <a:pt x="572" y="1817"/>
                </a:lnTo>
                <a:lnTo>
                  <a:pt x="568" y="1831"/>
                </a:lnTo>
                <a:lnTo>
                  <a:pt x="564" y="1845"/>
                </a:lnTo>
                <a:lnTo>
                  <a:pt x="560" y="1859"/>
                </a:lnTo>
                <a:lnTo>
                  <a:pt x="557" y="1873"/>
                </a:lnTo>
                <a:lnTo>
                  <a:pt x="554" y="1887"/>
                </a:lnTo>
                <a:lnTo>
                  <a:pt x="552" y="1901"/>
                </a:lnTo>
                <a:lnTo>
                  <a:pt x="550" y="1915"/>
                </a:lnTo>
                <a:lnTo>
                  <a:pt x="548" y="1929"/>
                </a:lnTo>
                <a:lnTo>
                  <a:pt x="547" y="1943"/>
                </a:lnTo>
                <a:lnTo>
                  <a:pt x="545" y="1957"/>
                </a:lnTo>
                <a:lnTo>
                  <a:pt x="544" y="1971"/>
                </a:lnTo>
                <a:lnTo>
                  <a:pt x="543" y="1985"/>
                </a:lnTo>
                <a:lnTo>
                  <a:pt x="542" y="1999"/>
                </a:lnTo>
                <a:lnTo>
                  <a:pt x="542" y="2013"/>
                </a:lnTo>
                <a:lnTo>
                  <a:pt x="541" y="2027"/>
                </a:lnTo>
                <a:lnTo>
                  <a:pt x="541" y="2041"/>
                </a:lnTo>
                <a:lnTo>
                  <a:pt x="540" y="2055"/>
                </a:lnTo>
                <a:lnTo>
                  <a:pt x="540" y="2069"/>
                </a:lnTo>
                <a:lnTo>
                  <a:pt x="540" y="2083"/>
                </a:lnTo>
                <a:close/>
              </a:path>
            </a:pathLst>
          </a:custGeom>
          <a:solidFill>
            <a:srgbClr val="DCE8F8"/>
          </a:solidFill>
          <a:ln w="9525">
            <a:solidFill>
              <a:srgbClr val="82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Box_FlatFaultB_Whisker"/>
          <p:cNvCxnSpPr/>
          <p:nvPr/>
        </p:nvCxnSpPr>
        <p:spPr>
          <a:xfrm flipV="1">
            <a:off x="8259605" y="1069002"/>
            <a:ext cx="0" cy="1513711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Box_FlatFaultB_LowerCap"/>
          <p:cNvCxnSpPr/>
          <p:nvPr/>
        </p:nvCxnSpPr>
        <p:spPr>
          <a:xfrm>
            <a:off x="8122444" y="2582713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Box_FlatFaultB_UpperCap"/>
          <p:cNvCxnSpPr/>
          <p:nvPr/>
        </p:nvCxnSpPr>
        <p:spPr>
          <a:xfrm>
            <a:off x="8122444" y="1069002"/>
            <a:ext cx="274321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Box_FlatFaultB_IQR"/>
          <p:cNvSpPr/>
          <p:nvPr/>
        </p:nvSpPr>
        <p:spPr>
          <a:xfrm>
            <a:off x="8115586" y="1644509"/>
            <a:ext cx="288036" cy="387902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Box_FlatFaultB_Median"/>
          <p:cNvCxnSpPr/>
          <p:nvPr/>
        </p:nvCxnSpPr>
        <p:spPr>
          <a:xfrm>
            <a:off x="7971569" y="1844714"/>
            <a:ext cx="576072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Label_FlatFaultB"/>
          <p:cNvSpPr txBox="1"/>
          <p:nvPr/>
        </p:nvSpPr>
        <p:spPr>
          <a:xfrm>
            <a:off x="7985491" y="3082325"/>
            <a:ext cx="548228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FFB</a:t>
            </a:r>
            <a:endParaRPr sz="2400" b="0" i="0" dirty="0">
              <a:latin typeface="Times New Roman"/>
            </a:endParaRPr>
          </a:p>
        </p:txBody>
      </p:sp>
      <p:sp>
        <p:nvSpPr>
          <p:cNvPr id="69" name="Violin_CurveFaultA"/>
          <p:cNvSpPr/>
          <p:nvPr/>
        </p:nvSpPr>
        <p:spPr>
          <a:xfrm>
            <a:off x="9137429" y="544822"/>
            <a:ext cx="987552" cy="2539289"/>
          </a:xfrm>
          <a:custGeom>
            <a:avLst/>
            <a:gdLst/>
            <a:ahLst/>
            <a:cxnLst/>
            <a:rect l="l" t="t" r="r" b="b"/>
            <a:pathLst>
              <a:path w="1080" h="2777">
                <a:moveTo>
                  <a:pt x="538" y="2777"/>
                </a:moveTo>
                <a:lnTo>
                  <a:pt x="538" y="2758"/>
                </a:lnTo>
                <a:lnTo>
                  <a:pt x="537" y="2740"/>
                </a:lnTo>
                <a:lnTo>
                  <a:pt x="535" y="2721"/>
                </a:lnTo>
                <a:lnTo>
                  <a:pt x="534" y="2702"/>
                </a:lnTo>
                <a:lnTo>
                  <a:pt x="532" y="2684"/>
                </a:lnTo>
                <a:lnTo>
                  <a:pt x="530" y="2665"/>
                </a:lnTo>
                <a:lnTo>
                  <a:pt x="527" y="2647"/>
                </a:lnTo>
                <a:lnTo>
                  <a:pt x="524" y="2628"/>
                </a:lnTo>
                <a:lnTo>
                  <a:pt x="521" y="2609"/>
                </a:lnTo>
                <a:lnTo>
                  <a:pt x="518" y="2591"/>
                </a:lnTo>
                <a:lnTo>
                  <a:pt x="514" y="2572"/>
                </a:lnTo>
                <a:lnTo>
                  <a:pt x="510" y="2553"/>
                </a:lnTo>
                <a:lnTo>
                  <a:pt x="506" y="2535"/>
                </a:lnTo>
                <a:lnTo>
                  <a:pt x="502" y="2516"/>
                </a:lnTo>
                <a:lnTo>
                  <a:pt x="498" y="2497"/>
                </a:lnTo>
                <a:lnTo>
                  <a:pt x="493" y="2479"/>
                </a:lnTo>
                <a:lnTo>
                  <a:pt x="487" y="2460"/>
                </a:lnTo>
                <a:lnTo>
                  <a:pt x="481" y="2442"/>
                </a:lnTo>
                <a:lnTo>
                  <a:pt x="474" y="2423"/>
                </a:lnTo>
                <a:lnTo>
                  <a:pt x="467" y="2404"/>
                </a:lnTo>
                <a:lnTo>
                  <a:pt x="459" y="2386"/>
                </a:lnTo>
                <a:lnTo>
                  <a:pt x="450" y="2367"/>
                </a:lnTo>
                <a:lnTo>
                  <a:pt x="441" y="2348"/>
                </a:lnTo>
                <a:lnTo>
                  <a:pt x="431" y="2330"/>
                </a:lnTo>
                <a:lnTo>
                  <a:pt x="420" y="2311"/>
                </a:lnTo>
                <a:lnTo>
                  <a:pt x="409" y="2292"/>
                </a:lnTo>
                <a:lnTo>
                  <a:pt x="398" y="2274"/>
                </a:lnTo>
                <a:lnTo>
                  <a:pt x="387" y="2255"/>
                </a:lnTo>
                <a:lnTo>
                  <a:pt x="375" y="2236"/>
                </a:lnTo>
                <a:lnTo>
                  <a:pt x="363" y="2218"/>
                </a:lnTo>
                <a:lnTo>
                  <a:pt x="352" y="2199"/>
                </a:lnTo>
                <a:lnTo>
                  <a:pt x="340" y="2181"/>
                </a:lnTo>
                <a:lnTo>
                  <a:pt x="329" y="2162"/>
                </a:lnTo>
                <a:lnTo>
                  <a:pt x="318" y="2143"/>
                </a:lnTo>
                <a:lnTo>
                  <a:pt x="308" y="2125"/>
                </a:lnTo>
                <a:lnTo>
                  <a:pt x="297" y="2106"/>
                </a:lnTo>
                <a:lnTo>
                  <a:pt x="287" y="2087"/>
                </a:lnTo>
                <a:lnTo>
                  <a:pt x="277" y="2069"/>
                </a:lnTo>
                <a:lnTo>
                  <a:pt x="267" y="2050"/>
                </a:lnTo>
                <a:lnTo>
                  <a:pt x="257" y="2031"/>
                </a:lnTo>
                <a:lnTo>
                  <a:pt x="247" y="2013"/>
                </a:lnTo>
                <a:lnTo>
                  <a:pt x="237" y="1994"/>
                </a:lnTo>
                <a:lnTo>
                  <a:pt x="226" y="1976"/>
                </a:lnTo>
                <a:lnTo>
                  <a:pt x="215" y="1957"/>
                </a:lnTo>
                <a:lnTo>
                  <a:pt x="204" y="1938"/>
                </a:lnTo>
                <a:lnTo>
                  <a:pt x="193" y="1920"/>
                </a:lnTo>
                <a:lnTo>
                  <a:pt x="182" y="1901"/>
                </a:lnTo>
                <a:lnTo>
                  <a:pt x="172" y="1882"/>
                </a:lnTo>
                <a:lnTo>
                  <a:pt x="163" y="1864"/>
                </a:lnTo>
                <a:lnTo>
                  <a:pt x="154" y="1845"/>
                </a:lnTo>
                <a:lnTo>
                  <a:pt x="145" y="1826"/>
                </a:lnTo>
                <a:lnTo>
                  <a:pt x="137" y="1808"/>
                </a:lnTo>
                <a:lnTo>
                  <a:pt x="130" y="1789"/>
                </a:lnTo>
                <a:lnTo>
                  <a:pt x="122" y="1771"/>
                </a:lnTo>
                <a:lnTo>
                  <a:pt x="115" y="1752"/>
                </a:lnTo>
                <a:lnTo>
                  <a:pt x="107" y="1733"/>
                </a:lnTo>
                <a:lnTo>
                  <a:pt x="99" y="1715"/>
                </a:lnTo>
                <a:lnTo>
                  <a:pt x="91" y="1696"/>
                </a:lnTo>
                <a:lnTo>
                  <a:pt x="83" y="1677"/>
                </a:lnTo>
                <a:lnTo>
                  <a:pt x="75" y="1659"/>
                </a:lnTo>
                <a:lnTo>
                  <a:pt x="66" y="1640"/>
                </a:lnTo>
                <a:lnTo>
                  <a:pt x="57" y="1621"/>
                </a:lnTo>
                <a:lnTo>
                  <a:pt x="49" y="1603"/>
                </a:lnTo>
                <a:lnTo>
                  <a:pt x="41" y="1584"/>
                </a:lnTo>
                <a:lnTo>
                  <a:pt x="33" y="1565"/>
                </a:lnTo>
                <a:lnTo>
                  <a:pt x="26" y="1547"/>
                </a:lnTo>
                <a:lnTo>
                  <a:pt x="20" y="1528"/>
                </a:lnTo>
                <a:lnTo>
                  <a:pt x="15" y="1510"/>
                </a:lnTo>
                <a:lnTo>
                  <a:pt x="11" y="1491"/>
                </a:lnTo>
                <a:lnTo>
                  <a:pt x="9" y="1472"/>
                </a:lnTo>
                <a:lnTo>
                  <a:pt x="7" y="1454"/>
                </a:lnTo>
                <a:lnTo>
                  <a:pt x="6" y="1435"/>
                </a:lnTo>
                <a:lnTo>
                  <a:pt x="5" y="1416"/>
                </a:lnTo>
                <a:lnTo>
                  <a:pt x="5" y="1398"/>
                </a:lnTo>
                <a:lnTo>
                  <a:pt x="4" y="1379"/>
                </a:lnTo>
                <a:lnTo>
                  <a:pt x="3" y="1360"/>
                </a:lnTo>
                <a:lnTo>
                  <a:pt x="2" y="1342"/>
                </a:lnTo>
                <a:lnTo>
                  <a:pt x="1" y="1323"/>
                </a:lnTo>
                <a:lnTo>
                  <a:pt x="0" y="1305"/>
                </a:lnTo>
                <a:lnTo>
                  <a:pt x="0" y="1286"/>
                </a:lnTo>
                <a:lnTo>
                  <a:pt x="1" y="1267"/>
                </a:lnTo>
                <a:lnTo>
                  <a:pt x="3" y="1249"/>
                </a:lnTo>
                <a:lnTo>
                  <a:pt x="5" y="1230"/>
                </a:lnTo>
                <a:lnTo>
                  <a:pt x="10" y="1211"/>
                </a:lnTo>
                <a:lnTo>
                  <a:pt x="15" y="1193"/>
                </a:lnTo>
                <a:lnTo>
                  <a:pt x="21" y="1174"/>
                </a:lnTo>
                <a:lnTo>
                  <a:pt x="29" y="1155"/>
                </a:lnTo>
                <a:lnTo>
                  <a:pt x="37" y="1137"/>
                </a:lnTo>
                <a:lnTo>
                  <a:pt x="45" y="1118"/>
                </a:lnTo>
                <a:lnTo>
                  <a:pt x="54" y="1100"/>
                </a:lnTo>
                <a:lnTo>
                  <a:pt x="64" y="1081"/>
                </a:lnTo>
                <a:lnTo>
                  <a:pt x="73" y="1062"/>
                </a:lnTo>
                <a:lnTo>
                  <a:pt x="83" y="1044"/>
                </a:lnTo>
                <a:lnTo>
                  <a:pt x="93" y="1025"/>
                </a:lnTo>
                <a:lnTo>
                  <a:pt x="103" y="1006"/>
                </a:lnTo>
                <a:lnTo>
                  <a:pt x="114" y="988"/>
                </a:lnTo>
                <a:lnTo>
                  <a:pt x="124" y="969"/>
                </a:lnTo>
                <a:lnTo>
                  <a:pt x="135" y="950"/>
                </a:lnTo>
                <a:lnTo>
                  <a:pt x="146" y="932"/>
                </a:lnTo>
                <a:lnTo>
                  <a:pt x="156" y="913"/>
                </a:lnTo>
                <a:lnTo>
                  <a:pt x="166" y="894"/>
                </a:lnTo>
                <a:lnTo>
                  <a:pt x="176" y="876"/>
                </a:lnTo>
                <a:lnTo>
                  <a:pt x="185" y="857"/>
                </a:lnTo>
                <a:lnTo>
                  <a:pt x="194" y="839"/>
                </a:lnTo>
                <a:lnTo>
                  <a:pt x="202" y="820"/>
                </a:lnTo>
                <a:lnTo>
                  <a:pt x="209" y="801"/>
                </a:lnTo>
                <a:lnTo>
                  <a:pt x="215" y="783"/>
                </a:lnTo>
                <a:lnTo>
                  <a:pt x="221" y="764"/>
                </a:lnTo>
                <a:lnTo>
                  <a:pt x="226" y="745"/>
                </a:lnTo>
                <a:lnTo>
                  <a:pt x="231" y="727"/>
                </a:lnTo>
                <a:lnTo>
                  <a:pt x="236" y="708"/>
                </a:lnTo>
                <a:lnTo>
                  <a:pt x="241" y="689"/>
                </a:lnTo>
                <a:lnTo>
                  <a:pt x="247" y="671"/>
                </a:lnTo>
                <a:lnTo>
                  <a:pt x="253" y="652"/>
                </a:lnTo>
                <a:lnTo>
                  <a:pt x="259" y="634"/>
                </a:lnTo>
                <a:lnTo>
                  <a:pt x="266" y="615"/>
                </a:lnTo>
                <a:lnTo>
                  <a:pt x="274" y="596"/>
                </a:lnTo>
                <a:lnTo>
                  <a:pt x="282" y="578"/>
                </a:lnTo>
                <a:lnTo>
                  <a:pt x="290" y="559"/>
                </a:lnTo>
                <a:lnTo>
                  <a:pt x="298" y="540"/>
                </a:lnTo>
                <a:lnTo>
                  <a:pt x="306" y="522"/>
                </a:lnTo>
                <a:lnTo>
                  <a:pt x="313" y="503"/>
                </a:lnTo>
                <a:lnTo>
                  <a:pt x="321" y="484"/>
                </a:lnTo>
                <a:lnTo>
                  <a:pt x="329" y="466"/>
                </a:lnTo>
                <a:lnTo>
                  <a:pt x="336" y="447"/>
                </a:lnTo>
                <a:lnTo>
                  <a:pt x="343" y="429"/>
                </a:lnTo>
                <a:lnTo>
                  <a:pt x="350" y="410"/>
                </a:lnTo>
                <a:lnTo>
                  <a:pt x="357" y="391"/>
                </a:lnTo>
                <a:lnTo>
                  <a:pt x="364" y="373"/>
                </a:lnTo>
                <a:lnTo>
                  <a:pt x="371" y="354"/>
                </a:lnTo>
                <a:lnTo>
                  <a:pt x="378" y="335"/>
                </a:lnTo>
                <a:lnTo>
                  <a:pt x="386" y="317"/>
                </a:lnTo>
                <a:lnTo>
                  <a:pt x="394" y="298"/>
                </a:lnTo>
                <a:lnTo>
                  <a:pt x="402" y="279"/>
                </a:lnTo>
                <a:lnTo>
                  <a:pt x="410" y="261"/>
                </a:lnTo>
                <a:lnTo>
                  <a:pt x="419" y="242"/>
                </a:lnTo>
                <a:lnTo>
                  <a:pt x="429" y="223"/>
                </a:lnTo>
                <a:lnTo>
                  <a:pt x="439" y="205"/>
                </a:lnTo>
                <a:lnTo>
                  <a:pt x="450" y="186"/>
                </a:lnTo>
                <a:lnTo>
                  <a:pt x="461" y="168"/>
                </a:lnTo>
                <a:lnTo>
                  <a:pt x="472" y="149"/>
                </a:lnTo>
                <a:lnTo>
                  <a:pt x="482" y="130"/>
                </a:lnTo>
                <a:lnTo>
                  <a:pt x="492" y="112"/>
                </a:lnTo>
                <a:lnTo>
                  <a:pt x="502" y="93"/>
                </a:lnTo>
                <a:lnTo>
                  <a:pt x="510" y="74"/>
                </a:lnTo>
                <a:lnTo>
                  <a:pt x="517" y="56"/>
                </a:lnTo>
                <a:lnTo>
                  <a:pt x="523" y="37"/>
                </a:lnTo>
                <a:lnTo>
                  <a:pt x="528" y="18"/>
                </a:lnTo>
                <a:lnTo>
                  <a:pt x="532" y="0"/>
                </a:lnTo>
                <a:lnTo>
                  <a:pt x="548" y="0"/>
                </a:lnTo>
                <a:lnTo>
                  <a:pt x="552" y="18"/>
                </a:lnTo>
                <a:lnTo>
                  <a:pt x="557" y="37"/>
                </a:lnTo>
                <a:lnTo>
                  <a:pt x="563" y="56"/>
                </a:lnTo>
                <a:lnTo>
                  <a:pt x="570" y="74"/>
                </a:lnTo>
                <a:lnTo>
                  <a:pt x="578" y="93"/>
                </a:lnTo>
                <a:lnTo>
                  <a:pt x="588" y="112"/>
                </a:lnTo>
                <a:lnTo>
                  <a:pt x="598" y="130"/>
                </a:lnTo>
                <a:lnTo>
                  <a:pt x="608" y="149"/>
                </a:lnTo>
                <a:lnTo>
                  <a:pt x="619" y="168"/>
                </a:lnTo>
                <a:lnTo>
                  <a:pt x="630" y="186"/>
                </a:lnTo>
                <a:lnTo>
                  <a:pt x="641" y="205"/>
                </a:lnTo>
                <a:lnTo>
                  <a:pt x="651" y="223"/>
                </a:lnTo>
                <a:lnTo>
                  <a:pt x="661" y="242"/>
                </a:lnTo>
                <a:lnTo>
                  <a:pt x="670" y="261"/>
                </a:lnTo>
                <a:lnTo>
                  <a:pt x="678" y="279"/>
                </a:lnTo>
                <a:lnTo>
                  <a:pt x="686" y="298"/>
                </a:lnTo>
                <a:lnTo>
                  <a:pt x="694" y="317"/>
                </a:lnTo>
                <a:lnTo>
                  <a:pt x="702" y="335"/>
                </a:lnTo>
                <a:lnTo>
                  <a:pt x="709" y="354"/>
                </a:lnTo>
                <a:lnTo>
                  <a:pt x="716" y="373"/>
                </a:lnTo>
                <a:lnTo>
                  <a:pt x="723" y="391"/>
                </a:lnTo>
                <a:lnTo>
                  <a:pt x="730" y="410"/>
                </a:lnTo>
                <a:lnTo>
                  <a:pt x="737" y="429"/>
                </a:lnTo>
                <a:lnTo>
                  <a:pt x="744" y="447"/>
                </a:lnTo>
                <a:lnTo>
                  <a:pt x="751" y="466"/>
                </a:lnTo>
                <a:lnTo>
                  <a:pt x="759" y="484"/>
                </a:lnTo>
                <a:lnTo>
                  <a:pt x="767" y="503"/>
                </a:lnTo>
                <a:lnTo>
                  <a:pt x="774" y="522"/>
                </a:lnTo>
                <a:lnTo>
                  <a:pt x="782" y="540"/>
                </a:lnTo>
                <a:lnTo>
                  <a:pt x="790" y="559"/>
                </a:lnTo>
                <a:lnTo>
                  <a:pt x="798" y="578"/>
                </a:lnTo>
                <a:lnTo>
                  <a:pt x="806" y="596"/>
                </a:lnTo>
                <a:lnTo>
                  <a:pt x="814" y="615"/>
                </a:lnTo>
                <a:lnTo>
                  <a:pt x="821" y="634"/>
                </a:lnTo>
                <a:lnTo>
                  <a:pt x="827" y="652"/>
                </a:lnTo>
                <a:lnTo>
                  <a:pt x="833" y="671"/>
                </a:lnTo>
                <a:lnTo>
                  <a:pt x="839" y="689"/>
                </a:lnTo>
                <a:lnTo>
                  <a:pt x="844" y="708"/>
                </a:lnTo>
                <a:lnTo>
                  <a:pt x="849" y="727"/>
                </a:lnTo>
                <a:lnTo>
                  <a:pt x="854" y="745"/>
                </a:lnTo>
                <a:lnTo>
                  <a:pt x="859" y="764"/>
                </a:lnTo>
                <a:lnTo>
                  <a:pt x="865" y="783"/>
                </a:lnTo>
                <a:lnTo>
                  <a:pt x="871" y="801"/>
                </a:lnTo>
                <a:lnTo>
                  <a:pt x="878" y="820"/>
                </a:lnTo>
                <a:lnTo>
                  <a:pt x="886" y="839"/>
                </a:lnTo>
                <a:lnTo>
                  <a:pt x="895" y="857"/>
                </a:lnTo>
                <a:lnTo>
                  <a:pt x="904" y="876"/>
                </a:lnTo>
                <a:lnTo>
                  <a:pt x="914" y="894"/>
                </a:lnTo>
                <a:lnTo>
                  <a:pt x="924" y="913"/>
                </a:lnTo>
                <a:lnTo>
                  <a:pt x="934" y="932"/>
                </a:lnTo>
                <a:lnTo>
                  <a:pt x="945" y="950"/>
                </a:lnTo>
                <a:lnTo>
                  <a:pt x="956" y="969"/>
                </a:lnTo>
                <a:lnTo>
                  <a:pt x="966" y="988"/>
                </a:lnTo>
                <a:lnTo>
                  <a:pt x="977" y="1006"/>
                </a:lnTo>
                <a:lnTo>
                  <a:pt x="987" y="1025"/>
                </a:lnTo>
                <a:lnTo>
                  <a:pt x="997" y="1044"/>
                </a:lnTo>
                <a:lnTo>
                  <a:pt x="1007" y="1062"/>
                </a:lnTo>
                <a:lnTo>
                  <a:pt x="1016" y="1081"/>
                </a:lnTo>
                <a:lnTo>
                  <a:pt x="1026" y="1100"/>
                </a:lnTo>
                <a:lnTo>
                  <a:pt x="1035" y="1118"/>
                </a:lnTo>
                <a:lnTo>
                  <a:pt x="1043" y="1137"/>
                </a:lnTo>
                <a:lnTo>
                  <a:pt x="1051" y="1155"/>
                </a:lnTo>
                <a:lnTo>
                  <a:pt x="1059" y="1174"/>
                </a:lnTo>
                <a:lnTo>
                  <a:pt x="1065" y="1193"/>
                </a:lnTo>
                <a:lnTo>
                  <a:pt x="1070" y="1211"/>
                </a:lnTo>
                <a:lnTo>
                  <a:pt x="1075" y="1230"/>
                </a:lnTo>
                <a:lnTo>
                  <a:pt x="1077" y="1249"/>
                </a:lnTo>
                <a:lnTo>
                  <a:pt x="1079" y="1267"/>
                </a:lnTo>
                <a:lnTo>
                  <a:pt x="1080" y="1286"/>
                </a:lnTo>
                <a:lnTo>
                  <a:pt x="1080" y="1305"/>
                </a:lnTo>
                <a:lnTo>
                  <a:pt x="1079" y="1323"/>
                </a:lnTo>
                <a:lnTo>
                  <a:pt x="1078" y="1342"/>
                </a:lnTo>
                <a:lnTo>
                  <a:pt x="1077" y="1360"/>
                </a:lnTo>
                <a:lnTo>
                  <a:pt x="1076" y="1379"/>
                </a:lnTo>
                <a:lnTo>
                  <a:pt x="1075" y="1398"/>
                </a:lnTo>
                <a:lnTo>
                  <a:pt x="1075" y="1416"/>
                </a:lnTo>
                <a:lnTo>
                  <a:pt x="1074" y="1435"/>
                </a:lnTo>
                <a:lnTo>
                  <a:pt x="1073" y="1454"/>
                </a:lnTo>
                <a:lnTo>
                  <a:pt x="1071" y="1472"/>
                </a:lnTo>
                <a:lnTo>
                  <a:pt x="1069" y="1491"/>
                </a:lnTo>
                <a:lnTo>
                  <a:pt x="1065" y="1510"/>
                </a:lnTo>
                <a:lnTo>
                  <a:pt x="1060" y="1528"/>
                </a:lnTo>
                <a:lnTo>
                  <a:pt x="1054" y="1547"/>
                </a:lnTo>
                <a:lnTo>
                  <a:pt x="1047" y="1565"/>
                </a:lnTo>
                <a:lnTo>
                  <a:pt x="1039" y="1584"/>
                </a:lnTo>
                <a:lnTo>
                  <a:pt x="1031" y="1603"/>
                </a:lnTo>
                <a:lnTo>
                  <a:pt x="1023" y="1621"/>
                </a:lnTo>
                <a:lnTo>
                  <a:pt x="1014" y="1640"/>
                </a:lnTo>
                <a:lnTo>
                  <a:pt x="1005" y="1659"/>
                </a:lnTo>
                <a:lnTo>
                  <a:pt x="997" y="1677"/>
                </a:lnTo>
                <a:lnTo>
                  <a:pt x="989" y="1696"/>
                </a:lnTo>
                <a:lnTo>
                  <a:pt x="981" y="1715"/>
                </a:lnTo>
                <a:lnTo>
                  <a:pt x="973" y="1733"/>
                </a:lnTo>
                <a:lnTo>
                  <a:pt x="965" y="1752"/>
                </a:lnTo>
                <a:lnTo>
                  <a:pt x="958" y="1771"/>
                </a:lnTo>
                <a:lnTo>
                  <a:pt x="950" y="1789"/>
                </a:lnTo>
                <a:lnTo>
                  <a:pt x="943" y="1808"/>
                </a:lnTo>
                <a:lnTo>
                  <a:pt x="935" y="1826"/>
                </a:lnTo>
                <a:lnTo>
                  <a:pt x="926" y="1845"/>
                </a:lnTo>
                <a:lnTo>
                  <a:pt x="917" y="1864"/>
                </a:lnTo>
                <a:lnTo>
                  <a:pt x="908" y="1882"/>
                </a:lnTo>
                <a:lnTo>
                  <a:pt x="898" y="1901"/>
                </a:lnTo>
                <a:lnTo>
                  <a:pt x="887" y="1920"/>
                </a:lnTo>
                <a:lnTo>
                  <a:pt x="876" y="1938"/>
                </a:lnTo>
                <a:lnTo>
                  <a:pt x="865" y="1957"/>
                </a:lnTo>
                <a:lnTo>
                  <a:pt x="854" y="1976"/>
                </a:lnTo>
                <a:lnTo>
                  <a:pt x="843" y="1994"/>
                </a:lnTo>
                <a:lnTo>
                  <a:pt x="833" y="2013"/>
                </a:lnTo>
                <a:lnTo>
                  <a:pt x="823" y="2031"/>
                </a:lnTo>
                <a:lnTo>
                  <a:pt x="813" y="2050"/>
                </a:lnTo>
                <a:lnTo>
                  <a:pt x="803" y="2069"/>
                </a:lnTo>
                <a:lnTo>
                  <a:pt x="793" y="2087"/>
                </a:lnTo>
                <a:lnTo>
                  <a:pt x="783" y="2106"/>
                </a:lnTo>
                <a:lnTo>
                  <a:pt x="772" y="2125"/>
                </a:lnTo>
                <a:lnTo>
                  <a:pt x="762" y="2143"/>
                </a:lnTo>
                <a:lnTo>
                  <a:pt x="751" y="2162"/>
                </a:lnTo>
                <a:lnTo>
                  <a:pt x="740" y="2181"/>
                </a:lnTo>
                <a:lnTo>
                  <a:pt x="728" y="2199"/>
                </a:lnTo>
                <a:lnTo>
                  <a:pt x="717" y="2218"/>
                </a:lnTo>
                <a:lnTo>
                  <a:pt x="705" y="2236"/>
                </a:lnTo>
                <a:lnTo>
                  <a:pt x="693" y="2255"/>
                </a:lnTo>
                <a:lnTo>
                  <a:pt x="682" y="2274"/>
                </a:lnTo>
                <a:lnTo>
                  <a:pt x="671" y="2292"/>
                </a:lnTo>
                <a:lnTo>
                  <a:pt x="660" y="2311"/>
                </a:lnTo>
                <a:lnTo>
                  <a:pt x="649" y="2330"/>
                </a:lnTo>
                <a:lnTo>
                  <a:pt x="639" y="2348"/>
                </a:lnTo>
                <a:lnTo>
                  <a:pt x="630" y="2367"/>
                </a:lnTo>
                <a:lnTo>
                  <a:pt x="621" y="2386"/>
                </a:lnTo>
                <a:lnTo>
                  <a:pt x="613" y="2404"/>
                </a:lnTo>
                <a:lnTo>
                  <a:pt x="606" y="2423"/>
                </a:lnTo>
                <a:lnTo>
                  <a:pt x="599" y="2442"/>
                </a:lnTo>
                <a:lnTo>
                  <a:pt x="593" y="2460"/>
                </a:lnTo>
                <a:lnTo>
                  <a:pt x="587" y="2479"/>
                </a:lnTo>
                <a:lnTo>
                  <a:pt x="582" y="2497"/>
                </a:lnTo>
                <a:lnTo>
                  <a:pt x="578" y="2516"/>
                </a:lnTo>
                <a:lnTo>
                  <a:pt x="574" y="2535"/>
                </a:lnTo>
                <a:lnTo>
                  <a:pt x="570" y="2553"/>
                </a:lnTo>
                <a:lnTo>
                  <a:pt x="566" y="2572"/>
                </a:lnTo>
                <a:lnTo>
                  <a:pt x="562" y="2591"/>
                </a:lnTo>
                <a:lnTo>
                  <a:pt x="559" y="2609"/>
                </a:lnTo>
                <a:lnTo>
                  <a:pt x="556" y="2628"/>
                </a:lnTo>
                <a:lnTo>
                  <a:pt x="553" y="2647"/>
                </a:lnTo>
                <a:lnTo>
                  <a:pt x="550" y="2665"/>
                </a:lnTo>
                <a:lnTo>
                  <a:pt x="548" y="2684"/>
                </a:lnTo>
                <a:lnTo>
                  <a:pt x="546" y="2702"/>
                </a:lnTo>
                <a:lnTo>
                  <a:pt x="545" y="2721"/>
                </a:lnTo>
                <a:lnTo>
                  <a:pt x="543" y="2740"/>
                </a:lnTo>
                <a:lnTo>
                  <a:pt x="542" y="2758"/>
                </a:lnTo>
                <a:lnTo>
                  <a:pt x="542" y="2777"/>
                </a:lnTo>
                <a:close/>
              </a:path>
            </a:pathLst>
          </a:custGeom>
          <a:solidFill>
            <a:srgbClr val="DCE8F8"/>
          </a:solidFill>
          <a:ln w="9525">
            <a:solidFill>
              <a:srgbClr val="82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Box_CurveFaultA_Whisker"/>
          <p:cNvCxnSpPr/>
          <p:nvPr/>
        </p:nvCxnSpPr>
        <p:spPr>
          <a:xfrm flipV="1">
            <a:off x="9631205" y="665603"/>
            <a:ext cx="0" cy="2316139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ox_CurveFaultA_LowerCap"/>
          <p:cNvCxnSpPr/>
          <p:nvPr/>
        </p:nvCxnSpPr>
        <p:spPr>
          <a:xfrm>
            <a:off x="9494045" y="2981742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Box_CurveFaultA_UpperCap"/>
          <p:cNvCxnSpPr/>
          <p:nvPr/>
        </p:nvCxnSpPr>
        <p:spPr>
          <a:xfrm>
            <a:off x="9494045" y="665603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Box_CurveFaultA_IQR"/>
          <p:cNvSpPr/>
          <p:nvPr/>
        </p:nvSpPr>
        <p:spPr>
          <a:xfrm>
            <a:off x="9487186" y="1407966"/>
            <a:ext cx="288036" cy="698045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Box_CurveFaultA_Median"/>
          <p:cNvCxnSpPr/>
          <p:nvPr/>
        </p:nvCxnSpPr>
        <p:spPr>
          <a:xfrm>
            <a:off x="9343169" y="1764848"/>
            <a:ext cx="576072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Label_CurveFaultA"/>
          <p:cNvSpPr txBox="1"/>
          <p:nvPr/>
        </p:nvSpPr>
        <p:spPr>
          <a:xfrm>
            <a:off x="9342859" y="3082325"/>
            <a:ext cx="57669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CFA</a:t>
            </a:r>
            <a:endParaRPr sz="2400" b="0" i="0" dirty="0">
              <a:latin typeface="Times New Roman"/>
            </a:endParaRPr>
          </a:p>
        </p:txBody>
      </p:sp>
      <p:sp>
        <p:nvSpPr>
          <p:cNvPr id="77" name="Violin_CurveFaultB"/>
          <p:cNvSpPr/>
          <p:nvPr/>
        </p:nvSpPr>
        <p:spPr>
          <a:xfrm>
            <a:off x="10509029" y="809998"/>
            <a:ext cx="987552" cy="1885493"/>
          </a:xfrm>
          <a:custGeom>
            <a:avLst/>
            <a:gdLst/>
            <a:ahLst/>
            <a:cxnLst/>
            <a:rect l="l" t="t" r="r" b="b"/>
            <a:pathLst>
              <a:path w="1080" h="2062">
                <a:moveTo>
                  <a:pt x="540" y="2062"/>
                </a:moveTo>
                <a:lnTo>
                  <a:pt x="540" y="2048"/>
                </a:lnTo>
                <a:lnTo>
                  <a:pt x="540" y="2035"/>
                </a:lnTo>
                <a:lnTo>
                  <a:pt x="540" y="2021"/>
                </a:lnTo>
                <a:lnTo>
                  <a:pt x="540" y="2007"/>
                </a:lnTo>
                <a:lnTo>
                  <a:pt x="539" y="1993"/>
                </a:lnTo>
                <a:lnTo>
                  <a:pt x="539" y="1979"/>
                </a:lnTo>
                <a:lnTo>
                  <a:pt x="539" y="1965"/>
                </a:lnTo>
                <a:lnTo>
                  <a:pt x="538" y="1952"/>
                </a:lnTo>
                <a:lnTo>
                  <a:pt x="538" y="1938"/>
                </a:lnTo>
                <a:lnTo>
                  <a:pt x="537" y="1924"/>
                </a:lnTo>
                <a:lnTo>
                  <a:pt x="536" y="1910"/>
                </a:lnTo>
                <a:lnTo>
                  <a:pt x="535" y="1896"/>
                </a:lnTo>
                <a:lnTo>
                  <a:pt x="533" y="1882"/>
                </a:lnTo>
                <a:lnTo>
                  <a:pt x="531" y="1869"/>
                </a:lnTo>
                <a:lnTo>
                  <a:pt x="529" y="1855"/>
                </a:lnTo>
                <a:lnTo>
                  <a:pt x="526" y="1841"/>
                </a:lnTo>
                <a:lnTo>
                  <a:pt x="522" y="1827"/>
                </a:lnTo>
                <a:lnTo>
                  <a:pt x="517" y="1813"/>
                </a:lnTo>
                <a:lnTo>
                  <a:pt x="512" y="1799"/>
                </a:lnTo>
                <a:lnTo>
                  <a:pt x="506" y="1786"/>
                </a:lnTo>
                <a:lnTo>
                  <a:pt x="500" y="1772"/>
                </a:lnTo>
                <a:lnTo>
                  <a:pt x="493" y="1758"/>
                </a:lnTo>
                <a:lnTo>
                  <a:pt x="486" y="1744"/>
                </a:lnTo>
                <a:lnTo>
                  <a:pt x="478" y="1730"/>
                </a:lnTo>
                <a:lnTo>
                  <a:pt x="469" y="1716"/>
                </a:lnTo>
                <a:lnTo>
                  <a:pt x="459" y="1702"/>
                </a:lnTo>
                <a:lnTo>
                  <a:pt x="448" y="1689"/>
                </a:lnTo>
                <a:lnTo>
                  <a:pt x="436" y="1675"/>
                </a:lnTo>
                <a:lnTo>
                  <a:pt x="423" y="1661"/>
                </a:lnTo>
                <a:lnTo>
                  <a:pt x="410" y="1647"/>
                </a:lnTo>
                <a:lnTo>
                  <a:pt x="396" y="1633"/>
                </a:lnTo>
                <a:lnTo>
                  <a:pt x="382" y="1619"/>
                </a:lnTo>
                <a:lnTo>
                  <a:pt x="369" y="1606"/>
                </a:lnTo>
                <a:lnTo>
                  <a:pt x="356" y="1592"/>
                </a:lnTo>
                <a:lnTo>
                  <a:pt x="342" y="1578"/>
                </a:lnTo>
                <a:lnTo>
                  <a:pt x="329" y="1564"/>
                </a:lnTo>
                <a:lnTo>
                  <a:pt x="315" y="1550"/>
                </a:lnTo>
                <a:lnTo>
                  <a:pt x="301" y="1536"/>
                </a:lnTo>
                <a:lnTo>
                  <a:pt x="287" y="1523"/>
                </a:lnTo>
                <a:lnTo>
                  <a:pt x="273" y="1509"/>
                </a:lnTo>
                <a:lnTo>
                  <a:pt x="258" y="1495"/>
                </a:lnTo>
                <a:lnTo>
                  <a:pt x="244" y="1481"/>
                </a:lnTo>
                <a:lnTo>
                  <a:pt x="230" y="1467"/>
                </a:lnTo>
                <a:lnTo>
                  <a:pt x="216" y="1453"/>
                </a:lnTo>
                <a:lnTo>
                  <a:pt x="202" y="1440"/>
                </a:lnTo>
                <a:lnTo>
                  <a:pt x="188" y="1426"/>
                </a:lnTo>
                <a:lnTo>
                  <a:pt x="174" y="1412"/>
                </a:lnTo>
                <a:lnTo>
                  <a:pt x="160" y="1398"/>
                </a:lnTo>
                <a:lnTo>
                  <a:pt x="146" y="1384"/>
                </a:lnTo>
                <a:lnTo>
                  <a:pt x="132" y="1370"/>
                </a:lnTo>
                <a:lnTo>
                  <a:pt x="118" y="1357"/>
                </a:lnTo>
                <a:lnTo>
                  <a:pt x="103" y="1343"/>
                </a:lnTo>
                <a:lnTo>
                  <a:pt x="89" y="1329"/>
                </a:lnTo>
                <a:lnTo>
                  <a:pt x="75" y="1315"/>
                </a:lnTo>
                <a:lnTo>
                  <a:pt x="61" y="1301"/>
                </a:lnTo>
                <a:lnTo>
                  <a:pt x="48" y="1287"/>
                </a:lnTo>
                <a:lnTo>
                  <a:pt x="36" y="1273"/>
                </a:lnTo>
                <a:lnTo>
                  <a:pt x="26" y="1260"/>
                </a:lnTo>
                <a:lnTo>
                  <a:pt x="17" y="1246"/>
                </a:lnTo>
                <a:lnTo>
                  <a:pt x="10" y="1232"/>
                </a:lnTo>
                <a:lnTo>
                  <a:pt x="5" y="1218"/>
                </a:lnTo>
                <a:lnTo>
                  <a:pt x="2" y="1204"/>
                </a:lnTo>
                <a:lnTo>
                  <a:pt x="0" y="1190"/>
                </a:lnTo>
                <a:lnTo>
                  <a:pt x="0" y="1177"/>
                </a:lnTo>
                <a:lnTo>
                  <a:pt x="2" y="1163"/>
                </a:lnTo>
                <a:lnTo>
                  <a:pt x="6" y="1149"/>
                </a:lnTo>
                <a:lnTo>
                  <a:pt x="10" y="1135"/>
                </a:lnTo>
                <a:lnTo>
                  <a:pt x="15" y="1121"/>
                </a:lnTo>
                <a:lnTo>
                  <a:pt x="20" y="1107"/>
                </a:lnTo>
                <a:lnTo>
                  <a:pt x="24" y="1094"/>
                </a:lnTo>
                <a:lnTo>
                  <a:pt x="28" y="1080"/>
                </a:lnTo>
                <a:lnTo>
                  <a:pt x="31" y="1066"/>
                </a:lnTo>
                <a:lnTo>
                  <a:pt x="35" y="1052"/>
                </a:lnTo>
                <a:lnTo>
                  <a:pt x="40" y="1038"/>
                </a:lnTo>
                <a:lnTo>
                  <a:pt x="46" y="1024"/>
                </a:lnTo>
                <a:lnTo>
                  <a:pt x="54" y="1011"/>
                </a:lnTo>
                <a:lnTo>
                  <a:pt x="64" y="997"/>
                </a:lnTo>
                <a:lnTo>
                  <a:pt x="74" y="983"/>
                </a:lnTo>
                <a:lnTo>
                  <a:pt x="86" y="969"/>
                </a:lnTo>
                <a:lnTo>
                  <a:pt x="98" y="955"/>
                </a:lnTo>
                <a:lnTo>
                  <a:pt x="110" y="941"/>
                </a:lnTo>
                <a:lnTo>
                  <a:pt x="124" y="927"/>
                </a:lnTo>
                <a:lnTo>
                  <a:pt x="138" y="914"/>
                </a:lnTo>
                <a:lnTo>
                  <a:pt x="153" y="900"/>
                </a:lnTo>
                <a:lnTo>
                  <a:pt x="168" y="886"/>
                </a:lnTo>
                <a:lnTo>
                  <a:pt x="184" y="872"/>
                </a:lnTo>
                <a:lnTo>
                  <a:pt x="199" y="858"/>
                </a:lnTo>
                <a:lnTo>
                  <a:pt x="213" y="844"/>
                </a:lnTo>
                <a:lnTo>
                  <a:pt x="225" y="831"/>
                </a:lnTo>
                <a:lnTo>
                  <a:pt x="237" y="817"/>
                </a:lnTo>
                <a:lnTo>
                  <a:pt x="248" y="803"/>
                </a:lnTo>
                <a:lnTo>
                  <a:pt x="259" y="789"/>
                </a:lnTo>
                <a:lnTo>
                  <a:pt x="269" y="775"/>
                </a:lnTo>
                <a:lnTo>
                  <a:pt x="281" y="761"/>
                </a:lnTo>
                <a:lnTo>
                  <a:pt x="293" y="748"/>
                </a:lnTo>
                <a:lnTo>
                  <a:pt x="306" y="734"/>
                </a:lnTo>
                <a:lnTo>
                  <a:pt x="320" y="720"/>
                </a:lnTo>
                <a:lnTo>
                  <a:pt x="334" y="706"/>
                </a:lnTo>
                <a:lnTo>
                  <a:pt x="348" y="692"/>
                </a:lnTo>
                <a:lnTo>
                  <a:pt x="362" y="678"/>
                </a:lnTo>
                <a:lnTo>
                  <a:pt x="375" y="665"/>
                </a:lnTo>
                <a:lnTo>
                  <a:pt x="386" y="651"/>
                </a:lnTo>
                <a:lnTo>
                  <a:pt x="396" y="637"/>
                </a:lnTo>
                <a:lnTo>
                  <a:pt x="404" y="623"/>
                </a:lnTo>
                <a:lnTo>
                  <a:pt x="412" y="609"/>
                </a:lnTo>
                <a:lnTo>
                  <a:pt x="418" y="595"/>
                </a:lnTo>
                <a:lnTo>
                  <a:pt x="424" y="581"/>
                </a:lnTo>
                <a:lnTo>
                  <a:pt x="431" y="568"/>
                </a:lnTo>
                <a:lnTo>
                  <a:pt x="438" y="554"/>
                </a:lnTo>
                <a:lnTo>
                  <a:pt x="445" y="540"/>
                </a:lnTo>
                <a:lnTo>
                  <a:pt x="453" y="526"/>
                </a:lnTo>
                <a:lnTo>
                  <a:pt x="461" y="512"/>
                </a:lnTo>
                <a:lnTo>
                  <a:pt x="469" y="498"/>
                </a:lnTo>
                <a:lnTo>
                  <a:pt x="477" y="485"/>
                </a:lnTo>
                <a:lnTo>
                  <a:pt x="484" y="471"/>
                </a:lnTo>
                <a:lnTo>
                  <a:pt x="491" y="457"/>
                </a:lnTo>
                <a:lnTo>
                  <a:pt x="497" y="443"/>
                </a:lnTo>
                <a:lnTo>
                  <a:pt x="501" y="429"/>
                </a:lnTo>
                <a:lnTo>
                  <a:pt x="505" y="415"/>
                </a:lnTo>
                <a:lnTo>
                  <a:pt x="509" y="402"/>
                </a:lnTo>
                <a:lnTo>
                  <a:pt x="511" y="388"/>
                </a:lnTo>
                <a:lnTo>
                  <a:pt x="513" y="374"/>
                </a:lnTo>
                <a:lnTo>
                  <a:pt x="516" y="360"/>
                </a:lnTo>
                <a:lnTo>
                  <a:pt x="518" y="346"/>
                </a:lnTo>
                <a:lnTo>
                  <a:pt x="520" y="332"/>
                </a:lnTo>
                <a:lnTo>
                  <a:pt x="522" y="319"/>
                </a:lnTo>
                <a:lnTo>
                  <a:pt x="524" y="305"/>
                </a:lnTo>
                <a:lnTo>
                  <a:pt x="526" y="291"/>
                </a:lnTo>
                <a:lnTo>
                  <a:pt x="528" y="277"/>
                </a:lnTo>
                <a:lnTo>
                  <a:pt x="530" y="263"/>
                </a:lnTo>
                <a:lnTo>
                  <a:pt x="532" y="249"/>
                </a:lnTo>
                <a:lnTo>
                  <a:pt x="533" y="235"/>
                </a:lnTo>
                <a:lnTo>
                  <a:pt x="534" y="222"/>
                </a:lnTo>
                <a:lnTo>
                  <a:pt x="535" y="208"/>
                </a:lnTo>
                <a:lnTo>
                  <a:pt x="536" y="194"/>
                </a:lnTo>
                <a:lnTo>
                  <a:pt x="536" y="180"/>
                </a:lnTo>
                <a:lnTo>
                  <a:pt x="536" y="166"/>
                </a:lnTo>
                <a:lnTo>
                  <a:pt x="537" y="152"/>
                </a:lnTo>
                <a:lnTo>
                  <a:pt x="537" y="139"/>
                </a:lnTo>
                <a:lnTo>
                  <a:pt x="538" y="125"/>
                </a:lnTo>
                <a:lnTo>
                  <a:pt x="538" y="111"/>
                </a:lnTo>
                <a:lnTo>
                  <a:pt x="539" y="97"/>
                </a:lnTo>
                <a:lnTo>
                  <a:pt x="539" y="83"/>
                </a:lnTo>
                <a:lnTo>
                  <a:pt x="539" y="69"/>
                </a:lnTo>
                <a:lnTo>
                  <a:pt x="540" y="56"/>
                </a:lnTo>
                <a:lnTo>
                  <a:pt x="540" y="42"/>
                </a:lnTo>
                <a:lnTo>
                  <a:pt x="540" y="28"/>
                </a:lnTo>
                <a:lnTo>
                  <a:pt x="540" y="14"/>
                </a:lnTo>
                <a:lnTo>
                  <a:pt x="540" y="0"/>
                </a:lnTo>
                <a:lnTo>
                  <a:pt x="540" y="0"/>
                </a:lnTo>
                <a:lnTo>
                  <a:pt x="540" y="14"/>
                </a:lnTo>
                <a:lnTo>
                  <a:pt x="540" y="28"/>
                </a:lnTo>
                <a:lnTo>
                  <a:pt x="540" y="42"/>
                </a:lnTo>
                <a:lnTo>
                  <a:pt x="540" y="56"/>
                </a:lnTo>
                <a:lnTo>
                  <a:pt x="541" y="69"/>
                </a:lnTo>
                <a:lnTo>
                  <a:pt x="541" y="83"/>
                </a:lnTo>
                <a:lnTo>
                  <a:pt x="541" y="97"/>
                </a:lnTo>
                <a:lnTo>
                  <a:pt x="542" y="111"/>
                </a:lnTo>
                <a:lnTo>
                  <a:pt x="542" y="125"/>
                </a:lnTo>
                <a:lnTo>
                  <a:pt x="543" y="139"/>
                </a:lnTo>
                <a:lnTo>
                  <a:pt x="543" y="152"/>
                </a:lnTo>
                <a:lnTo>
                  <a:pt x="544" y="166"/>
                </a:lnTo>
                <a:lnTo>
                  <a:pt x="544" y="180"/>
                </a:lnTo>
                <a:lnTo>
                  <a:pt x="544" y="194"/>
                </a:lnTo>
                <a:lnTo>
                  <a:pt x="545" y="208"/>
                </a:lnTo>
                <a:lnTo>
                  <a:pt x="546" y="222"/>
                </a:lnTo>
                <a:lnTo>
                  <a:pt x="547" y="235"/>
                </a:lnTo>
                <a:lnTo>
                  <a:pt x="548" y="249"/>
                </a:lnTo>
                <a:lnTo>
                  <a:pt x="550" y="263"/>
                </a:lnTo>
                <a:lnTo>
                  <a:pt x="552" y="277"/>
                </a:lnTo>
                <a:lnTo>
                  <a:pt x="554" y="291"/>
                </a:lnTo>
                <a:lnTo>
                  <a:pt x="556" y="305"/>
                </a:lnTo>
                <a:lnTo>
                  <a:pt x="558" y="319"/>
                </a:lnTo>
                <a:lnTo>
                  <a:pt x="560" y="332"/>
                </a:lnTo>
                <a:lnTo>
                  <a:pt x="562" y="346"/>
                </a:lnTo>
                <a:lnTo>
                  <a:pt x="564" y="360"/>
                </a:lnTo>
                <a:lnTo>
                  <a:pt x="567" y="374"/>
                </a:lnTo>
                <a:lnTo>
                  <a:pt x="569" y="388"/>
                </a:lnTo>
                <a:lnTo>
                  <a:pt x="571" y="402"/>
                </a:lnTo>
                <a:lnTo>
                  <a:pt x="575" y="415"/>
                </a:lnTo>
                <a:lnTo>
                  <a:pt x="579" y="429"/>
                </a:lnTo>
                <a:lnTo>
                  <a:pt x="583" y="443"/>
                </a:lnTo>
                <a:lnTo>
                  <a:pt x="589" y="457"/>
                </a:lnTo>
                <a:lnTo>
                  <a:pt x="596" y="471"/>
                </a:lnTo>
                <a:lnTo>
                  <a:pt x="603" y="485"/>
                </a:lnTo>
                <a:lnTo>
                  <a:pt x="611" y="498"/>
                </a:lnTo>
                <a:lnTo>
                  <a:pt x="619" y="512"/>
                </a:lnTo>
                <a:lnTo>
                  <a:pt x="627" y="526"/>
                </a:lnTo>
                <a:lnTo>
                  <a:pt x="635" y="540"/>
                </a:lnTo>
                <a:lnTo>
                  <a:pt x="642" y="554"/>
                </a:lnTo>
                <a:lnTo>
                  <a:pt x="649" y="568"/>
                </a:lnTo>
                <a:lnTo>
                  <a:pt x="656" y="581"/>
                </a:lnTo>
                <a:lnTo>
                  <a:pt x="662" y="595"/>
                </a:lnTo>
                <a:lnTo>
                  <a:pt x="668" y="609"/>
                </a:lnTo>
                <a:lnTo>
                  <a:pt x="676" y="623"/>
                </a:lnTo>
                <a:lnTo>
                  <a:pt x="684" y="637"/>
                </a:lnTo>
                <a:lnTo>
                  <a:pt x="694" y="651"/>
                </a:lnTo>
                <a:lnTo>
                  <a:pt x="705" y="665"/>
                </a:lnTo>
                <a:lnTo>
                  <a:pt x="718" y="678"/>
                </a:lnTo>
                <a:lnTo>
                  <a:pt x="732" y="692"/>
                </a:lnTo>
                <a:lnTo>
                  <a:pt x="746" y="706"/>
                </a:lnTo>
                <a:lnTo>
                  <a:pt x="760" y="720"/>
                </a:lnTo>
                <a:lnTo>
                  <a:pt x="774" y="734"/>
                </a:lnTo>
                <a:lnTo>
                  <a:pt x="787" y="748"/>
                </a:lnTo>
                <a:lnTo>
                  <a:pt x="799" y="761"/>
                </a:lnTo>
                <a:lnTo>
                  <a:pt x="811" y="775"/>
                </a:lnTo>
                <a:lnTo>
                  <a:pt x="821" y="789"/>
                </a:lnTo>
                <a:lnTo>
                  <a:pt x="832" y="803"/>
                </a:lnTo>
                <a:lnTo>
                  <a:pt x="843" y="817"/>
                </a:lnTo>
                <a:lnTo>
                  <a:pt x="855" y="831"/>
                </a:lnTo>
                <a:lnTo>
                  <a:pt x="867" y="844"/>
                </a:lnTo>
                <a:lnTo>
                  <a:pt x="881" y="858"/>
                </a:lnTo>
                <a:lnTo>
                  <a:pt x="896" y="872"/>
                </a:lnTo>
                <a:lnTo>
                  <a:pt x="912" y="886"/>
                </a:lnTo>
                <a:lnTo>
                  <a:pt x="927" y="900"/>
                </a:lnTo>
                <a:lnTo>
                  <a:pt x="942" y="914"/>
                </a:lnTo>
                <a:lnTo>
                  <a:pt x="956" y="927"/>
                </a:lnTo>
                <a:lnTo>
                  <a:pt x="970" y="941"/>
                </a:lnTo>
                <a:lnTo>
                  <a:pt x="982" y="955"/>
                </a:lnTo>
                <a:lnTo>
                  <a:pt x="994" y="969"/>
                </a:lnTo>
                <a:lnTo>
                  <a:pt x="1006" y="983"/>
                </a:lnTo>
                <a:lnTo>
                  <a:pt x="1016" y="997"/>
                </a:lnTo>
                <a:lnTo>
                  <a:pt x="1026" y="1011"/>
                </a:lnTo>
                <a:lnTo>
                  <a:pt x="1034" y="1024"/>
                </a:lnTo>
                <a:lnTo>
                  <a:pt x="1040" y="1038"/>
                </a:lnTo>
                <a:lnTo>
                  <a:pt x="1045" y="1052"/>
                </a:lnTo>
                <a:lnTo>
                  <a:pt x="1049" y="1066"/>
                </a:lnTo>
                <a:lnTo>
                  <a:pt x="1052" y="1080"/>
                </a:lnTo>
                <a:lnTo>
                  <a:pt x="1056" y="1094"/>
                </a:lnTo>
                <a:lnTo>
                  <a:pt x="1060" y="1107"/>
                </a:lnTo>
                <a:lnTo>
                  <a:pt x="1065" y="1121"/>
                </a:lnTo>
                <a:lnTo>
                  <a:pt x="1070" y="1135"/>
                </a:lnTo>
                <a:lnTo>
                  <a:pt x="1074" y="1149"/>
                </a:lnTo>
                <a:lnTo>
                  <a:pt x="1078" y="1163"/>
                </a:lnTo>
                <a:lnTo>
                  <a:pt x="1080" y="1177"/>
                </a:lnTo>
                <a:lnTo>
                  <a:pt x="1080" y="1190"/>
                </a:lnTo>
                <a:lnTo>
                  <a:pt x="1078" y="1204"/>
                </a:lnTo>
                <a:lnTo>
                  <a:pt x="1075" y="1218"/>
                </a:lnTo>
                <a:lnTo>
                  <a:pt x="1070" y="1232"/>
                </a:lnTo>
                <a:lnTo>
                  <a:pt x="1063" y="1246"/>
                </a:lnTo>
                <a:lnTo>
                  <a:pt x="1054" y="1260"/>
                </a:lnTo>
                <a:lnTo>
                  <a:pt x="1044" y="1273"/>
                </a:lnTo>
                <a:lnTo>
                  <a:pt x="1032" y="1287"/>
                </a:lnTo>
                <a:lnTo>
                  <a:pt x="1019" y="1301"/>
                </a:lnTo>
                <a:lnTo>
                  <a:pt x="1005" y="1315"/>
                </a:lnTo>
                <a:lnTo>
                  <a:pt x="991" y="1329"/>
                </a:lnTo>
                <a:lnTo>
                  <a:pt x="977" y="1343"/>
                </a:lnTo>
                <a:lnTo>
                  <a:pt x="962" y="1357"/>
                </a:lnTo>
                <a:lnTo>
                  <a:pt x="948" y="1370"/>
                </a:lnTo>
                <a:lnTo>
                  <a:pt x="934" y="1384"/>
                </a:lnTo>
                <a:lnTo>
                  <a:pt x="920" y="1398"/>
                </a:lnTo>
                <a:lnTo>
                  <a:pt x="906" y="1412"/>
                </a:lnTo>
                <a:lnTo>
                  <a:pt x="892" y="1426"/>
                </a:lnTo>
                <a:lnTo>
                  <a:pt x="878" y="1440"/>
                </a:lnTo>
                <a:lnTo>
                  <a:pt x="864" y="1453"/>
                </a:lnTo>
                <a:lnTo>
                  <a:pt x="850" y="1467"/>
                </a:lnTo>
                <a:lnTo>
                  <a:pt x="836" y="1481"/>
                </a:lnTo>
                <a:lnTo>
                  <a:pt x="822" y="1495"/>
                </a:lnTo>
                <a:lnTo>
                  <a:pt x="807" y="1509"/>
                </a:lnTo>
                <a:lnTo>
                  <a:pt x="793" y="1523"/>
                </a:lnTo>
                <a:lnTo>
                  <a:pt x="779" y="1536"/>
                </a:lnTo>
                <a:lnTo>
                  <a:pt x="765" y="1550"/>
                </a:lnTo>
                <a:lnTo>
                  <a:pt x="751" y="1564"/>
                </a:lnTo>
                <a:lnTo>
                  <a:pt x="738" y="1578"/>
                </a:lnTo>
                <a:lnTo>
                  <a:pt x="724" y="1592"/>
                </a:lnTo>
                <a:lnTo>
                  <a:pt x="711" y="1606"/>
                </a:lnTo>
                <a:lnTo>
                  <a:pt x="698" y="1619"/>
                </a:lnTo>
                <a:lnTo>
                  <a:pt x="684" y="1633"/>
                </a:lnTo>
                <a:lnTo>
                  <a:pt x="670" y="1647"/>
                </a:lnTo>
                <a:lnTo>
                  <a:pt x="657" y="1661"/>
                </a:lnTo>
                <a:lnTo>
                  <a:pt x="644" y="1675"/>
                </a:lnTo>
                <a:lnTo>
                  <a:pt x="632" y="1689"/>
                </a:lnTo>
                <a:lnTo>
                  <a:pt x="621" y="1702"/>
                </a:lnTo>
                <a:lnTo>
                  <a:pt x="611" y="1716"/>
                </a:lnTo>
                <a:lnTo>
                  <a:pt x="602" y="1730"/>
                </a:lnTo>
                <a:lnTo>
                  <a:pt x="594" y="1744"/>
                </a:lnTo>
                <a:lnTo>
                  <a:pt x="587" y="1758"/>
                </a:lnTo>
                <a:lnTo>
                  <a:pt x="580" y="1772"/>
                </a:lnTo>
                <a:lnTo>
                  <a:pt x="574" y="1786"/>
                </a:lnTo>
                <a:lnTo>
                  <a:pt x="568" y="1799"/>
                </a:lnTo>
                <a:lnTo>
                  <a:pt x="563" y="1813"/>
                </a:lnTo>
                <a:lnTo>
                  <a:pt x="558" y="1827"/>
                </a:lnTo>
                <a:lnTo>
                  <a:pt x="554" y="1841"/>
                </a:lnTo>
                <a:lnTo>
                  <a:pt x="551" y="1855"/>
                </a:lnTo>
                <a:lnTo>
                  <a:pt x="549" y="1869"/>
                </a:lnTo>
                <a:lnTo>
                  <a:pt x="547" y="1882"/>
                </a:lnTo>
                <a:lnTo>
                  <a:pt x="545" y="1896"/>
                </a:lnTo>
                <a:lnTo>
                  <a:pt x="544" y="1910"/>
                </a:lnTo>
                <a:lnTo>
                  <a:pt x="543" y="1924"/>
                </a:lnTo>
                <a:lnTo>
                  <a:pt x="542" y="1938"/>
                </a:lnTo>
                <a:lnTo>
                  <a:pt x="542" y="1952"/>
                </a:lnTo>
                <a:lnTo>
                  <a:pt x="541" y="1965"/>
                </a:lnTo>
                <a:lnTo>
                  <a:pt x="541" y="1979"/>
                </a:lnTo>
                <a:lnTo>
                  <a:pt x="541" y="1993"/>
                </a:lnTo>
                <a:lnTo>
                  <a:pt x="540" y="2007"/>
                </a:lnTo>
                <a:lnTo>
                  <a:pt x="540" y="2021"/>
                </a:lnTo>
                <a:lnTo>
                  <a:pt x="540" y="2035"/>
                </a:lnTo>
                <a:lnTo>
                  <a:pt x="540" y="2048"/>
                </a:lnTo>
                <a:lnTo>
                  <a:pt x="540" y="2062"/>
                </a:lnTo>
                <a:close/>
              </a:path>
            </a:pathLst>
          </a:custGeom>
          <a:solidFill>
            <a:srgbClr val="DCE8F8"/>
          </a:solidFill>
          <a:ln w="9525">
            <a:solidFill>
              <a:srgbClr val="82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Box_CurveFaultB_Whisker"/>
          <p:cNvCxnSpPr/>
          <p:nvPr/>
        </p:nvCxnSpPr>
        <p:spPr>
          <a:xfrm flipV="1">
            <a:off x="11002805" y="1106955"/>
            <a:ext cx="0" cy="1467898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Box_CurveFaultB_LowerCap"/>
          <p:cNvCxnSpPr/>
          <p:nvPr/>
        </p:nvCxnSpPr>
        <p:spPr>
          <a:xfrm>
            <a:off x="10865645" y="2574853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Box_CurveFaultB_UpperCap"/>
          <p:cNvCxnSpPr/>
          <p:nvPr/>
        </p:nvCxnSpPr>
        <p:spPr>
          <a:xfrm>
            <a:off x="10865645" y="1106955"/>
            <a:ext cx="274320" cy="0"/>
          </a:xfrm>
          <a:prstGeom prst="line">
            <a:avLst/>
          </a:prstGeom>
          <a:ln w="9525">
            <a:solidFill>
              <a:srgbClr val="4C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ox_CurveFaultB_IQR"/>
          <p:cNvSpPr/>
          <p:nvPr/>
        </p:nvSpPr>
        <p:spPr>
          <a:xfrm>
            <a:off x="10858786" y="1658707"/>
            <a:ext cx="288036" cy="368520"/>
          </a:xfrm>
          <a:prstGeom prst="rect">
            <a:avLst/>
          </a:prstGeom>
          <a:solidFill>
            <a:srgbClr val="FFFFFF"/>
          </a:solidFill>
          <a:ln w="10160">
            <a:solidFill>
              <a:srgbClr val="4C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Box_CurveFaultB_Median"/>
          <p:cNvCxnSpPr/>
          <p:nvPr/>
        </p:nvCxnSpPr>
        <p:spPr>
          <a:xfrm>
            <a:off x="10714769" y="1849547"/>
            <a:ext cx="576072" cy="0"/>
          </a:xfrm>
          <a:prstGeom prst="line">
            <a:avLst/>
          </a:prstGeom>
          <a:ln w="15875">
            <a:solidFill>
              <a:srgbClr val="25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Label_CurveFaultB"/>
          <p:cNvSpPr txBox="1"/>
          <p:nvPr/>
        </p:nvSpPr>
        <p:spPr>
          <a:xfrm>
            <a:off x="10711862" y="3082325"/>
            <a:ext cx="581891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2400" b="0" i="0" dirty="0">
                <a:latin typeface="Times New Roman"/>
              </a:rPr>
              <a:t>CFB</a:t>
            </a:r>
            <a:endParaRPr sz="2400" b="0" i="0" dirty="0">
              <a:latin typeface="Times New Roman"/>
            </a:endParaRPr>
          </a:p>
        </p:txBody>
      </p:sp>
      <p:cxnSp>
        <p:nvCxnSpPr>
          <p:cNvPr id="85" name="YAxis"/>
          <p:cNvCxnSpPr/>
          <p:nvPr/>
        </p:nvCxnSpPr>
        <p:spPr>
          <a:xfrm>
            <a:off x="715805" y="84879"/>
            <a:ext cx="0" cy="2999231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XAxis"/>
          <p:cNvCxnSpPr/>
          <p:nvPr/>
        </p:nvCxnSpPr>
        <p:spPr>
          <a:xfrm>
            <a:off x="724779" y="3084110"/>
            <a:ext cx="10972800" cy="0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YAxisTitle"/>
              <p:cNvSpPr txBox="1"/>
              <p:nvPr/>
            </p:nvSpPr>
            <p:spPr>
              <a:xfrm rot="16200000">
                <a:off x="-1400105" y="1514901"/>
                <a:ext cx="3311099" cy="3077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en-US" sz="2000" b="0" i="0" dirty="0">
                    <a:solidFill>
                      <a:schemeClr val="tx1"/>
                    </a:solidFill>
                    <a:latin typeface="Times New Roman"/>
                  </a:rPr>
                  <a:t>Normalized transport burden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zh-CN" altLang="ar-A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sz="2000" b="0" i="0" dirty="0">
                  <a:solidFill>
                    <a:schemeClr val="tx1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87" name="YAxisTit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400105" y="1514901"/>
                <a:ext cx="3311099" cy="307777"/>
              </a:xfrm>
              <a:prstGeom prst="rect">
                <a:avLst/>
              </a:prstGeom>
              <a:blipFill>
                <a:blip r:embed="rId2"/>
                <a:stretch>
                  <a:fillRect l="-26000" t="-737" r="-50000" b="-4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XAxis">
            <a:extLst>
              <a:ext uri="{FF2B5EF4-FFF2-40B4-BE49-F238E27FC236}">
                <a16:creationId xmlns:a16="http://schemas.microsoft.com/office/drawing/2014/main" id="{709CA16A-27AB-2D5A-1738-A461E41DAE80}"/>
              </a:ext>
            </a:extLst>
          </p:cNvPr>
          <p:cNvCxnSpPr/>
          <p:nvPr/>
        </p:nvCxnSpPr>
        <p:spPr>
          <a:xfrm>
            <a:off x="716375" y="84879"/>
            <a:ext cx="10972800" cy="0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YAxis">
            <a:extLst>
              <a:ext uri="{FF2B5EF4-FFF2-40B4-BE49-F238E27FC236}">
                <a16:creationId xmlns:a16="http://schemas.microsoft.com/office/drawing/2014/main" id="{9619C215-5FB0-6FD0-A530-B6162CF8021B}"/>
              </a:ext>
            </a:extLst>
          </p:cNvPr>
          <p:cNvCxnSpPr/>
          <p:nvPr/>
        </p:nvCxnSpPr>
        <p:spPr>
          <a:xfrm>
            <a:off x="11689175" y="83233"/>
            <a:ext cx="0" cy="2999231"/>
          </a:xfrm>
          <a:prstGeom prst="line">
            <a:avLst/>
          </a:prstGeom>
          <a:ln w="11430">
            <a:solidFill>
              <a:srgbClr val="4C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lobalSummary"/>
              <p:cNvSpPr txBox="1"/>
              <p:nvPr/>
            </p:nvSpPr>
            <p:spPr>
              <a:xfrm>
                <a:off x="777535" y="80079"/>
                <a:ext cx="6153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lang="en-US" b="0" i="0" dirty="0">
                    <a:solidFill>
                      <a:schemeClr val="tx1"/>
                    </a:solidFill>
                    <a:latin typeface="Times New Roman"/>
                  </a:rPr>
                  <a:t>global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zh-CN" alt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ar-AE" b="0" i="0" dirty="0">
                    <a:solidFill>
                      <a:schemeClr val="tx1"/>
                    </a:solidFill>
                    <a:latin typeface="Times New Roman"/>
                  </a:rPr>
                  <a:t>  </a:t>
                </a:r>
                <a:r>
                  <a:rPr lang="en-US" b="0" i="0" dirty="0">
                    <a:solidFill>
                      <a:schemeClr val="tx1"/>
                    </a:solidFill>
                    <a:latin typeface="Times New Roman"/>
                  </a:rPr>
                  <a:t>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ar-AE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771</m:t>
                        </m:r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773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chemeClr val="tx1"/>
                    </a:solidFill>
                    <a:latin typeface="Times New Roman"/>
                  </a:rPr>
                  <a:t>  </a:t>
                </a:r>
                <a:r>
                  <a:rPr lang="en-US" b="0" i="0" dirty="0">
                    <a:solidFill>
                      <a:schemeClr val="tx1"/>
                    </a:solidFill>
                    <a:latin typeface="Times New Roman"/>
                  </a:rPr>
                  <a:t>n = 33,600</a:t>
                </a:r>
              </a:p>
            </p:txBody>
          </p:sp>
        </mc:Choice>
        <mc:Fallback>
          <p:sp>
            <p:nvSpPr>
              <p:cNvPr id="3" name="GlobalSummar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35" y="80079"/>
                <a:ext cx="6153416" cy="276999"/>
              </a:xfrm>
              <a:prstGeom prst="rect">
                <a:avLst/>
              </a:prstGeom>
              <a:blipFill>
                <a:blip r:embed="rId3"/>
                <a:stretch>
                  <a:fillRect l="-2379" t="-28261" r="-1487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组合 90">
            <a:extLst>
              <a:ext uri="{FF2B5EF4-FFF2-40B4-BE49-F238E27FC236}">
                <a16:creationId xmlns:a16="http://schemas.microsoft.com/office/drawing/2014/main" id="{25DEFEB1-3566-CA9F-14A9-67F96F0FBCA6}"/>
              </a:ext>
            </a:extLst>
          </p:cNvPr>
          <p:cNvGrpSpPr/>
          <p:nvPr/>
        </p:nvGrpSpPr>
        <p:grpSpPr>
          <a:xfrm>
            <a:off x="10298717" y="95468"/>
            <a:ext cx="1105865" cy="246221"/>
            <a:chOff x="10187345" y="194000"/>
            <a:chExt cx="1105865" cy="246221"/>
          </a:xfrm>
        </p:grpSpPr>
        <p:cxnSp>
          <p:nvCxnSpPr>
            <p:cNvPr id="19" name="ThresholdLegendLine"/>
            <p:cNvCxnSpPr/>
            <p:nvPr/>
          </p:nvCxnSpPr>
          <p:spPr>
            <a:xfrm>
              <a:off x="10187345" y="312538"/>
              <a:ext cx="384048" cy="0"/>
            </a:xfrm>
            <a:prstGeom prst="line">
              <a:avLst/>
            </a:prstGeom>
            <a:ln w="13970">
              <a:solidFill>
                <a:srgbClr val="8357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hresholdLegend"/>
                <p:cNvSpPr txBox="1"/>
                <p:nvPr/>
              </p:nvSpPr>
              <p:spPr>
                <a:xfrm>
                  <a:off x="10635401" y="194000"/>
                  <a:ext cx="65780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ar-AE" sz="1600" b="0" i="1" dirty="0">
                    <a:solidFill>
                      <a:schemeClr val="tx1"/>
                    </a:solidFill>
                    <a:latin typeface="Times New Roman"/>
                  </a:endParaRPr>
                </a:p>
              </p:txBody>
            </p:sp>
          </mc:Choice>
          <mc:Fallback xmlns="">
            <p:sp>
              <p:nvSpPr>
                <p:cNvPr id="20" name="ThresholdLegend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35401" y="194000"/>
                  <a:ext cx="657809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6481" r="-4630" b="-2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32B37040-173B-10E8-69F2-3CD3F4A00EF3}"/>
              </a:ext>
            </a:extLst>
          </p:cNvPr>
          <p:cNvGrpSpPr/>
          <p:nvPr/>
        </p:nvGrpSpPr>
        <p:grpSpPr>
          <a:xfrm>
            <a:off x="7269141" y="95468"/>
            <a:ext cx="1570349" cy="246221"/>
            <a:chOff x="7280865" y="183719"/>
            <a:chExt cx="1570349" cy="246221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4F437D4A-04FF-BF86-3351-DF782812FD0F}"/>
                </a:ext>
              </a:extLst>
            </p:cNvPr>
            <p:cNvSpPr/>
            <p:nvPr/>
          </p:nvSpPr>
          <p:spPr>
            <a:xfrm>
              <a:off x="7280865" y="241010"/>
              <a:ext cx="136764" cy="131637"/>
            </a:xfrm>
            <a:prstGeom prst="ellipse">
              <a:avLst/>
            </a:prstGeom>
            <a:solidFill>
              <a:srgbClr val="DCEF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GlobalSummary">
              <a:extLst>
                <a:ext uri="{FF2B5EF4-FFF2-40B4-BE49-F238E27FC236}">
                  <a16:creationId xmlns:a16="http://schemas.microsoft.com/office/drawing/2014/main" id="{AF585DB4-5A5E-B091-F1C0-738F79700E1D}"/>
                </a:ext>
              </a:extLst>
            </p:cNvPr>
            <p:cNvSpPr txBox="1"/>
            <p:nvPr/>
          </p:nvSpPr>
          <p:spPr>
            <a:xfrm>
              <a:off x="7448907" y="183719"/>
              <a:ext cx="1402307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altLang="zh-CN" sz="1600" b="0" i="0" dirty="0">
                  <a:latin typeface="Times New Roman"/>
                </a:rPr>
                <a:t>Velocity families</a:t>
              </a:r>
              <a:endParaRPr sz="1600" b="0" i="0" dirty="0">
                <a:latin typeface="Times New Roman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E9C5012C-3FFC-0632-90C8-18590F6642F1}"/>
              </a:ext>
            </a:extLst>
          </p:cNvPr>
          <p:cNvGrpSpPr/>
          <p:nvPr/>
        </p:nvGrpSpPr>
        <p:grpSpPr>
          <a:xfrm>
            <a:off x="8909535" y="95468"/>
            <a:ext cx="1319136" cy="246221"/>
            <a:chOff x="8872219" y="183719"/>
            <a:chExt cx="1319136" cy="246221"/>
          </a:xfrm>
        </p:grpSpPr>
        <p:sp>
          <p:nvSpPr>
            <p:cNvPr id="67" name="GlobalSummary">
              <a:extLst>
                <a:ext uri="{FF2B5EF4-FFF2-40B4-BE49-F238E27FC236}">
                  <a16:creationId xmlns:a16="http://schemas.microsoft.com/office/drawing/2014/main" id="{1163E9A9-BDB0-68B4-613E-E596BB1A60A9}"/>
                </a:ext>
              </a:extLst>
            </p:cNvPr>
            <p:cNvSpPr txBox="1"/>
            <p:nvPr/>
          </p:nvSpPr>
          <p:spPr>
            <a:xfrm>
              <a:off x="9051619" y="183719"/>
              <a:ext cx="1139736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lang="en-US" altLang="zh-CN" sz="1600" b="0" i="0" dirty="0">
                  <a:latin typeface="Times New Roman"/>
                </a:rPr>
                <a:t>Fault families</a:t>
              </a:r>
              <a:endParaRPr sz="1600" b="0" i="0" dirty="0">
                <a:latin typeface="Times New Roman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59229438-9BFF-EF25-F2FD-BD0439E38A06}"/>
                </a:ext>
              </a:extLst>
            </p:cNvPr>
            <p:cNvSpPr/>
            <p:nvPr/>
          </p:nvSpPr>
          <p:spPr>
            <a:xfrm>
              <a:off x="8872219" y="248326"/>
              <a:ext cx="136764" cy="131637"/>
            </a:xfrm>
            <a:prstGeom prst="ellipse">
              <a:avLst/>
            </a:prstGeom>
            <a:solidFill>
              <a:srgbClr val="DCE8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小娌 甄</cp:lastModifiedBy>
  <cp:revision>16</cp:revision>
  <dcterms:created xsi:type="dcterms:W3CDTF">2013-01-27T09:14:16Z</dcterms:created>
  <dcterms:modified xsi:type="dcterms:W3CDTF">2026-07-21T08:20:27Z</dcterms:modified>
  <cp:category/>
</cp:coreProperties>
</file>