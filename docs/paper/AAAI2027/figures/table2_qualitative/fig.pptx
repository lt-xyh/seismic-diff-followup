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"/>
  </p:notesMasterIdLst>
  <p:sldIdLst>
    <p:sldId id="260" r:id="rId2"/>
    <p:sldId id="261" r:id="rId3"/>
    <p:sldId id="262" r:id="rId4"/>
    <p:sldId id="263" r:id="rId5"/>
    <p:sldId id="264" r:id="rId6"/>
  </p:sldIdLst>
  <p:sldSz cx="12192000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85" autoAdjust="0"/>
    <p:restoredTop sz="94660"/>
  </p:normalViewPr>
  <p:slideViewPr>
    <p:cSldViewPr snapToGrid="0">
      <p:cViewPr>
        <p:scale>
          <a:sx n="125" d="100"/>
          <a:sy n="125" d="100"/>
        </p:scale>
        <p:origin x="1980" y="-2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24BE13-471B-48FF-A880-4E81F5ECD9A1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122488" y="1143000"/>
            <a:ext cx="2613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DBC4-AE37-4823-B326-B53C7A3D1D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002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DBC4-AE37-4823-B326-B53C7A3D1DB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006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356703"/>
            <a:ext cx="10363200" cy="501340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563446"/>
            <a:ext cx="9144000" cy="347671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D142-6E17-490E-B570-2BC7E52E93B3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FB3D-6C5F-424D-85A4-60E088D617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065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D142-6E17-490E-B570-2BC7E52E93B3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FB3D-6C5F-424D-85A4-60E088D617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046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590057"/>
            <a:ext cx="10515600" cy="5990088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9636813"/>
            <a:ext cx="10515600" cy="315004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D142-6E17-490E-B570-2BC7E52E93B3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FB3D-6C5F-424D-85A4-60E088D617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311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833390"/>
            <a:ext cx="5181600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833390"/>
            <a:ext cx="5181600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D142-6E17-490E-B570-2BC7E52E93B3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FB3D-6C5F-424D-85A4-60E088D617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942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66681"/>
            <a:ext cx="10515600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530053"/>
            <a:ext cx="5157787" cy="173002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260078"/>
            <a:ext cx="5157787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530053"/>
            <a:ext cx="5183188" cy="173002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260078"/>
            <a:ext cx="518318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D142-6E17-490E-B570-2BC7E52E93B3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FB3D-6C5F-424D-85A4-60E088D617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71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D142-6E17-490E-B570-2BC7E52E93B3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FB3D-6C5F-424D-85A4-60E088D617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315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D142-6E17-490E-B570-2BC7E52E93B3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FB3D-6C5F-424D-85A4-60E088D617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668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60014"/>
            <a:ext cx="3932237" cy="336005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073367"/>
            <a:ext cx="6172200" cy="10233485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320064"/>
            <a:ext cx="3932237" cy="80034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D142-6E17-490E-B570-2BC7E52E93B3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FB3D-6C5F-424D-85A4-60E088D617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616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60014"/>
            <a:ext cx="3932237" cy="336005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073367"/>
            <a:ext cx="6172200" cy="10233485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320064"/>
            <a:ext cx="3932237" cy="80034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D142-6E17-490E-B570-2BC7E52E93B3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FB3D-6C5F-424D-85A4-60E088D617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466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D142-6E17-490E-B570-2BC7E52E93B3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FB3D-6C5F-424D-85A4-60E088D617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249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6678"/>
            <a:ext cx="2628900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66678"/>
            <a:ext cx="7734300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D142-6E17-490E-B570-2BC7E52E93B3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6FB3D-6C5F-424D-85A4-60E088D617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864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66681"/>
            <a:ext cx="1051560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833390"/>
            <a:ext cx="1051560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3346867"/>
            <a:ext cx="27432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9D142-6E17-490E-B570-2BC7E52E93B3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3346867"/>
            <a:ext cx="41148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3346867"/>
            <a:ext cx="27432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D6FB3D-6C5F-424D-85A4-60E088D617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267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4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26" Type="http://schemas.openxmlformats.org/officeDocument/2006/relationships/image" Target="../media/image82.png"/><Relationship Id="rId3" Type="http://schemas.openxmlformats.org/officeDocument/2006/relationships/image" Target="../media/image59.png"/><Relationship Id="rId21" Type="http://schemas.openxmlformats.org/officeDocument/2006/relationships/image" Target="../media/image77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5" Type="http://schemas.openxmlformats.org/officeDocument/2006/relationships/image" Target="../media/image81.png"/><Relationship Id="rId2" Type="http://schemas.openxmlformats.org/officeDocument/2006/relationships/image" Target="../media/image58.png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24" Type="http://schemas.openxmlformats.org/officeDocument/2006/relationships/image" Target="../media/image80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23" Type="http://schemas.openxmlformats.org/officeDocument/2006/relationships/image" Target="../media/image79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Relationship Id="rId22" Type="http://schemas.openxmlformats.org/officeDocument/2006/relationships/image" Target="../media/image7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26" Type="http://schemas.openxmlformats.org/officeDocument/2006/relationships/image" Target="../media/image82.png"/><Relationship Id="rId3" Type="http://schemas.openxmlformats.org/officeDocument/2006/relationships/image" Target="../media/image84.png"/><Relationship Id="rId21" Type="http://schemas.openxmlformats.org/officeDocument/2006/relationships/image" Target="../media/image102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5" Type="http://schemas.openxmlformats.org/officeDocument/2006/relationships/image" Target="../media/image106.png"/><Relationship Id="rId2" Type="http://schemas.openxmlformats.org/officeDocument/2006/relationships/image" Target="../media/image83.png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24" Type="http://schemas.openxmlformats.org/officeDocument/2006/relationships/image" Target="../media/image105.png"/><Relationship Id="rId5" Type="http://schemas.openxmlformats.org/officeDocument/2006/relationships/image" Target="../media/image86.png"/><Relationship Id="rId15" Type="http://schemas.openxmlformats.org/officeDocument/2006/relationships/image" Target="../media/image96.png"/><Relationship Id="rId23" Type="http://schemas.openxmlformats.org/officeDocument/2006/relationships/image" Target="../media/image104.png"/><Relationship Id="rId10" Type="http://schemas.openxmlformats.org/officeDocument/2006/relationships/image" Target="../media/image91.png"/><Relationship Id="rId19" Type="http://schemas.openxmlformats.org/officeDocument/2006/relationships/image" Target="../media/image100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Relationship Id="rId22" Type="http://schemas.openxmlformats.org/officeDocument/2006/relationships/image" Target="../media/image10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105.png"/><Relationship Id="rId18" Type="http://schemas.openxmlformats.org/officeDocument/2006/relationships/image" Target="../media/image39.png"/><Relationship Id="rId26" Type="http://schemas.openxmlformats.org/officeDocument/2006/relationships/image" Target="../media/image54.png"/><Relationship Id="rId3" Type="http://schemas.openxmlformats.org/officeDocument/2006/relationships/image" Target="../media/image89.png"/><Relationship Id="rId21" Type="http://schemas.openxmlformats.org/officeDocument/2006/relationships/image" Target="../media/image42.png"/><Relationship Id="rId7" Type="http://schemas.openxmlformats.org/officeDocument/2006/relationships/image" Target="../media/image93.png"/><Relationship Id="rId12" Type="http://schemas.openxmlformats.org/officeDocument/2006/relationships/image" Target="../media/image104.png"/><Relationship Id="rId17" Type="http://schemas.openxmlformats.org/officeDocument/2006/relationships/image" Target="../media/image38.png"/><Relationship Id="rId25" Type="http://schemas.openxmlformats.org/officeDocument/2006/relationships/image" Target="../media/image5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29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11" Type="http://schemas.openxmlformats.org/officeDocument/2006/relationships/image" Target="../media/image103.png"/><Relationship Id="rId24" Type="http://schemas.openxmlformats.org/officeDocument/2006/relationships/image" Target="../media/image52.png"/><Relationship Id="rId5" Type="http://schemas.openxmlformats.org/officeDocument/2006/relationships/image" Target="../media/image91.png"/><Relationship Id="rId15" Type="http://schemas.openxmlformats.org/officeDocument/2006/relationships/image" Target="../media/image36.png"/><Relationship Id="rId23" Type="http://schemas.openxmlformats.org/officeDocument/2006/relationships/image" Target="../media/image51.png"/><Relationship Id="rId28" Type="http://schemas.openxmlformats.org/officeDocument/2006/relationships/image" Target="../media/image56.png"/><Relationship Id="rId10" Type="http://schemas.openxmlformats.org/officeDocument/2006/relationships/image" Target="../media/image102.png"/><Relationship Id="rId19" Type="http://schemas.openxmlformats.org/officeDocument/2006/relationships/image" Target="../media/image40.png"/><Relationship Id="rId4" Type="http://schemas.openxmlformats.org/officeDocument/2006/relationships/image" Target="../media/image90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Relationship Id="rId22" Type="http://schemas.openxmlformats.org/officeDocument/2006/relationships/image" Target="../media/image50.png"/><Relationship Id="rId27" Type="http://schemas.openxmlformats.org/officeDocument/2006/relationships/image" Target="../media/image55.png"/><Relationship Id="rId30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31860" y="1404707"/>
            <a:ext cx="806182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CurveVel</a:t>
            </a:r>
            <a:br/>
            <a:r>
              <a:t>A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323" y="1114777"/>
            <a:ext cx="1079999" cy="107999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627" y="1114777"/>
            <a:ext cx="1079999" cy="107999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932" y="1114777"/>
            <a:ext cx="1079999" cy="107999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5236" y="1114777"/>
            <a:ext cx="1079999" cy="1079999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537" y="1114777"/>
            <a:ext cx="1079999" cy="1079999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843" y="1114777"/>
            <a:ext cx="1079999" cy="107999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3147" y="1114777"/>
            <a:ext cx="1079999" cy="10799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1860" y="2721443"/>
            <a:ext cx="806182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CurveVel</a:t>
            </a:r>
            <a:br/>
            <a:r>
              <a:t>B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57323" y="2431516"/>
            <a:ext cx="1079999" cy="1079999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6627" y="2431516"/>
            <a:ext cx="1079999" cy="1079999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5932" y="2431516"/>
            <a:ext cx="1079999" cy="1079999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25236" y="2431516"/>
            <a:ext cx="1079999" cy="1079999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4537" y="2431516"/>
            <a:ext cx="1079999" cy="1079999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03843" y="2431516"/>
            <a:ext cx="1079999" cy="1079999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93147" y="2431516"/>
            <a:ext cx="1079999" cy="107999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8005" y="4038179"/>
            <a:ext cx="653897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FlatVel</a:t>
            </a:r>
            <a:br/>
            <a:r>
              <a:t>A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7323" y="3748249"/>
            <a:ext cx="1079999" cy="1079999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46627" y="3748249"/>
            <a:ext cx="1079999" cy="1079999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35932" y="3748249"/>
            <a:ext cx="1079999" cy="1079999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25236" y="3748249"/>
            <a:ext cx="1079999" cy="1079999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14537" y="3748249"/>
            <a:ext cx="1079999" cy="1079999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03843" y="3748249"/>
            <a:ext cx="1079999" cy="1079999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93147" y="3748249"/>
            <a:ext cx="1079999" cy="10799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08005" y="5354918"/>
            <a:ext cx="653897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FlatVel</a:t>
            </a:r>
            <a:br/>
            <a:r>
              <a:t>B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957323" y="5064988"/>
            <a:ext cx="1079999" cy="1079999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46627" y="5064988"/>
            <a:ext cx="1079999" cy="1079999"/>
          </a:xfrm>
          <a:prstGeom prst="rect">
            <a:avLst/>
          </a:prstGeom>
        </p:spPr>
      </p:pic>
      <p:pic>
        <p:nvPicPr>
          <p:cNvPr id="36" name="Picture 35" descr="flatvelb_029501__velocitygan__ssim_0.9918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35932" y="5064988"/>
            <a:ext cx="1079999" cy="1079999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825236" y="5064988"/>
            <a:ext cx="1079999" cy="1079999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14537" y="5064988"/>
            <a:ext cx="1079999" cy="1079999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403843" y="5064988"/>
            <a:ext cx="1079999" cy="1079999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693147" y="5064988"/>
            <a:ext cx="1079999" cy="1079999"/>
          </a:xfrm>
          <a:prstGeom prst="rect">
            <a:avLst/>
          </a:prstGeom>
        </p:spPr>
      </p:pic>
      <p:pic>
        <p:nvPicPr>
          <p:cNvPr id="75" name="Picture 9" descr="curvefaulta_026193__ground_truth__ssim_1.0000.png">
            <a:extLst>
              <a:ext uri="{FF2B5EF4-FFF2-40B4-BE49-F238E27FC236}">
                <a16:creationId xmlns:a16="http://schemas.microsoft.com/office/drawing/2014/main" id="{32928626-D88E-AD63-0D2D-C901F81C408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957323" y="6381727"/>
            <a:ext cx="1079999" cy="1079999"/>
          </a:xfrm>
          <a:prstGeom prst="rect">
            <a:avLst/>
          </a:prstGeom>
        </p:spPr>
      </p:pic>
      <p:pic>
        <p:nvPicPr>
          <p:cNvPr id="76" name="Picture 10" descr="curvefaulta_026193__inversionnet__ssim_0.9984.png">
            <a:extLst>
              <a:ext uri="{FF2B5EF4-FFF2-40B4-BE49-F238E27FC236}">
                <a16:creationId xmlns:a16="http://schemas.microsoft.com/office/drawing/2014/main" id="{37CE0ECC-6558-062A-15FD-271070D0771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246627" y="6381727"/>
            <a:ext cx="1079999" cy="1079999"/>
          </a:xfrm>
          <a:prstGeom prst="rect">
            <a:avLst/>
          </a:prstGeom>
        </p:spPr>
      </p:pic>
      <p:pic>
        <p:nvPicPr>
          <p:cNvPr id="77" name="Picture 11" descr="curvefaulta_026193__velocitygan__ssim_0.9926.png">
            <a:extLst>
              <a:ext uri="{FF2B5EF4-FFF2-40B4-BE49-F238E27FC236}">
                <a16:creationId xmlns:a16="http://schemas.microsoft.com/office/drawing/2014/main" id="{D39B7841-84CB-4618-1D43-129B01775600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35930" y="6381727"/>
            <a:ext cx="1079999" cy="1079999"/>
          </a:xfrm>
          <a:prstGeom prst="rect">
            <a:avLst/>
          </a:prstGeom>
        </p:spPr>
      </p:pic>
      <p:pic>
        <p:nvPicPr>
          <p:cNvPr id="78" name="Picture 12" descr="curvefaulta_026193__upfwi__ssim_0.9939.png">
            <a:extLst>
              <a:ext uri="{FF2B5EF4-FFF2-40B4-BE49-F238E27FC236}">
                <a16:creationId xmlns:a16="http://schemas.microsoft.com/office/drawing/2014/main" id="{C82AF59A-CB89-31B6-8C57-E52AB03D5933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825234" y="6381727"/>
            <a:ext cx="1079999" cy="1079999"/>
          </a:xfrm>
          <a:prstGeom prst="rect">
            <a:avLst/>
          </a:prstGeom>
        </p:spPr>
      </p:pic>
      <p:pic>
        <p:nvPicPr>
          <p:cNvPr id="79" name="Picture 13" descr="curvefaulta_026193__auto_linear__ssim_0.9938.png">
            <a:extLst>
              <a:ext uri="{FF2B5EF4-FFF2-40B4-BE49-F238E27FC236}">
                <a16:creationId xmlns:a16="http://schemas.microsoft.com/office/drawing/2014/main" id="{F962E964-A44B-A2B5-FF30-F92EF80F338B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114539" y="6381727"/>
            <a:ext cx="1079999" cy="1079999"/>
          </a:xfrm>
          <a:prstGeom prst="rect">
            <a:avLst/>
          </a:prstGeom>
        </p:spPr>
      </p:pic>
      <p:pic>
        <p:nvPicPr>
          <p:cNvPr id="80" name="Picture 14" descr="curvefaulta_026193__latent_u_net__large__ssim_0.9988.png">
            <a:extLst>
              <a:ext uri="{FF2B5EF4-FFF2-40B4-BE49-F238E27FC236}">
                <a16:creationId xmlns:a16="http://schemas.microsoft.com/office/drawing/2014/main" id="{D29B7A61-4A1D-4C05-7DD5-CC41093EAD2A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403843" y="6381727"/>
            <a:ext cx="1079999" cy="1079999"/>
          </a:xfrm>
          <a:prstGeom prst="rect">
            <a:avLst/>
          </a:prstGeom>
        </p:spPr>
      </p:pic>
      <p:pic>
        <p:nvPicPr>
          <p:cNvPr id="81" name="Picture 15" descr="curvefaulta_026193__pd_bg_rfm__ssim_0.9991.png">
            <a:extLst>
              <a:ext uri="{FF2B5EF4-FFF2-40B4-BE49-F238E27FC236}">
                <a16:creationId xmlns:a16="http://schemas.microsoft.com/office/drawing/2014/main" id="{710174A9-3CF4-E53A-019D-ACB334D7D2D3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693147" y="6381727"/>
            <a:ext cx="1079999" cy="1079999"/>
          </a:xfrm>
          <a:prstGeom prst="rect">
            <a:avLst/>
          </a:prstGeom>
        </p:spPr>
      </p:pic>
      <p:pic>
        <p:nvPicPr>
          <p:cNvPr id="82" name="Picture 17" descr="curvefaultb_007449__ground_truth__ssim_1.0000.png">
            <a:extLst>
              <a:ext uri="{FF2B5EF4-FFF2-40B4-BE49-F238E27FC236}">
                <a16:creationId xmlns:a16="http://schemas.microsoft.com/office/drawing/2014/main" id="{8960A977-F67F-5C4B-58E0-FA2A39508FDD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957323" y="7698463"/>
            <a:ext cx="1079999" cy="1079999"/>
          </a:xfrm>
          <a:prstGeom prst="rect">
            <a:avLst/>
          </a:prstGeom>
        </p:spPr>
      </p:pic>
      <p:pic>
        <p:nvPicPr>
          <p:cNvPr id="83" name="Picture 18" descr="curvefaultb_007449__inversionnet__ssim_0.9750.png">
            <a:extLst>
              <a:ext uri="{FF2B5EF4-FFF2-40B4-BE49-F238E27FC236}">
                <a16:creationId xmlns:a16="http://schemas.microsoft.com/office/drawing/2014/main" id="{8B3F9985-FE0E-6B77-E5B8-AD906D502100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246627" y="7698463"/>
            <a:ext cx="1079999" cy="1079999"/>
          </a:xfrm>
          <a:prstGeom prst="rect">
            <a:avLst/>
          </a:prstGeom>
        </p:spPr>
      </p:pic>
      <p:pic>
        <p:nvPicPr>
          <p:cNvPr id="84" name="Picture 19" descr="curvefaultb_007449__velocitygan__ssim_0.9592.png">
            <a:extLst>
              <a:ext uri="{FF2B5EF4-FFF2-40B4-BE49-F238E27FC236}">
                <a16:creationId xmlns:a16="http://schemas.microsoft.com/office/drawing/2014/main" id="{440DAC8D-A4C3-E1C5-3C24-F286ADB7C115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535930" y="7698463"/>
            <a:ext cx="1079999" cy="1079999"/>
          </a:xfrm>
          <a:prstGeom prst="rect">
            <a:avLst/>
          </a:prstGeom>
        </p:spPr>
      </p:pic>
      <p:pic>
        <p:nvPicPr>
          <p:cNvPr id="85" name="Picture 20" descr="curvefaultb_007449__upfwi__ssim_0.9740.png">
            <a:extLst>
              <a:ext uri="{FF2B5EF4-FFF2-40B4-BE49-F238E27FC236}">
                <a16:creationId xmlns:a16="http://schemas.microsoft.com/office/drawing/2014/main" id="{28A6F0EB-C8F5-A316-EECA-E783BFC907F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825234" y="7698463"/>
            <a:ext cx="1079999" cy="1079999"/>
          </a:xfrm>
          <a:prstGeom prst="rect">
            <a:avLst/>
          </a:prstGeom>
        </p:spPr>
      </p:pic>
      <p:pic>
        <p:nvPicPr>
          <p:cNvPr id="86" name="Picture 21" descr="curvefaultb_007449__auto_linear__ssim_0.9628.png">
            <a:extLst>
              <a:ext uri="{FF2B5EF4-FFF2-40B4-BE49-F238E27FC236}">
                <a16:creationId xmlns:a16="http://schemas.microsoft.com/office/drawing/2014/main" id="{9D5E3905-0BFE-39A6-D81B-ED6F8F32DF0C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114539" y="7698463"/>
            <a:ext cx="1079999" cy="1079999"/>
          </a:xfrm>
          <a:prstGeom prst="rect">
            <a:avLst/>
          </a:prstGeom>
        </p:spPr>
      </p:pic>
      <p:pic>
        <p:nvPicPr>
          <p:cNvPr id="87" name="Picture 22" descr="curvefaultb_007449__latent_u_net__large__ssim_0.9935.png">
            <a:extLst>
              <a:ext uri="{FF2B5EF4-FFF2-40B4-BE49-F238E27FC236}">
                <a16:creationId xmlns:a16="http://schemas.microsoft.com/office/drawing/2014/main" id="{CBB316B2-978E-7C6E-7B38-3AD7C1EA769F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403843" y="7698463"/>
            <a:ext cx="1079999" cy="1079999"/>
          </a:xfrm>
          <a:prstGeom prst="rect">
            <a:avLst/>
          </a:prstGeom>
        </p:spPr>
      </p:pic>
      <p:pic>
        <p:nvPicPr>
          <p:cNvPr id="88" name="Picture 23" descr="curvefaultb_007449__pd_bg_rfm__ssim_0.9937.png">
            <a:extLst>
              <a:ext uri="{FF2B5EF4-FFF2-40B4-BE49-F238E27FC236}">
                <a16:creationId xmlns:a16="http://schemas.microsoft.com/office/drawing/2014/main" id="{EE9F22CB-F362-4A31-2354-C627DADA777C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693147" y="7698463"/>
            <a:ext cx="1079999" cy="1079999"/>
          </a:xfrm>
          <a:prstGeom prst="rect">
            <a:avLst/>
          </a:prstGeom>
        </p:spPr>
      </p:pic>
      <p:pic>
        <p:nvPicPr>
          <p:cNvPr id="89" name="Picture 25" descr="flatfaulta_010401__ground_truth__ssim_1.0000.png">
            <a:extLst>
              <a:ext uri="{FF2B5EF4-FFF2-40B4-BE49-F238E27FC236}">
                <a16:creationId xmlns:a16="http://schemas.microsoft.com/office/drawing/2014/main" id="{14374FEE-D9BE-DF4E-800D-2D985A9A71FD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957323" y="9073631"/>
            <a:ext cx="1079999" cy="1079999"/>
          </a:xfrm>
          <a:prstGeom prst="rect">
            <a:avLst/>
          </a:prstGeom>
        </p:spPr>
      </p:pic>
      <p:pic>
        <p:nvPicPr>
          <p:cNvPr id="90" name="Picture 26" descr="flatfaulta_010401__inversionnet__ssim_0.9985.png">
            <a:extLst>
              <a:ext uri="{FF2B5EF4-FFF2-40B4-BE49-F238E27FC236}">
                <a16:creationId xmlns:a16="http://schemas.microsoft.com/office/drawing/2014/main" id="{E9F8C0B1-8F8F-0106-E338-72DE086CEC4F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246627" y="9073631"/>
            <a:ext cx="1079999" cy="1079999"/>
          </a:xfrm>
          <a:prstGeom prst="rect">
            <a:avLst/>
          </a:prstGeom>
        </p:spPr>
      </p:pic>
      <p:pic>
        <p:nvPicPr>
          <p:cNvPr id="91" name="Picture 27" descr="flatfaulta_010401__velocitygan__ssim_0.9354.png">
            <a:extLst>
              <a:ext uri="{FF2B5EF4-FFF2-40B4-BE49-F238E27FC236}">
                <a16:creationId xmlns:a16="http://schemas.microsoft.com/office/drawing/2014/main" id="{4E64E21E-2582-8716-36BA-01269208AE1F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535930" y="9073631"/>
            <a:ext cx="1079999" cy="1079999"/>
          </a:xfrm>
          <a:prstGeom prst="rect">
            <a:avLst/>
          </a:prstGeom>
        </p:spPr>
      </p:pic>
      <p:pic>
        <p:nvPicPr>
          <p:cNvPr id="92" name="Picture 28" descr="flatfaulta_010401__upfwi__ssim_0.9897.png">
            <a:extLst>
              <a:ext uri="{FF2B5EF4-FFF2-40B4-BE49-F238E27FC236}">
                <a16:creationId xmlns:a16="http://schemas.microsoft.com/office/drawing/2014/main" id="{F4A9EABC-D1E1-DFD7-A97D-C3DB320B8EAA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825234" y="9073631"/>
            <a:ext cx="1079999" cy="1079999"/>
          </a:xfrm>
          <a:prstGeom prst="rect">
            <a:avLst/>
          </a:prstGeom>
        </p:spPr>
      </p:pic>
      <p:pic>
        <p:nvPicPr>
          <p:cNvPr id="93" name="Picture 29" descr="flatfaulta_010401__auto_linear__ssim_0.9944.png">
            <a:extLst>
              <a:ext uri="{FF2B5EF4-FFF2-40B4-BE49-F238E27FC236}">
                <a16:creationId xmlns:a16="http://schemas.microsoft.com/office/drawing/2014/main" id="{09F3C82B-8890-42C8-2CFF-46D9452C7D59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114539" y="9073631"/>
            <a:ext cx="1079999" cy="1079999"/>
          </a:xfrm>
          <a:prstGeom prst="rect">
            <a:avLst/>
          </a:prstGeom>
        </p:spPr>
      </p:pic>
      <p:pic>
        <p:nvPicPr>
          <p:cNvPr id="94" name="Picture 30" descr="flatfaulta_010401__latent_u_net__large__ssim_0.9987.png">
            <a:extLst>
              <a:ext uri="{FF2B5EF4-FFF2-40B4-BE49-F238E27FC236}">
                <a16:creationId xmlns:a16="http://schemas.microsoft.com/office/drawing/2014/main" id="{C63853D7-2DCA-8A36-C369-4FA6E4AF1170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403843" y="9073631"/>
            <a:ext cx="1079999" cy="1079999"/>
          </a:xfrm>
          <a:prstGeom prst="rect">
            <a:avLst/>
          </a:prstGeom>
        </p:spPr>
      </p:pic>
      <p:pic>
        <p:nvPicPr>
          <p:cNvPr id="95" name="Picture 31" descr="flatfaulta_010401__pd_bg_rfm__ssim_0.9989.png">
            <a:extLst>
              <a:ext uri="{FF2B5EF4-FFF2-40B4-BE49-F238E27FC236}">
                <a16:creationId xmlns:a16="http://schemas.microsoft.com/office/drawing/2014/main" id="{3ACCD930-749F-4FAA-2756-EC23AD9A6D95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693147" y="9073631"/>
            <a:ext cx="1079999" cy="1079999"/>
          </a:xfrm>
          <a:prstGeom prst="rect">
            <a:avLst/>
          </a:prstGeom>
        </p:spPr>
      </p:pic>
      <p:pic>
        <p:nvPicPr>
          <p:cNvPr id="96" name="Picture 33" descr="flatfaultb_021686__ground_truth__ssim_1.0000.png">
            <a:extLst>
              <a:ext uri="{FF2B5EF4-FFF2-40B4-BE49-F238E27FC236}">
                <a16:creationId xmlns:a16="http://schemas.microsoft.com/office/drawing/2014/main" id="{79C59DB1-F47C-A7D7-7911-B0526E6A6FDD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957323" y="10390369"/>
            <a:ext cx="1079999" cy="1079999"/>
          </a:xfrm>
          <a:prstGeom prst="rect">
            <a:avLst/>
          </a:prstGeom>
        </p:spPr>
      </p:pic>
      <p:pic>
        <p:nvPicPr>
          <p:cNvPr id="97" name="Picture 34" descr="flatfaultb_021686__inversionnet__ssim_0.9913.png">
            <a:extLst>
              <a:ext uri="{FF2B5EF4-FFF2-40B4-BE49-F238E27FC236}">
                <a16:creationId xmlns:a16="http://schemas.microsoft.com/office/drawing/2014/main" id="{59BC70FC-C2C3-5138-DB4B-CD4DDBA4ED89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246627" y="10390369"/>
            <a:ext cx="1079999" cy="1079999"/>
          </a:xfrm>
          <a:prstGeom prst="rect">
            <a:avLst/>
          </a:prstGeom>
        </p:spPr>
      </p:pic>
      <p:pic>
        <p:nvPicPr>
          <p:cNvPr id="98" name="Picture 35" descr="flatfaultb_021686__velocitygan__ssim_0.9825.png">
            <a:extLst>
              <a:ext uri="{FF2B5EF4-FFF2-40B4-BE49-F238E27FC236}">
                <a16:creationId xmlns:a16="http://schemas.microsoft.com/office/drawing/2014/main" id="{5F600B8C-4C4F-8E96-77BF-FDDBE0115763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535930" y="10390369"/>
            <a:ext cx="1079999" cy="1079999"/>
          </a:xfrm>
          <a:prstGeom prst="rect">
            <a:avLst/>
          </a:prstGeom>
        </p:spPr>
      </p:pic>
      <p:pic>
        <p:nvPicPr>
          <p:cNvPr id="99" name="Picture 36" descr="flatfaultb_021686__upfwi__ssim_0.9873.png">
            <a:extLst>
              <a:ext uri="{FF2B5EF4-FFF2-40B4-BE49-F238E27FC236}">
                <a16:creationId xmlns:a16="http://schemas.microsoft.com/office/drawing/2014/main" id="{5DEF9934-3DF2-828C-5DC9-46434D668774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825234" y="10390369"/>
            <a:ext cx="1079999" cy="1079999"/>
          </a:xfrm>
          <a:prstGeom prst="rect">
            <a:avLst/>
          </a:prstGeom>
        </p:spPr>
      </p:pic>
      <p:pic>
        <p:nvPicPr>
          <p:cNvPr id="100" name="Picture 37" descr="flatfaultb_021686__auto_linear__ssim_0.9643.png">
            <a:extLst>
              <a:ext uri="{FF2B5EF4-FFF2-40B4-BE49-F238E27FC236}">
                <a16:creationId xmlns:a16="http://schemas.microsoft.com/office/drawing/2014/main" id="{CA7D1887-D494-4EB9-F56B-E8686CD1E363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114538" y="10390369"/>
            <a:ext cx="1079999" cy="1079999"/>
          </a:xfrm>
          <a:prstGeom prst="rect">
            <a:avLst/>
          </a:prstGeom>
        </p:spPr>
      </p:pic>
      <p:pic>
        <p:nvPicPr>
          <p:cNvPr id="101" name="Picture 38" descr="flatfaultb_021686__latent_u_net__large__ssim_0.9984.png">
            <a:extLst>
              <a:ext uri="{FF2B5EF4-FFF2-40B4-BE49-F238E27FC236}">
                <a16:creationId xmlns:a16="http://schemas.microsoft.com/office/drawing/2014/main" id="{0B59B7DC-AC2A-1980-1D60-7CC276A090A1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403842" y="10390369"/>
            <a:ext cx="1079999" cy="1079999"/>
          </a:xfrm>
          <a:prstGeom prst="rect">
            <a:avLst/>
          </a:prstGeom>
        </p:spPr>
      </p:pic>
      <p:pic>
        <p:nvPicPr>
          <p:cNvPr id="102" name="Picture 39" descr="flatfaultb_021686__pd_bg_rfm__ssim_0.9981.png">
            <a:extLst>
              <a:ext uri="{FF2B5EF4-FFF2-40B4-BE49-F238E27FC236}">
                <a16:creationId xmlns:a16="http://schemas.microsoft.com/office/drawing/2014/main" id="{48DF3ED2-4EEC-64AD-D7A6-89EB363CB891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9693146" y="10390369"/>
            <a:ext cx="1079999" cy="1079999"/>
          </a:xfrm>
          <a:prstGeom prst="rect">
            <a:avLst/>
          </a:prstGeom>
        </p:spPr>
      </p:pic>
      <p:sp>
        <p:nvSpPr>
          <p:cNvPr id="103" name="TextBox 8">
            <a:extLst>
              <a:ext uri="{FF2B5EF4-FFF2-40B4-BE49-F238E27FC236}">
                <a16:creationId xmlns:a16="http://schemas.microsoft.com/office/drawing/2014/main" id="{7209DCDD-1F72-03C3-B828-410D8E2F5A4D}"/>
              </a:ext>
            </a:extLst>
          </p:cNvPr>
          <p:cNvSpPr txBox="1"/>
          <p:nvPr/>
        </p:nvSpPr>
        <p:spPr>
          <a:xfrm>
            <a:off x="703171" y="6897562"/>
            <a:ext cx="934871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CurveFault</a:t>
            </a:r>
            <a:br/>
            <a:r>
              <a:t>A</a:t>
            </a:r>
          </a:p>
        </p:txBody>
      </p:sp>
      <p:sp>
        <p:nvSpPr>
          <p:cNvPr id="104" name="TextBox 16">
            <a:extLst>
              <a:ext uri="{FF2B5EF4-FFF2-40B4-BE49-F238E27FC236}">
                <a16:creationId xmlns:a16="http://schemas.microsoft.com/office/drawing/2014/main" id="{15F2D50B-102B-4577-CB21-A5809DF244C1}"/>
              </a:ext>
            </a:extLst>
          </p:cNvPr>
          <p:cNvSpPr txBox="1"/>
          <p:nvPr/>
        </p:nvSpPr>
        <p:spPr>
          <a:xfrm>
            <a:off x="703171" y="8214298"/>
            <a:ext cx="934871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CurveFault</a:t>
            </a:r>
            <a:br/>
            <a:r>
              <a:t>B</a:t>
            </a:r>
          </a:p>
        </p:txBody>
      </p:sp>
      <p:sp>
        <p:nvSpPr>
          <p:cNvPr id="105" name="TextBox 24">
            <a:extLst>
              <a:ext uri="{FF2B5EF4-FFF2-40B4-BE49-F238E27FC236}">
                <a16:creationId xmlns:a16="http://schemas.microsoft.com/office/drawing/2014/main" id="{FB098FD2-0CDA-91BA-B2F7-8D9A01F2BFF1}"/>
              </a:ext>
            </a:extLst>
          </p:cNvPr>
          <p:cNvSpPr txBox="1"/>
          <p:nvPr/>
        </p:nvSpPr>
        <p:spPr>
          <a:xfrm>
            <a:off x="779313" y="9531034"/>
            <a:ext cx="782587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FlatFault</a:t>
            </a:r>
            <a:br/>
            <a:r>
              <a:t>A</a:t>
            </a:r>
          </a:p>
        </p:txBody>
      </p:sp>
      <p:sp>
        <p:nvSpPr>
          <p:cNvPr id="106" name="TextBox 32">
            <a:extLst>
              <a:ext uri="{FF2B5EF4-FFF2-40B4-BE49-F238E27FC236}">
                <a16:creationId xmlns:a16="http://schemas.microsoft.com/office/drawing/2014/main" id="{EFEB93B3-6CA3-66E1-8806-F1FEE759CA90}"/>
              </a:ext>
            </a:extLst>
          </p:cNvPr>
          <p:cNvSpPr txBox="1"/>
          <p:nvPr/>
        </p:nvSpPr>
        <p:spPr>
          <a:xfrm>
            <a:off x="779313" y="10847773"/>
            <a:ext cx="782587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FlatFault</a:t>
            </a:r>
            <a:br/>
            <a: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765081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9532" y="4017447"/>
            <a:ext cx="906017" cy="2388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2">
                <a:latin typeface="Arial"/>
              </a:rPr>
              <a:t>Ground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58874" y="4017448"/>
            <a:ext cx="865943" cy="2388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2">
                <a:latin typeface="Arial"/>
              </a:rPr>
              <a:t>InversionNet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43373" y="4017448"/>
            <a:ext cx="875561" cy="2388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2">
                <a:latin typeface="Arial"/>
              </a:rPr>
              <a:t>VelocityGAN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0952" y="4017448"/>
            <a:ext cx="579005" cy="2388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2">
                <a:latin typeface="Arial"/>
              </a:rPr>
              <a:t>UPFWI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4040" y="4017448"/>
            <a:ext cx="811441" cy="2388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2">
                <a:latin typeface="Arial"/>
              </a:rPr>
              <a:t>Auto-Linear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2888" y="3878951"/>
            <a:ext cx="872355" cy="51584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2">
                <a:latin typeface="Arial"/>
              </a:rPr>
              <a:t>Latent U-Net</a:t>
            </a:r>
            <a:br/>
            <a:r>
              <a:t>(Large)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00586" y="4017448"/>
            <a:ext cx="875561" cy="2388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2">
                <a:latin typeface="Arial"/>
              </a:rPr>
              <a:t>PD-BG-RFM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516" y="4719407"/>
            <a:ext cx="934871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CurveFault</a:t>
            </a:r>
            <a:br/>
            <a:r>
              <a:t>A</a:t>
            </a:r>
          </a:p>
        </p:txBody>
      </p:sp>
      <p:pic>
        <p:nvPicPr>
          <p:cNvPr id="10" name="Picture 9" descr="curvefaulta_026193__ground_truth__ssim_1.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4" y="4429477"/>
            <a:ext cx="1079999" cy="1079999"/>
          </a:xfrm>
          <a:prstGeom prst="rect">
            <a:avLst/>
          </a:prstGeom>
        </p:spPr>
      </p:pic>
      <p:pic>
        <p:nvPicPr>
          <p:cNvPr id="11" name="Picture 10" descr="curvefaulta_026193__inversionnet__ssim_0.99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628" y="4429477"/>
            <a:ext cx="1079999" cy="1079999"/>
          </a:xfrm>
          <a:prstGeom prst="rect">
            <a:avLst/>
          </a:prstGeom>
        </p:spPr>
      </p:pic>
      <p:pic>
        <p:nvPicPr>
          <p:cNvPr id="12" name="Picture 11" descr="curvefaulta_026193__velocitygan__ssim_0.99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33" y="4429477"/>
            <a:ext cx="1079999" cy="1079999"/>
          </a:xfrm>
          <a:prstGeom prst="rect">
            <a:avLst/>
          </a:prstGeom>
        </p:spPr>
      </p:pic>
      <p:pic>
        <p:nvPicPr>
          <p:cNvPr id="13" name="Picture 12" descr="curvefaulta_026193__upfwi__ssim_0.99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7" y="4429477"/>
            <a:ext cx="1079999" cy="1079999"/>
          </a:xfrm>
          <a:prstGeom prst="rect">
            <a:avLst/>
          </a:prstGeom>
        </p:spPr>
      </p:pic>
      <p:pic>
        <p:nvPicPr>
          <p:cNvPr id="14" name="Picture 13" descr="curvefaulta_026193__auto_linear__ssim_0.99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8" y="4429477"/>
            <a:ext cx="1079999" cy="1079999"/>
          </a:xfrm>
          <a:prstGeom prst="rect">
            <a:avLst/>
          </a:prstGeom>
        </p:spPr>
      </p:pic>
      <p:pic>
        <p:nvPicPr>
          <p:cNvPr id="15" name="Picture 14" descr="curvefaulta_026193__latent_u_net__large__ssim_0.998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4" y="4429477"/>
            <a:ext cx="1079999" cy="1079999"/>
          </a:xfrm>
          <a:prstGeom prst="rect">
            <a:avLst/>
          </a:prstGeom>
        </p:spPr>
      </p:pic>
      <p:pic>
        <p:nvPicPr>
          <p:cNvPr id="16" name="Picture 15" descr="curvefaulta_026193__pd_bg_rfm__ssim_0.999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3148" y="4429477"/>
            <a:ext cx="1079999" cy="10799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7516" y="6036143"/>
            <a:ext cx="934871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CurveFault</a:t>
            </a:r>
            <a:br/>
            <a:r>
              <a:t>B</a:t>
            </a:r>
          </a:p>
        </p:txBody>
      </p:sp>
      <p:pic>
        <p:nvPicPr>
          <p:cNvPr id="18" name="Picture 17" descr="curvefaultb_007449__ground_truth__ssim_1.000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7324" y="5746216"/>
            <a:ext cx="1079999" cy="1079999"/>
          </a:xfrm>
          <a:prstGeom prst="rect">
            <a:avLst/>
          </a:prstGeom>
        </p:spPr>
      </p:pic>
      <p:pic>
        <p:nvPicPr>
          <p:cNvPr id="19" name="Picture 18" descr="curvefaultb_007449__inversionnet__ssim_0.97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6628" y="5746217"/>
            <a:ext cx="1079999" cy="1079999"/>
          </a:xfrm>
          <a:prstGeom prst="rect">
            <a:avLst/>
          </a:prstGeom>
        </p:spPr>
      </p:pic>
      <p:pic>
        <p:nvPicPr>
          <p:cNvPr id="20" name="Picture 19" descr="curvefaultb_007449__velocitygan__ssim_0.959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95933" y="5746217"/>
            <a:ext cx="1079999" cy="1079999"/>
          </a:xfrm>
          <a:prstGeom prst="rect">
            <a:avLst/>
          </a:prstGeom>
        </p:spPr>
      </p:pic>
      <p:pic>
        <p:nvPicPr>
          <p:cNvPr id="21" name="Picture 20" descr="curvefaultb_007449__upfwi__ssim_0.974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85237" y="5746217"/>
            <a:ext cx="1079999" cy="1079999"/>
          </a:xfrm>
          <a:prstGeom prst="rect">
            <a:avLst/>
          </a:prstGeom>
        </p:spPr>
      </p:pic>
      <p:pic>
        <p:nvPicPr>
          <p:cNvPr id="22" name="Picture 21" descr="curvefaultb_007449__auto_linear__ssim_0.962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4538" y="5746217"/>
            <a:ext cx="1079999" cy="1079999"/>
          </a:xfrm>
          <a:prstGeom prst="rect">
            <a:avLst/>
          </a:prstGeom>
        </p:spPr>
      </p:pic>
      <p:pic>
        <p:nvPicPr>
          <p:cNvPr id="23" name="Picture 22" descr="curvefaultb_007449__latent_u_net__large__ssim_0.993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63844" y="5746217"/>
            <a:ext cx="1079999" cy="1079999"/>
          </a:xfrm>
          <a:prstGeom prst="rect">
            <a:avLst/>
          </a:prstGeom>
        </p:spPr>
      </p:pic>
      <p:pic>
        <p:nvPicPr>
          <p:cNvPr id="24" name="Picture 23" descr="curvefaultb_007449__pd_bg_rfm__ssim_0.993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53148" y="5746217"/>
            <a:ext cx="1079999" cy="107999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03658" y="7352879"/>
            <a:ext cx="782587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FlatFault</a:t>
            </a:r>
            <a:br/>
            <a:r>
              <a:t>A</a:t>
            </a:r>
          </a:p>
        </p:txBody>
      </p:sp>
      <p:pic>
        <p:nvPicPr>
          <p:cNvPr id="26" name="Picture 25" descr="flatfaulta_010401__ground_truth__ssim_1.000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17324" y="7062949"/>
            <a:ext cx="1079999" cy="1079999"/>
          </a:xfrm>
          <a:prstGeom prst="rect">
            <a:avLst/>
          </a:prstGeom>
        </p:spPr>
      </p:pic>
      <p:pic>
        <p:nvPicPr>
          <p:cNvPr id="27" name="Picture 26" descr="flatfaulta_010401__inversionnet__ssim_0.998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06628" y="7062949"/>
            <a:ext cx="1079999" cy="1079999"/>
          </a:xfrm>
          <a:prstGeom prst="rect">
            <a:avLst/>
          </a:prstGeom>
        </p:spPr>
      </p:pic>
      <p:pic>
        <p:nvPicPr>
          <p:cNvPr id="28" name="Picture 27" descr="flatfaulta_010401__velocitygan__ssim_0.9354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95933" y="7062949"/>
            <a:ext cx="1079999" cy="1079999"/>
          </a:xfrm>
          <a:prstGeom prst="rect">
            <a:avLst/>
          </a:prstGeom>
        </p:spPr>
      </p:pic>
      <p:pic>
        <p:nvPicPr>
          <p:cNvPr id="29" name="Picture 28" descr="flatfaulta_010401__upfwi__ssim_0.989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85237" y="7062949"/>
            <a:ext cx="1079999" cy="1079999"/>
          </a:xfrm>
          <a:prstGeom prst="rect">
            <a:avLst/>
          </a:prstGeom>
        </p:spPr>
      </p:pic>
      <p:pic>
        <p:nvPicPr>
          <p:cNvPr id="30" name="Picture 29" descr="flatfaulta_010401__auto_linear__ssim_0.9944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74538" y="7062949"/>
            <a:ext cx="1079999" cy="1079999"/>
          </a:xfrm>
          <a:prstGeom prst="rect">
            <a:avLst/>
          </a:prstGeom>
        </p:spPr>
      </p:pic>
      <p:pic>
        <p:nvPicPr>
          <p:cNvPr id="31" name="Picture 30" descr="flatfaulta_010401__latent_u_net__large__ssim_0.9987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3844" y="7062949"/>
            <a:ext cx="1079999" cy="1079999"/>
          </a:xfrm>
          <a:prstGeom prst="rect">
            <a:avLst/>
          </a:prstGeom>
        </p:spPr>
      </p:pic>
      <p:pic>
        <p:nvPicPr>
          <p:cNvPr id="32" name="Picture 31" descr="flatfaulta_010401__pd_bg_rfm__ssim_0.9989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53148" y="7062949"/>
            <a:ext cx="1079999" cy="10799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03658" y="8669618"/>
            <a:ext cx="782587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FlatFault</a:t>
            </a:r>
            <a:br/>
            <a:r>
              <a:t>B</a:t>
            </a:r>
          </a:p>
        </p:txBody>
      </p:sp>
      <p:pic>
        <p:nvPicPr>
          <p:cNvPr id="34" name="Picture 33" descr="flatfaultb_021686__ground_truth__ssim_1.0000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17324" y="8379688"/>
            <a:ext cx="1079999" cy="1079999"/>
          </a:xfrm>
          <a:prstGeom prst="rect">
            <a:avLst/>
          </a:prstGeom>
        </p:spPr>
      </p:pic>
      <p:pic>
        <p:nvPicPr>
          <p:cNvPr id="35" name="Picture 34" descr="flatfaultb_021686__inversionnet__ssim_0.9913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706628" y="8379689"/>
            <a:ext cx="1079999" cy="1079999"/>
          </a:xfrm>
          <a:prstGeom prst="rect">
            <a:avLst/>
          </a:prstGeom>
        </p:spPr>
      </p:pic>
      <p:pic>
        <p:nvPicPr>
          <p:cNvPr id="36" name="Picture 35" descr="flatfaultb_021686__velocitygan__ssim_0.9825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995933" y="8379689"/>
            <a:ext cx="1079999" cy="1079999"/>
          </a:xfrm>
          <a:prstGeom prst="rect">
            <a:avLst/>
          </a:prstGeom>
        </p:spPr>
      </p:pic>
      <p:pic>
        <p:nvPicPr>
          <p:cNvPr id="37" name="Picture 36" descr="flatfaultb_021686__upfwi__ssim_0.9873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285237" y="8379689"/>
            <a:ext cx="1079999" cy="1079999"/>
          </a:xfrm>
          <a:prstGeom prst="rect">
            <a:avLst/>
          </a:prstGeom>
        </p:spPr>
      </p:pic>
      <p:pic>
        <p:nvPicPr>
          <p:cNvPr id="38" name="Picture 37" descr="flatfaultb_021686__auto_linear__ssim_0.9643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74538" y="8379689"/>
            <a:ext cx="1079999" cy="1079999"/>
          </a:xfrm>
          <a:prstGeom prst="rect">
            <a:avLst/>
          </a:prstGeom>
        </p:spPr>
      </p:pic>
      <p:pic>
        <p:nvPicPr>
          <p:cNvPr id="39" name="Picture 38" descr="flatfaultb_021686__latent_u_net__large__ssim_0.9984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863844" y="8379689"/>
            <a:ext cx="1079999" cy="1079999"/>
          </a:xfrm>
          <a:prstGeom prst="rect">
            <a:avLst/>
          </a:prstGeom>
        </p:spPr>
      </p:pic>
      <p:pic>
        <p:nvPicPr>
          <p:cNvPr id="40" name="Picture 39" descr="flatfaultb_021686__pd_bg_rfm__ssim_0.9981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53148" y="8379689"/>
            <a:ext cx="1079999" cy="1079999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561326" y="4429479"/>
            <a:ext cx="164591" cy="512064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818082" y="4345182"/>
            <a:ext cx="428322" cy="2234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2">
                <a:latin typeface="Arial"/>
              </a:rPr>
              <a:t>4500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18082" y="5535729"/>
            <a:ext cx="428322" cy="2234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2">
                <a:latin typeface="Arial"/>
              </a:rPr>
              <a:t>3750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18082" y="7993640"/>
            <a:ext cx="428322" cy="2234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2">
                <a:latin typeface="Arial"/>
              </a:rPr>
              <a:t>2250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18082" y="9410960"/>
            <a:ext cx="428322" cy="2234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2">
                <a:latin typeface="Arial"/>
              </a:rPr>
              <a:t>1500</a:t>
            </a:r>
          </a:p>
        </p:txBody>
      </p:sp>
      <p:sp>
        <p:nvSpPr>
          <p:cNvPr id="46" name="TextBox 45"/>
          <p:cNvSpPr txBox="1"/>
          <p:nvPr/>
        </p:nvSpPr>
        <p:spPr>
          <a:xfrm rot="16200000">
            <a:off x="10896928" y="6878070"/>
            <a:ext cx="846706" cy="2234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2">
                <a:latin typeface="Arial"/>
              </a:rPr>
              <a:t>Velocity (m/s)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9650" y="4017448"/>
            <a:ext cx="865943" cy="2388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2">
                <a:latin typeface="Arial"/>
              </a:rPr>
              <a:t>InversionNet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94149" y="4017448"/>
            <a:ext cx="875561" cy="2388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2">
                <a:latin typeface="Arial"/>
              </a:rPr>
              <a:t>VelocityGAN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1727" y="4017448"/>
            <a:ext cx="579005" cy="2388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2">
                <a:latin typeface="Arial"/>
              </a:rPr>
              <a:t>UPFWI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04816" y="4017448"/>
            <a:ext cx="811441" cy="2388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2">
                <a:latin typeface="Arial"/>
              </a:rPr>
              <a:t>Auto-Linear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3664" y="3878951"/>
            <a:ext cx="872355" cy="51584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2">
                <a:latin typeface="Arial"/>
              </a:rPr>
              <a:t>Latent U-Net</a:t>
            </a:r>
            <a:br/>
            <a:r>
              <a:t>(Large)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1362" y="4017448"/>
            <a:ext cx="875561" cy="2388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2">
                <a:latin typeface="Arial"/>
              </a:rPr>
              <a:t>PD-BG-RFM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1861" y="4719407"/>
            <a:ext cx="806182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CurveVel</a:t>
            </a:r>
            <a:br/>
            <a:r>
              <a:t>A</a:t>
            </a:r>
          </a:p>
        </p:txBody>
      </p:sp>
      <p:pic>
        <p:nvPicPr>
          <p:cNvPr id="9" name="Picture 8" descr="curvevela_003929__inversionnet__error__mae_0.01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6" y="4429477"/>
            <a:ext cx="1079999" cy="1079999"/>
          </a:xfrm>
          <a:prstGeom prst="rect">
            <a:avLst/>
          </a:prstGeom>
        </p:spPr>
      </p:pic>
      <p:pic>
        <p:nvPicPr>
          <p:cNvPr id="10" name="Picture 9" descr="curvevela_003929__velocitygan__error__mae_0.02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709" y="4429477"/>
            <a:ext cx="1079999" cy="1079999"/>
          </a:xfrm>
          <a:prstGeom prst="rect">
            <a:avLst/>
          </a:prstGeom>
        </p:spPr>
      </p:pic>
      <p:pic>
        <p:nvPicPr>
          <p:cNvPr id="11" name="Picture 10" descr="curvevela_003929__upfwi__error__mae_0.01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13" y="4429477"/>
            <a:ext cx="1079999" cy="1079999"/>
          </a:xfrm>
          <a:prstGeom prst="rect">
            <a:avLst/>
          </a:prstGeom>
        </p:spPr>
      </p:pic>
      <p:pic>
        <p:nvPicPr>
          <p:cNvPr id="12" name="Picture 11" descr="curvevela_003929__auto_linear__error__mae_0.044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7" y="4429477"/>
            <a:ext cx="1079999" cy="1079999"/>
          </a:xfrm>
          <a:prstGeom prst="rect">
            <a:avLst/>
          </a:prstGeom>
        </p:spPr>
      </p:pic>
      <p:pic>
        <p:nvPicPr>
          <p:cNvPr id="13" name="Picture 12" descr="curvevela_003929__latent_u_net__large__error__mae_0.01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4622" y="4429477"/>
            <a:ext cx="1079999" cy="1079999"/>
          </a:xfrm>
          <a:prstGeom prst="rect">
            <a:avLst/>
          </a:prstGeom>
        </p:spPr>
      </p:pic>
      <p:pic>
        <p:nvPicPr>
          <p:cNvPr id="14" name="Picture 13" descr="curvevela_003929__pd_bg_rfm__error__mae_0.009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6" y="4429477"/>
            <a:ext cx="1079999" cy="10799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1861" y="6036143"/>
            <a:ext cx="806182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CurveVel</a:t>
            </a:r>
            <a:br/>
            <a:r>
              <a:t>B</a:t>
            </a:r>
          </a:p>
        </p:txBody>
      </p:sp>
      <p:pic>
        <p:nvPicPr>
          <p:cNvPr id="16" name="Picture 15" descr="curvevelb_026377__inversionnet__error__mae_0.034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7406" y="5746217"/>
            <a:ext cx="1079999" cy="1079999"/>
          </a:xfrm>
          <a:prstGeom prst="rect">
            <a:avLst/>
          </a:prstGeom>
        </p:spPr>
      </p:pic>
      <p:pic>
        <p:nvPicPr>
          <p:cNvPr id="17" name="Picture 16" descr="curvevelb_026377__velocitygan__error__mae_0.06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6709" y="5746217"/>
            <a:ext cx="1079999" cy="1079999"/>
          </a:xfrm>
          <a:prstGeom prst="rect">
            <a:avLst/>
          </a:prstGeom>
        </p:spPr>
      </p:pic>
      <p:pic>
        <p:nvPicPr>
          <p:cNvPr id="18" name="Picture 17" descr="curvevelb_026377__upfwi__error__mae_0.044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6013" y="5746217"/>
            <a:ext cx="1079999" cy="1079999"/>
          </a:xfrm>
          <a:prstGeom prst="rect">
            <a:avLst/>
          </a:prstGeom>
        </p:spPr>
      </p:pic>
      <p:pic>
        <p:nvPicPr>
          <p:cNvPr id="19" name="Picture 18" descr="curvevelb_026377__auto_linear__error__mae_0.143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5317" y="5746217"/>
            <a:ext cx="1079999" cy="1079999"/>
          </a:xfrm>
          <a:prstGeom prst="rect">
            <a:avLst/>
          </a:prstGeom>
        </p:spPr>
      </p:pic>
      <p:pic>
        <p:nvPicPr>
          <p:cNvPr id="20" name="Picture 19" descr="curvevelb_026377__latent_u_net__large__error__mae_0.016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4622" y="5746217"/>
            <a:ext cx="1079999" cy="1079999"/>
          </a:xfrm>
          <a:prstGeom prst="rect">
            <a:avLst/>
          </a:prstGeom>
        </p:spPr>
      </p:pic>
      <p:pic>
        <p:nvPicPr>
          <p:cNvPr id="21" name="Picture 20" descr="curvevelb_026377__pd_bg_rfm__error__mae_0.026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03926" y="5746217"/>
            <a:ext cx="1079999" cy="107999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68006" y="7352879"/>
            <a:ext cx="653897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FlatVel</a:t>
            </a:r>
            <a:br/>
            <a:r>
              <a:t>A</a:t>
            </a:r>
          </a:p>
        </p:txBody>
      </p:sp>
      <p:pic>
        <p:nvPicPr>
          <p:cNvPr id="23" name="Picture 22" descr="flatvela_000101__inversionnet__error__mae_0.014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57406" y="7062949"/>
            <a:ext cx="1079999" cy="1079999"/>
          </a:xfrm>
          <a:prstGeom prst="rect">
            <a:avLst/>
          </a:prstGeom>
        </p:spPr>
      </p:pic>
      <p:pic>
        <p:nvPicPr>
          <p:cNvPr id="24" name="Picture 23" descr="flatvela_000101__velocitygan__error__mae_0.154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46709" y="7062949"/>
            <a:ext cx="1079999" cy="1079999"/>
          </a:xfrm>
          <a:prstGeom prst="rect">
            <a:avLst/>
          </a:prstGeom>
        </p:spPr>
      </p:pic>
      <p:pic>
        <p:nvPicPr>
          <p:cNvPr id="25" name="Picture 24" descr="flatvela_000101__upfwi__error__mae_0.017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36013" y="7062949"/>
            <a:ext cx="1079999" cy="1079999"/>
          </a:xfrm>
          <a:prstGeom prst="rect">
            <a:avLst/>
          </a:prstGeom>
        </p:spPr>
      </p:pic>
      <p:pic>
        <p:nvPicPr>
          <p:cNvPr id="26" name="Picture 25" descr="flatvela_000101__auto_linear__error__mae_0.018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25317" y="7062949"/>
            <a:ext cx="1079999" cy="1079999"/>
          </a:xfrm>
          <a:prstGeom prst="rect">
            <a:avLst/>
          </a:prstGeom>
        </p:spPr>
      </p:pic>
      <p:pic>
        <p:nvPicPr>
          <p:cNvPr id="27" name="Picture 26" descr="flatvela_000101__latent_u_net__large__error__mae_0.0165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14622" y="7062949"/>
            <a:ext cx="1079999" cy="1079999"/>
          </a:xfrm>
          <a:prstGeom prst="rect">
            <a:avLst/>
          </a:prstGeom>
        </p:spPr>
      </p:pic>
      <p:pic>
        <p:nvPicPr>
          <p:cNvPr id="28" name="Picture 27" descr="flatvela_000101__pd_bg_rfm__error__mae_0.0164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03926" y="7062949"/>
            <a:ext cx="1079999" cy="10799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68006" y="8669618"/>
            <a:ext cx="653897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FlatVel</a:t>
            </a:r>
            <a:br/>
            <a:r>
              <a:t>B</a:t>
            </a:r>
          </a:p>
        </p:txBody>
      </p:sp>
      <p:pic>
        <p:nvPicPr>
          <p:cNvPr id="30" name="Picture 29" descr="flatvelb_029501__inversionnet__error__mae_0.0124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57406" y="8379689"/>
            <a:ext cx="1079999" cy="1079999"/>
          </a:xfrm>
          <a:prstGeom prst="rect">
            <a:avLst/>
          </a:prstGeom>
        </p:spPr>
      </p:pic>
      <p:pic>
        <p:nvPicPr>
          <p:cNvPr id="31" name="Picture 30" descr="flatvelb_029501__velocitygan__error__mae_0.0422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46709" y="8379689"/>
            <a:ext cx="1079999" cy="1079999"/>
          </a:xfrm>
          <a:prstGeom prst="rect">
            <a:avLst/>
          </a:prstGeom>
        </p:spPr>
      </p:pic>
      <p:pic>
        <p:nvPicPr>
          <p:cNvPr id="32" name="Picture 31" descr="flatvelb_029501__upfwi__error__mae_0.0125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36013" y="8379689"/>
            <a:ext cx="1079999" cy="1079999"/>
          </a:xfrm>
          <a:prstGeom prst="rect">
            <a:avLst/>
          </a:prstGeom>
        </p:spPr>
      </p:pic>
      <p:pic>
        <p:nvPicPr>
          <p:cNvPr id="33" name="Picture 32" descr="flatvelb_029501__auto_linear__error__mae_0.1030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25317" y="8379689"/>
            <a:ext cx="1079999" cy="1079999"/>
          </a:xfrm>
          <a:prstGeom prst="rect">
            <a:avLst/>
          </a:prstGeom>
        </p:spPr>
      </p:pic>
      <p:pic>
        <p:nvPicPr>
          <p:cNvPr id="34" name="Picture 33" descr="flatvelb_029501__latent_u_net__large__error__mae_0.0150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14622" y="8379689"/>
            <a:ext cx="1079999" cy="1079999"/>
          </a:xfrm>
          <a:prstGeom prst="rect">
            <a:avLst/>
          </a:prstGeom>
        </p:spPr>
      </p:pic>
      <p:pic>
        <p:nvPicPr>
          <p:cNvPr id="35" name="Picture 34" descr="flatvelb_029501__pd_bg_rfm__error__mae_0.0304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03926" y="8379689"/>
            <a:ext cx="1079999" cy="1079999"/>
          </a:xfrm>
          <a:prstGeom prst="rect">
            <a:avLst/>
          </a:prstGeom>
        </p:spPr>
      </p:pic>
      <p:pic>
        <p:nvPicPr>
          <p:cNvPr id="36" name="Picture 35" descr="inferno_error_colorbar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561326" y="4429479"/>
            <a:ext cx="164591" cy="512064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848536" y="4345182"/>
            <a:ext cx="367408" cy="2234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2">
                <a:latin typeface="Arial"/>
              </a:rPr>
              <a:t>750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02850" y="5535729"/>
            <a:ext cx="458780" cy="2234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2">
                <a:latin typeface="Arial"/>
              </a:rPr>
              <a:t>562.5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02850" y="7993640"/>
            <a:ext cx="458780" cy="2234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2">
                <a:latin typeface="Arial"/>
              </a:rPr>
              <a:t>187.5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09447" y="9410960"/>
            <a:ext cx="245580" cy="2234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2">
                <a:latin typeface="Arial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 rot="16200000">
            <a:off x="12268006" y="6878071"/>
            <a:ext cx="1152881" cy="2234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2">
                <a:latin typeface="Arial"/>
              </a:rPr>
              <a:t>Absolute error (m/s)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9650" y="4017448"/>
            <a:ext cx="865943" cy="2388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2">
                <a:latin typeface="Arial"/>
              </a:rPr>
              <a:t>InversionNet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94149" y="4017448"/>
            <a:ext cx="875561" cy="2388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2">
                <a:latin typeface="Arial"/>
              </a:rPr>
              <a:t>VelocityGAN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1727" y="4017448"/>
            <a:ext cx="579005" cy="2388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2">
                <a:latin typeface="Arial"/>
              </a:rPr>
              <a:t>UPFWI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04816" y="4017448"/>
            <a:ext cx="811441" cy="2388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2">
                <a:latin typeface="Arial"/>
              </a:rPr>
              <a:t>Auto-Linear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3664" y="3878951"/>
            <a:ext cx="872355" cy="51584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2">
                <a:latin typeface="Arial"/>
              </a:rPr>
              <a:t>Latent U-Net</a:t>
            </a:r>
            <a:br/>
            <a:r>
              <a:t>(Large)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1362" y="4017448"/>
            <a:ext cx="875561" cy="2388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2">
                <a:latin typeface="Arial"/>
              </a:rPr>
              <a:t>PD-BG-RFM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516" y="4719407"/>
            <a:ext cx="934871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CurveFault</a:t>
            </a:r>
            <a:br/>
            <a:r>
              <a:t>A</a:t>
            </a:r>
          </a:p>
        </p:txBody>
      </p:sp>
      <p:pic>
        <p:nvPicPr>
          <p:cNvPr id="9" name="Picture 8" descr="curvefaulta_026193__inversionnet__error__mae_0.01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6" y="4429477"/>
            <a:ext cx="1079999" cy="1079999"/>
          </a:xfrm>
          <a:prstGeom prst="rect">
            <a:avLst/>
          </a:prstGeom>
        </p:spPr>
      </p:pic>
      <p:pic>
        <p:nvPicPr>
          <p:cNvPr id="10" name="Picture 9" descr="curvefaulta_026193__velocitygan__error__mae_0.04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709" y="4429477"/>
            <a:ext cx="1079999" cy="1079999"/>
          </a:xfrm>
          <a:prstGeom prst="rect">
            <a:avLst/>
          </a:prstGeom>
        </p:spPr>
      </p:pic>
      <p:pic>
        <p:nvPicPr>
          <p:cNvPr id="11" name="Picture 10" descr="curvefaulta_026193__upfwi__error__mae_0.01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13" y="4429477"/>
            <a:ext cx="1079999" cy="1079999"/>
          </a:xfrm>
          <a:prstGeom prst="rect">
            <a:avLst/>
          </a:prstGeom>
        </p:spPr>
      </p:pic>
      <p:pic>
        <p:nvPicPr>
          <p:cNvPr id="12" name="Picture 11" descr="curvefaulta_026193__auto_linear__error__mae_0.03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7" y="4429477"/>
            <a:ext cx="1079999" cy="1079999"/>
          </a:xfrm>
          <a:prstGeom prst="rect">
            <a:avLst/>
          </a:prstGeom>
        </p:spPr>
      </p:pic>
      <p:pic>
        <p:nvPicPr>
          <p:cNvPr id="13" name="Picture 12" descr="curvefaulta_026193__latent_u_net__large__error__mae_0.017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4622" y="4429477"/>
            <a:ext cx="1079999" cy="1079999"/>
          </a:xfrm>
          <a:prstGeom prst="rect">
            <a:avLst/>
          </a:prstGeom>
        </p:spPr>
      </p:pic>
      <p:pic>
        <p:nvPicPr>
          <p:cNvPr id="14" name="Picture 13" descr="curvefaulta_026193__pd_bg_rfm__error__mae_0.01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6" y="4429477"/>
            <a:ext cx="1079999" cy="10799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7516" y="6036143"/>
            <a:ext cx="934871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CurveFault</a:t>
            </a:r>
            <a:br/>
            <a:r>
              <a:t>B</a:t>
            </a:r>
          </a:p>
        </p:txBody>
      </p:sp>
      <p:pic>
        <p:nvPicPr>
          <p:cNvPr id="16" name="Picture 15" descr="curvefaultb_007449__inversionnet__error__mae_0.047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7406" y="5746217"/>
            <a:ext cx="1079999" cy="1079999"/>
          </a:xfrm>
          <a:prstGeom prst="rect">
            <a:avLst/>
          </a:prstGeom>
        </p:spPr>
      </p:pic>
      <p:pic>
        <p:nvPicPr>
          <p:cNvPr id="17" name="Picture 16" descr="curvefaultb_007449__velocitygan__error__mae_0.073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6709" y="5746217"/>
            <a:ext cx="1079999" cy="1079999"/>
          </a:xfrm>
          <a:prstGeom prst="rect">
            <a:avLst/>
          </a:prstGeom>
        </p:spPr>
      </p:pic>
      <p:pic>
        <p:nvPicPr>
          <p:cNvPr id="18" name="Picture 17" descr="curvefaultb_007449__upfwi__error__mae_0.056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6013" y="5746217"/>
            <a:ext cx="1079999" cy="1079999"/>
          </a:xfrm>
          <a:prstGeom prst="rect">
            <a:avLst/>
          </a:prstGeom>
        </p:spPr>
      </p:pic>
      <p:pic>
        <p:nvPicPr>
          <p:cNvPr id="19" name="Picture 18" descr="curvefaultb_007449__auto_linear__error__mae_0.08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5317" y="5746217"/>
            <a:ext cx="1079999" cy="1079999"/>
          </a:xfrm>
          <a:prstGeom prst="rect">
            <a:avLst/>
          </a:prstGeom>
        </p:spPr>
      </p:pic>
      <p:pic>
        <p:nvPicPr>
          <p:cNvPr id="20" name="Picture 19" descr="curvefaultb_007449__latent_u_net__large__error__mae_0.026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4622" y="5746217"/>
            <a:ext cx="1079999" cy="1079999"/>
          </a:xfrm>
          <a:prstGeom prst="rect">
            <a:avLst/>
          </a:prstGeom>
        </p:spPr>
      </p:pic>
      <p:pic>
        <p:nvPicPr>
          <p:cNvPr id="21" name="Picture 20" descr="curvefaultb_007449__pd_bg_rfm__error__mae_0.029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03926" y="5746217"/>
            <a:ext cx="1079999" cy="107999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03658" y="7352879"/>
            <a:ext cx="782587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FlatFault</a:t>
            </a:r>
            <a:br/>
            <a:r>
              <a:t>A</a:t>
            </a:r>
          </a:p>
        </p:txBody>
      </p:sp>
      <p:pic>
        <p:nvPicPr>
          <p:cNvPr id="23" name="Picture 22" descr="flatfaulta_010401__inversionnet__error__mae_0.017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57406" y="7062949"/>
            <a:ext cx="1079999" cy="1079999"/>
          </a:xfrm>
          <a:prstGeom prst="rect">
            <a:avLst/>
          </a:prstGeom>
        </p:spPr>
      </p:pic>
      <p:pic>
        <p:nvPicPr>
          <p:cNvPr id="24" name="Picture 23" descr="flatfaulta_010401__velocitygan__error__mae_0.100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46709" y="7062949"/>
            <a:ext cx="1079999" cy="1079999"/>
          </a:xfrm>
          <a:prstGeom prst="rect">
            <a:avLst/>
          </a:prstGeom>
        </p:spPr>
      </p:pic>
      <p:pic>
        <p:nvPicPr>
          <p:cNvPr id="25" name="Picture 24" descr="flatfaulta_010401__upfwi__error__mae_0.0249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36013" y="7062949"/>
            <a:ext cx="1079999" cy="1079999"/>
          </a:xfrm>
          <a:prstGeom prst="rect">
            <a:avLst/>
          </a:prstGeom>
        </p:spPr>
      </p:pic>
      <p:pic>
        <p:nvPicPr>
          <p:cNvPr id="26" name="Picture 25" descr="flatfaulta_010401__auto_linear__error__mae_0.023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25317" y="7062949"/>
            <a:ext cx="1079999" cy="1079999"/>
          </a:xfrm>
          <a:prstGeom prst="rect">
            <a:avLst/>
          </a:prstGeom>
        </p:spPr>
      </p:pic>
      <p:pic>
        <p:nvPicPr>
          <p:cNvPr id="27" name="Picture 26" descr="flatfaulta_010401__latent_u_net__large__error__mae_0.019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14622" y="7062949"/>
            <a:ext cx="1079999" cy="1079999"/>
          </a:xfrm>
          <a:prstGeom prst="rect">
            <a:avLst/>
          </a:prstGeom>
        </p:spPr>
      </p:pic>
      <p:pic>
        <p:nvPicPr>
          <p:cNvPr id="28" name="Picture 27" descr="flatfaulta_010401__pd_bg_rfm__error__mae_0.0185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03926" y="7062949"/>
            <a:ext cx="1079999" cy="10799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03658" y="8669618"/>
            <a:ext cx="782587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>
                <a:latin typeface="Arial"/>
              </a:rPr>
              <a:t>FlatFault</a:t>
            </a:r>
            <a:br/>
            <a:r>
              <a:t>B</a:t>
            </a:r>
          </a:p>
        </p:txBody>
      </p:sp>
      <p:pic>
        <p:nvPicPr>
          <p:cNvPr id="30" name="Picture 29" descr="flatfaultb_021686__inversionnet__error__mae_0.0275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57406" y="8379689"/>
            <a:ext cx="1079999" cy="1079999"/>
          </a:xfrm>
          <a:prstGeom prst="rect">
            <a:avLst/>
          </a:prstGeom>
        </p:spPr>
      </p:pic>
      <p:pic>
        <p:nvPicPr>
          <p:cNvPr id="31" name="Picture 30" descr="flatfaultb_021686__velocitygan__error__mae_0.0430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46709" y="8379689"/>
            <a:ext cx="1079999" cy="1079999"/>
          </a:xfrm>
          <a:prstGeom prst="rect">
            <a:avLst/>
          </a:prstGeom>
        </p:spPr>
      </p:pic>
      <p:pic>
        <p:nvPicPr>
          <p:cNvPr id="32" name="Picture 31" descr="flatfaultb_021686__upfwi__error__mae_0.0319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36013" y="8379689"/>
            <a:ext cx="1079999" cy="1079999"/>
          </a:xfrm>
          <a:prstGeom prst="rect">
            <a:avLst/>
          </a:prstGeom>
        </p:spPr>
      </p:pic>
      <p:pic>
        <p:nvPicPr>
          <p:cNvPr id="33" name="Picture 32" descr="flatfaultb_021686__auto_linear__error__mae_0.0863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25317" y="8379689"/>
            <a:ext cx="1079999" cy="1079999"/>
          </a:xfrm>
          <a:prstGeom prst="rect">
            <a:avLst/>
          </a:prstGeom>
        </p:spPr>
      </p:pic>
      <p:pic>
        <p:nvPicPr>
          <p:cNvPr id="34" name="Picture 33" descr="flatfaultb_021686__latent_u_net__large__error__mae_0.0160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14622" y="8379689"/>
            <a:ext cx="1079999" cy="1079999"/>
          </a:xfrm>
          <a:prstGeom prst="rect">
            <a:avLst/>
          </a:prstGeom>
        </p:spPr>
      </p:pic>
      <p:pic>
        <p:nvPicPr>
          <p:cNvPr id="35" name="Picture 34" descr="flatfaultb_021686__pd_bg_rfm__error__mae_0.0175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03926" y="8379689"/>
            <a:ext cx="1079999" cy="1079999"/>
          </a:xfrm>
          <a:prstGeom prst="rect">
            <a:avLst/>
          </a:prstGeom>
        </p:spPr>
      </p:pic>
      <p:pic>
        <p:nvPicPr>
          <p:cNvPr id="36" name="Picture 35" descr="inferno_error_colorbar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561326" y="4429479"/>
            <a:ext cx="164591" cy="512064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848536" y="4345182"/>
            <a:ext cx="367408" cy="2234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2">
                <a:latin typeface="Arial"/>
              </a:rPr>
              <a:t>750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02850" y="5535729"/>
            <a:ext cx="458780" cy="2234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2">
                <a:latin typeface="Arial"/>
              </a:rPr>
              <a:t>562.5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02850" y="7993640"/>
            <a:ext cx="458780" cy="2234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2">
                <a:latin typeface="Arial"/>
              </a:rPr>
              <a:t>187.5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09447" y="9410960"/>
            <a:ext cx="245580" cy="2234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2">
                <a:latin typeface="Arial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 rot="16200000">
            <a:off x="12268006" y="6878071"/>
            <a:ext cx="1152881" cy="2234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2" dirty="0">
                <a:latin typeface="Arial"/>
              </a:rPr>
              <a:t>Absolute error (m/s)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 descr="curvefaultb_007449__inversionnet__error__mae_0.0472.png">
            <a:extLst>
              <a:ext uri="{FF2B5EF4-FFF2-40B4-BE49-F238E27FC236}">
                <a16:creationId xmlns:a16="http://schemas.microsoft.com/office/drawing/2014/main" id="{552DA900-83BE-6CBC-BAF1-A806EE521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112" y="6322624"/>
            <a:ext cx="1079999" cy="1079999"/>
          </a:xfrm>
          <a:prstGeom prst="rect">
            <a:avLst/>
          </a:prstGeom>
        </p:spPr>
      </p:pic>
      <p:pic>
        <p:nvPicPr>
          <p:cNvPr id="3" name="Picture 16" descr="curvefaultb_007449__velocitygan__error__mae_0.0735.png">
            <a:extLst>
              <a:ext uri="{FF2B5EF4-FFF2-40B4-BE49-F238E27FC236}">
                <a16:creationId xmlns:a16="http://schemas.microsoft.com/office/drawing/2014/main" id="{7BCD532A-7D0A-0C8F-8723-327FDEF31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1419" y="6322624"/>
            <a:ext cx="1079999" cy="1079999"/>
          </a:xfrm>
          <a:prstGeom prst="rect">
            <a:avLst/>
          </a:prstGeom>
        </p:spPr>
      </p:pic>
      <p:pic>
        <p:nvPicPr>
          <p:cNvPr id="4" name="Picture 17" descr="curvefaultb_007449__upfwi__error__mae_0.0568.png">
            <a:extLst>
              <a:ext uri="{FF2B5EF4-FFF2-40B4-BE49-F238E27FC236}">
                <a16:creationId xmlns:a16="http://schemas.microsoft.com/office/drawing/2014/main" id="{2D58E5E5-10D2-AB1B-2F2D-3FA2D23029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0723" y="6322624"/>
            <a:ext cx="1079999" cy="1079999"/>
          </a:xfrm>
          <a:prstGeom prst="rect">
            <a:avLst/>
          </a:prstGeom>
        </p:spPr>
      </p:pic>
      <p:pic>
        <p:nvPicPr>
          <p:cNvPr id="5" name="Picture 18" descr="curvefaultb_007449__auto_linear__error__mae_0.0808.png">
            <a:extLst>
              <a:ext uri="{FF2B5EF4-FFF2-40B4-BE49-F238E27FC236}">
                <a16:creationId xmlns:a16="http://schemas.microsoft.com/office/drawing/2014/main" id="{3785B72B-3305-301C-8D8F-9A4D741500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0028" y="6322624"/>
            <a:ext cx="1079999" cy="1079999"/>
          </a:xfrm>
          <a:prstGeom prst="rect">
            <a:avLst/>
          </a:prstGeom>
        </p:spPr>
      </p:pic>
      <p:pic>
        <p:nvPicPr>
          <p:cNvPr id="6" name="Picture 19" descr="curvefaultb_007449__latent_u_net__large__error__mae_0.0263.png">
            <a:extLst>
              <a:ext uri="{FF2B5EF4-FFF2-40B4-BE49-F238E27FC236}">
                <a16:creationId xmlns:a16="http://schemas.microsoft.com/office/drawing/2014/main" id="{4FACB0AC-6B3E-478C-2F4B-AEE0B7F5CC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9329" y="6322624"/>
            <a:ext cx="1079999" cy="1079999"/>
          </a:xfrm>
          <a:prstGeom prst="rect">
            <a:avLst/>
          </a:prstGeom>
        </p:spPr>
      </p:pic>
      <p:pic>
        <p:nvPicPr>
          <p:cNvPr id="7" name="Picture 20" descr="curvefaultb_007449__pd_bg_rfm__error__mae_0.0295.png">
            <a:extLst>
              <a:ext uri="{FF2B5EF4-FFF2-40B4-BE49-F238E27FC236}">
                <a16:creationId xmlns:a16="http://schemas.microsoft.com/office/drawing/2014/main" id="{55B9B4B2-3FB9-5B03-B286-CFC66C8F92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633" y="6322624"/>
            <a:ext cx="1079999" cy="1079999"/>
          </a:xfrm>
          <a:prstGeom prst="rect">
            <a:avLst/>
          </a:prstGeom>
        </p:spPr>
      </p:pic>
      <p:pic>
        <p:nvPicPr>
          <p:cNvPr id="8" name="Picture 29" descr="flatfaultb_021686__inversionnet__error__mae_0.0275.png">
            <a:extLst>
              <a:ext uri="{FF2B5EF4-FFF2-40B4-BE49-F238E27FC236}">
                <a16:creationId xmlns:a16="http://schemas.microsoft.com/office/drawing/2014/main" id="{6851BDAC-B4FB-133F-FD82-9517A1B01A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2112" y="8996903"/>
            <a:ext cx="1079999" cy="1079999"/>
          </a:xfrm>
          <a:prstGeom prst="rect">
            <a:avLst/>
          </a:prstGeom>
        </p:spPr>
      </p:pic>
      <p:pic>
        <p:nvPicPr>
          <p:cNvPr id="9" name="Picture 30" descr="flatfaultb_021686__velocitygan__error__mae_0.0430.png">
            <a:extLst>
              <a:ext uri="{FF2B5EF4-FFF2-40B4-BE49-F238E27FC236}">
                <a16:creationId xmlns:a16="http://schemas.microsoft.com/office/drawing/2014/main" id="{42E24D70-62A0-6E5A-6687-D9C76971845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1419" y="8996903"/>
            <a:ext cx="1079999" cy="1079999"/>
          </a:xfrm>
          <a:prstGeom prst="rect">
            <a:avLst/>
          </a:prstGeom>
        </p:spPr>
      </p:pic>
      <p:pic>
        <p:nvPicPr>
          <p:cNvPr id="10" name="Picture 31" descr="flatfaultb_021686__upfwi__error__mae_0.0319.png">
            <a:extLst>
              <a:ext uri="{FF2B5EF4-FFF2-40B4-BE49-F238E27FC236}">
                <a16:creationId xmlns:a16="http://schemas.microsoft.com/office/drawing/2014/main" id="{3A5B3E99-113C-3A71-7B03-2E83E6B7BA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90723" y="8996903"/>
            <a:ext cx="1079999" cy="1079999"/>
          </a:xfrm>
          <a:prstGeom prst="rect">
            <a:avLst/>
          </a:prstGeom>
        </p:spPr>
      </p:pic>
      <p:pic>
        <p:nvPicPr>
          <p:cNvPr id="11" name="Picture 32" descr="flatfaultb_021686__auto_linear__error__mae_0.0863.png">
            <a:extLst>
              <a:ext uri="{FF2B5EF4-FFF2-40B4-BE49-F238E27FC236}">
                <a16:creationId xmlns:a16="http://schemas.microsoft.com/office/drawing/2014/main" id="{E0AE4A2D-2F10-8E22-C57A-6F8DA24E9FE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0028" y="8996903"/>
            <a:ext cx="1079999" cy="1079999"/>
          </a:xfrm>
          <a:prstGeom prst="rect">
            <a:avLst/>
          </a:prstGeom>
        </p:spPr>
      </p:pic>
      <p:pic>
        <p:nvPicPr>
          <p:cNvPr id="12" name="Picture 33" descr="flatfaultb_021686__latent_u_net__large__error__mae_0.0160.png">
            <a:extLst>
              <a:ext uri="{FF2B5EF4-FFF2-40B4-BE49-F238E27FC236}">
                <a16:creationId xmlns:a16="http://schemas.microsoft.com/office/drawing/2014/main" id="{2441575A-C315-DC9D-8764-A9B0EE359C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69329" y="8996903"/>
            <a:ext cx="1079999" cy="1079999"/>
          </a:xfrm>
          <a:prstGeom prst="rect">
            <a:avLst/>
          </a:prstGeom>
        </p:spPr>
      </p:pic>
      <p:pic>
        <p:nvPicPr>
          <p:cNvPr id="13" name="Picture 34" descr="flatfaultb_021686__pd_bg_rfm__error__mae_0.0175.png">
            <a:extLst>
              <a:ext uri="{FF2B5EF4-FFF2-40B4-BE49-F238E27FC236}">
                <a16:creationId xmlns:a16="http://schemas.microsoft.com/office/drawing/2014/main" id="{2F36B25D-8742-9F7D-2A56-B4F09AFBB64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58633" y="8996903"/>
            <a:ext cx="1079999" cy="1079999"/>
          </a:xfrm>
          <a:prstGeom prst="rect">
            <a:avLst/>
          </a:prstGeom>
        </p:spPr>
      </p:pic>
      <p:pic>
        <p:nvPicPr>
          <p:cNvPr id="15" name="Picture 17" descr="curvefaultb_007449__ground_truth__ssim_1.0000.png">
            <a:extLst>
              <a:ext uri="{FF2B5EF4-FFF2-40B4-BE49-F238E27FC236}">
                <a16:creationId xmlns:a16="http://schemas.microsoft.com/office/drawing/2014/main" id="{88B842A0-EBAD-CE5F-FF86-1FFB526C95F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17985" y="4985484"/>
            <a:ext cx="1079999" cy="1079999"/>
          </a:xfrm>
          <a:prstGeom prst="rect">
            <a:avLst/>
          </a:prstGeom>
        </p:spPr>
      </p:pic>
      <p:pic>
        <p:nvPicPr>
          <p:cNvPr id="16" name="Picture 18" descr="curvefaultb_007449__inversionnet__ssim_0.9750.png">
            <a:extLst>
              <a:ext uri="{FF2B5EF4-FFF2-40B4-BE49-F238E27FC236}">
                <a16:creationId xmlns:a16="http://schemas.microsoft.com/office/drawing/2014/main" id="{89A4E843-82A2-37A9-4148-F7150F8C03C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07289" y="4985484"/>
            <a:ext cx="1079999" cy="1079999"/>
          </a:xfrm>
          <a:prstGeom prst="rect">
            <a:avLst/>
          </a:prstGeom>
        </p:spPr>
      </p:pic>
      <p:pic>
        <p:nvPicPr>
          <p:cNvPr id="17" name="Picture 19" descr="curvefaultb_007449__velocitygan__ssim_0.9592.png">
            <a:extLst>
              <a:ext uri="{FF2B5EF4-FFF2-40B4-BE49-F238E27FC236}">
                <a16:creationId xmlns:a16="http://schemas.microsoft.com/office/drawing/2014/main" id="{53A11A5F-3D11-07E1-FEC9-5D408D31063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6592" y="4985484"/>
            <a:ext cx="1079999" cy="1079999"/>
          </a:xfrm>
          <a:prstGeom prst="rect">
            <a:avLst/>
          </a:prstGeom>
        </p:spPr>
      </p:pic>
      <p:pic>
        <p:nvPicPr>
          <p:cNvPr id="18" name="Picture 20" descr="curvefaultb_007449__upfwi__ssim_0.9740.png">
            <a:extLst>
              <a:ext uri="{FF2B5EF4-FFF2-40B4-BE49-F238E27FC236}">
                <a16:creationId xmlns:a16="http://schemas.microsoft.com/office/drawing/2014/main" id="{52D3897C-A6D6-22C8-072A-8428DDA41AC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85896" y="4985484"/>
            <a:ext cx="1079999" cy="1079999"/>
          </a:xfrm>
          <a:prstGeom prst="rect">
            <a:avLst/>
          </a:prstGeom>
        </p:spPr>
      </p:pic>
      <p:pic>
        <p:nvPicPr>
          <p:cNvPr id="19" name="Picture 21" descr="curvefaultb_007449__auto_linear__ssim_0.9628.png">
            <a:extLst>
              <a:ext uri="{FF2B5EF4-FFF2-40B4-BE49-F238E27FC236}">
                <a16:creationId xmlns:a16="http://schemas.microsoft.com/office/drawing/2014/main" id="{2D003A12-3E81-F992-EDEE-02BBEC6BFE1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75200" y="4985484"/>
            <a:ext cx="1079999" cy="1079999"/>
          </a:xfrm>
          <a:prstGeom prst="rect">
            <a:avLst/>
          </a:prstGeom>
        </p:spPr>
      </p:pic>
      <p:pic>
        <p:nvPicPr>
          <p:cNvPr id="20" name="Picture 22" descr="curvefaultb_007449__latent_u_net__large__ssim_0.9935.png">
            <a:extLst>
              <a:ext uri="{FF2B5EF4-FFF2-40B4-BE49-F238E27FC236}">
                <a16:creationId xmlns:a16="http://schemas.microsoft.com/office/drawing/2014/main" id="{8B8A91BC-D2D8-87CE-F50D-D316830416A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64505" y="4985484"/>
            <a:ext cx="1079999" cy="1079999"/>
          </a:xfrm>
          <a:prstGeom prst="rect">
            <a:avLst/>
          </a:prstGeom>
        </p:spPr>
      </p:pic>
      <p:pic>
        <p:nvPicPr>
          <p:cNvPr id="21" name="Picture 23" descr="curvefaultb_007449__pd_bg_rfm__ssim_0.9937.png">
            <a:extLst>
              <a:ext uri="{FF2B5EF4-FFF2-40B4-BE49-F238E27FC236}">
                <a16:creationId xmlns:a16="http://schemas.microsoft.com/office/drawing/2014/main" id="{D3DFAEC3-36C6-396C-6AE7-C1B7AEFB591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53809" y="4985484"/>
            <a:ext cx="1079999" cy="1079999"/>
          </a:xfrm>
          <a:prstGeom prst="rect">
            <a:avLst/>
          </a:prstGeom>
        </p:spPr>
      </p:pic>
      <p:pic>
        <p:nvPicPr>
          <p:cNvPr id="22" name="Picture 33" descr="flatfaultb_021686__ground_truth__ssim_1.0000.png">
            <a:extLst>
              <a:ext uri="{FF2B5EF4-FFF2-40B4-BE49-F238E27FC236}">
                <a16:creationId xmlns:a16="http://schemas.microsoft.com/office/drawing/2014/main" id="{8C92E602-58C6-B644-969D-EF248E4235A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17985" y="7659764"/>
            <a:ext cx="1079999" cy="1079999"/>
          </a:xfrm>
          <a:prstGeom prst="rect">
            <a:avLst/>
          </a:prstGeom>
        </p:spPr>
      </p:pic>
      <p:pic>
        <p:nvPicPr>
          <p:cNvPr id="23" name="Picture 34" descr="flatfaultb_021686__inversionnet__ssim_0.9913.png">
            <a:extLst>
              <a:ext uri="{FF2B5EF4-FFF2-40B4-BE49-F238E27FC236}">
                <a16:creationId xmlns:a16="http://schemas.microsoft.com/office/drawing/2014/main" id="{460159CF-4408-5D79-F53B-969489D38D6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907289" y="7659764"/>
            <a:ext cx="1079999" cy="1079999"/>
          </a:xfrm>
          <a:prstGeom prst="rect">
            <a:avLst/>
          </a:prstGeom>
        </p:spPr>
      </p:pic>
      <p:pic>
        <p:nvPicPr>
          <p:cNvPr id="24" name="Picture 35" descr="flatfaultb_021686__velocitygan__ssim_0.9825.png">
            <a:extLst>
              <a:ext uri="{FF2B5EF4-FFF2-40B4-BE49-F238E27FC236}">
                <a16:creationId xmlns:a16="http://schemas.microsoft.com/office/drawing/2014/main" id="{277A31DD-6E6B-3EC8-75E8-D951345E1A6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96592" y="7659764"/>
            <a:ext cx="1079999" cy="1079999"/>
          </a:xfrm>
          <a:prstGeom prst="rect">
            <a:avLst/>
          </a:prstGeom>
        </p:spPr>
      </p:pic>
      <p:pic>
        <p:nvPicPr>
          <p:cNvPr id="25" name="Picture 36" descr="flatfaultb_021686__upfwi__ssim_0.9873.png">
            <a:extLst>
              <a:ext uri="{FF2B5EF4-FFF2-40B4-BE49-F238E27FC236}">
                <a16:creationId xmlns:a16="http://schemas.microsoft.com/office/drawing/2014/main" id="{1B1E57E4-987F-1FC1-3341-6CA803418B7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485896" y="7659764"/>
            <a:ext cx="1079999" cy="1079999"/>
          </a:xfrm>
          <a:prstGeom prst="rect">
            <a:avLst/>
          </a:prstGeom>
        </p:spPr>
      </p:pic>
      <p:pic>
        <p:nvPicPr>
          <p:cNvPr id="26" name="Picture 37" descr="flatfaultb_021686__auto_linear__ssim_0.9643.png">
            <a:extLst>
              <a:ext uri="{FF2B5EF4-FFF2-40B4-BE49-F238E27FC236}">
                <a16:creationId xmlns:a16="http://schemas.microsoft.com/office/drawing/2014/main" id="{DFAEB136-0522-75A8-A130-4B7CD5998C5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775200" y="7659764"/>
            <a:ext cx="1079999" cy="1079999"/>
          </a:xfrm>
          <a:prstGeom prst="rect">
            <a:avLst/>
          </a:prstGeom>
        </p:spPr>
      </p:pic>
      <p:pic>
        <p:nvPicPr>
          <p:cNvPr id="27" name="Picture 38" descr="flatfaultb_021686__latent_u_net__large__ssim_0.9984.png">
            <a:extLst>
              <a:ext uri="{FF2B5EF4-FFF2-40B4-BE49-F238E27FC236}">
                <a16:creationId xmlns:a16="http://schemas.microsoft.com/office/drawing/2014/main" id="{D5825795-4C5B-F1E3-02FC-9AEA5E14E21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64505" y="7659764"/>
            <a:ext cx="1079999" cy="1079999"/>
          </a:xfrm>
          <a:prstGeom prst="rect">
            <a:avLst/>
          </a:prstGeom>
        </p:spPr>
      </p:pic>
      <p:pic>
        <p:nvPicPr>
          <p:cNvPr id="28" name="Picture 39" descr="flatfaultb_021686__pd_bg_rfm__ssim_0.9981.png">
            <a:extLst>
              <a:ext uri="{FF2B5EF4-FFF2-40B4-BE49-F238E27FC236}">
                <a16:creationId xmlns:a16="http://schemas.microsoft.com/office/drawing/2014/main" id="{5FE926D0-B030-AD7F-C5F2-47FE59C6135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353809" y="7659764"/>
            <a:ext cx="1079999" cy="1079999"/>
          </a:xfrm>
          <a:prstGeom prst="rect">
            <a:avLst/>
          </a:prstGeom>
        </p:spPr>
      </p:pic>
      <p:grpSp>
        <p:nvGrpSpPr>
          <p:cNvPr id="31" name="组合 30">
            <a:extLst>
              <a:ext uri="{FF2B5EF4-FFF2-40B4-BE49-F238E27FC236}">
                <a16:creationId xmlns:a16="http://schemas.microsoft.com/office/drawing/2014/main" id="{288E4DD9-0D0A-AAA2-8228-6015F3C18079}"/>
              </a:ext>
            </a:extLst>
          </p:cNvPr>
          <p:cNvGrpSpPr/>
          <p:nvPr/>
        </p:nvGrpSpPr>
        <p:grpSpPr>
          <a:xfrm>
            <a:off x="1342702" y="4745296"/>
            <a:ext cx="1523511" cy="1447305"/>
            <a:chOff x="2254575" y="527855"/>
            <a:chExt cx="1453678" cy="1388375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8EAFBC6A-2ECC-F1D2-F61A-6185CDF16A18}"/>
                </a:ext>
              </a:extLst>
            </p:cNvPr>
            <p:cNvSpPr txBox="1"/>
            <p:nvPr/>
          </p:nvSpPr>
          <p:spPr>
            <a:xfrm>
              <a:off x="2254575" y="837927"/>
              <a:ext cx="352404" cy="797854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Depth (km)</a:t>
              </a:r>
              <a:endPara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CAFE24C-FFFC-BC11-7EBB-1D25E91D4496}"/>
                </a:ext>
              </a:extLst>
            </p:cNvPr>
            <p:cNvSpPr txBox="1"/>
            <p:nvPr/>
          </p:nvSpPr>
          <p:spPr>
            <a:xfrm>
              <a:off x="2554122" y="527855"/>
              <a:ext cx="962380" cy="2657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Length (km)</a:t>
              </a:r>
              <a:endPara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7FB906C-C8ED-9649-C815-70C8537C02C7}"/>
                </a:ext>
              </a:extLst>
            </p:cNvPr>
            <p:cNvSpPr txBox="1"/>
            <p:nvPr/>
          </p:nvSpPr>
          <p:spPr>
            <a:xfrm>
              <a:off x="2370067" y="565199"/>
              <a:ext cx="237384" cy="236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0C8CA14F-CDDA-3A6E-7087-A5D1D407DCC8}"/>
                </a:ext>
              </a:extLst>
            </p:cNvPr>
            <p:cNvSpPr txBox="1"/>
            <p:nvPr/>
          </p:nvSpPr>
          <p:spPr>
            <a:xfrm>
              <a:off x="3379099" y="575549"/>
              <a:ext cx="329154" cy="236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0.7</a:t>
              </a:r>
              <a:endPara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481AB4FE-6DFE-31F7-BB59-835E8C5DF242}"/>
                </a:ext>
              </a:extLst>
            </p:cNvPr>
            <p:cNvSpPr txBox="1"/>
            <p:nvPr/>
          </p:nvSpPr>
          <p:spPr>
            <a:xfrm>
              <a:off x="2294532" y="1673884"/>
              <a:ext cx="323036" cy="242346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pPr algn="ctr"/>
              <a:r>
                <a:rPr lang="en-US" altLang="zh-CN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0.7</a:t>
              </a:r>
              <a:endPara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13907B36-9EB6-8951-0BCF-08A3D42CBE29}"/>
              </a:ext>
            </a:extLst>
          </p:cNvPr>
          <p:cNvSpPr txBox="1"/>
          <p:nvPr/>
        </p:nvSpPr>
        <p:spPr>
          <a:xfrm rot="16200000">
            <a:off x="644678" y="5358800"/>
            <a:ext cx="1250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CurveFault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A91650F-015D-F297-D975-34B33616DF67}"/>
              </a:ext>
            </a:extLst>
          </p:cNvPr>
          <p:cNvSpPr txBox="1"/>
          <p:nvPr/>
        </p:nvSpPr>
        <p:spPr>
          <a:xfrm>
            <a:off x="1525791" y="10123812"/>
            <a:ext cx="1275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Truth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866547E-8CFF-457A-626F-200FCDBC9099}"/>
              </a:ext>
            </a:extLst>
          </p:cNvPr>
          <p:cNvSpPr txBox="1"/>
          <p:nvPr/>
        </p:nvSpPr>
        <p:spPr>
          <a:xfrm>
            <a:off x="2898124" y="10123812"/>
            <a:ext cx="1183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InversionNet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40" descr="image.png">
            <a:extLst>
              <a:ext uri="{FF2B5EF4-FFF2-40B4-BE49-F238E27FC236}">
                <a16:creationId xmlns:a16="http://schemas.microsoft.com/office/drawing/2014/main" id="{B80327F8-6293-A6DC-7F96-D8BEC4A5372C}"/>
              </a:ext>
            </a:extLst>
          </p:cNvPr>
          <p:cNvPicPr>
            <a:picLocks/>
          </p:cNvPicPr>
          <p:nvPr/>
        </p:nvPicPr>
        <p:blipFill>
          <a:blip r:embed="rId29"/>
          <a:stretch>
            <a:fillRect/>
          </a:stretch>
        </p:blipFill>
        <p:spPr>
          <a:xfrm>
            <a:off x="10712402" y="4985484"/>
            <a:ext cx="125999" cy="2417140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EB889B84-500D-CCDC-63BA-BB948AD49CF6}"/>
              </a:ext>
            </a:extLst>
          </p:cNvPr>
          <p:cNvSpPr txBox="1"/>
          <p:nvPr/>
        </p:nvSpPr>
        <p:spPr>
          <a:xfrm rot="16200000">
            <a:off x="10832446" y="4875873"/>
            <a:ext cx="338554" cy="348812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4500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54393A5-D44F-DF6D-FAA0-2246A59816B2}"/>
              </a:ext>
            </a:extLst>
          </p:cNvPr>
          <p:cNvSpPr txBox="1"/>
          <p:nvPr/>
        </p:nvSpPr>
        <p:spPr>
          <a:xfrm rot="16200000">
            <a:off x="10854247" y="7090229"/>
            <a:ext cx="338554" cy="423267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1500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C447993-07D7-19A5-E5AB-FDB7DE6121C9}"/>
              </a:ext>
            </a:extLst>
          </p:cNvPr>
          <p:cNvSpPr txBox="1"/>
          <p:nvPr/>
        </p:nvSpPr>
        <p:spPr>
          <a:xfrm>
            <a:off x="10817058" y="5705997"/>
            <a:ext cx="369331" cy="961482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(m/s)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35" descr="inferno_error_colorbar.png">
            <a:extLst>
              <a:ext uri="{FF2B5EF4-FFF2-40B4-BE49-F238E27FC236}">
                <a16:creationId xmlns:a16="http://schemas.microsoft.com/office/drawing/2014/main" id="{8168FAEB-50A7-0D34-224E-96D892EEE3B8}"/>
              </a:ext>
            </a:extLst>
          </p:cNvPr>
          <p:cNvPicPr>
            <a:picLocks/>
          </p:cNvPicPr>
          <p:nvPr/>
        </p:nvPicPr>
        <p:blipFill>
          <a:blip r:embed="rId30"/>
          <a:stretch>
            <a:fillRect/>
          </a:stretch>
        </p:blipFill>
        <p:spPr>
          <a:xfrm>
            <a:off x="10712485" y="7659764"/>
            <a:ext cx="126000" cy="2417138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8A134459-CDBE-15AF-BE0B-D64EC0B6A617}"/>
              </a:ext>
            </a:extLst>
          </p:cNvPr>
          <p:cNvSpPr txBox="1"/>
          <p:nvPr/>
        </p:nvSpPr>
        <p:spPr>
          <a:xfrm rot="16200000">
            <a:off x="10801966" y="7572464"/>
            <a:ext cx="338554" cy="284693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750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6D77BF2-9E11-7D34-B44D-0E792EE36439}"/>
              </a:ext>
            </a:extLst>
          </p:cNvPr>
          <p:cNvSpPr txBox="1"/>
          <p:nvPr/>
        </p:nvSpPr>
        <p:spPr>
          <a:xfrm rot="16200000">
            <a:off x="10784818" y="9851987"/>
            <a:ext cx="338554" cy="300040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917C604-6D13-B059-9D88-975741900910}"/>
              </a:ext>
            </a:extLst>
          </p:cNvPr>
          <p:cNvSpPr txBox="1"/>
          <p:nvPr/>
        </p:nvSpPr>
        <p:spPr>
          <a:xfrm>
            <a:off x="10817057" y="8208110"/>
            <a:ext cx="369332" cy="1468608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Absolute error  (m/s)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0EF95DF-272D-EAD1-3A85-A330A326A519}"/>
              </a:ext>
            </a:extLst>
          </p:cNvPr>
          <p:cNvSpPr txBox="1"/>
          <p:nvPr/>
        </p:nvSpPr>
        <p:spPr>
          <a:xfrm rot="16200000">
            <a:off x="730440" y="8022091"/>
            <a:ext cx="1079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FlatFault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E8BC258-019F-8C5A-1688-2DC04FAEFFB9}"/>
              </a:ext>
            </a:extLst>
          </p:cNvPr>
          <p:cNvSpPr txBox="1"/>
          <p:nvPr/>
        </p:nvSpPr>
        <p:spPr>
          <a:xfrm>
            <a:off x="4157462" y="10123812"/>
            <a:ext cx="11957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VelocityGAN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AEB6989-C238-26E6-1CD0-5EC173226A0D}"/>
              </a:ext>
            </a:extLst>
          </p:cNvPr>
          <p:cNvSpPr txBox="1"/>
          <p:nvPr/>
        </p:nvSpPr>
        <p:spPr>
          <a:xfrm>
            <a:off x="5655570" y="10123812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UPFWI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8A926A1-A40D-EF03-91F5-1E7B52EF0B7E}"/>
              </a:ext>
            </a:extLst>
          </p:cNvPr>
          <p:cNvSpPr txBox="1"/>
          <p:nvPr/>
        </p:nvSpPr>
        <p:spPr>
          <a:xfrm>
            <a:off x="6738679" y="10123812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Auto-Linear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227D9C8-51C8-9BAC-890D-F1BC9A194D57}"/>
              </a:ext>
            </a:extLst>
          </p:cNvPr>
          <p:cNvSpPr txBox="1"/>
          <p:nvPr/>
        </p:nvSpPr>
        <p:spPr>
          <a:xfrm>
            <a:off x="7860781" y="10123813"/>
            <a:ext cx="1479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 U-Net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(L)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9E9B900-5225-B75E-BB17-4C7715296BEF}"/>
              </a:ext>
            </a:extLst>
          </p:cNvPr>
          <p:cNvSpPr txBox="1"/>
          <p:nvPr/>
        </p:nvSpPr>
        <p:spPr>
          <a:xfrm>
            <a:off x="9287315" y="10123813"/>
            <a:ext cx="1210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PD-BG-RFM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839F171-6A2E-0F24-FCF9-B235C11AF46C}"/>
              </a:ext>
            </a:extLst>
          </p:cNvPr>
          <p:cNvSpPr txBox="1"/>
          <p:nvPr/>
        </p:nvSpPr>
        <p:spPr>
          <a:xfrm rot="16200000">
            <a:off x="612647" y="9365295"/>
            <a:ext cx="13147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Absolute error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0FE8990-77F8-DBC9-DC6B-7DE3A2C443DB}"/>
              </a:ext>
            </a:extLst>
          </p:cNvPr>
          <p:cNvSpPr txBox="1"/>
          <p:nvPr/>
        </p:nvSpPr>
        <p:spPr>
          <a:xfrm rot="16200000">
            <a:off x="612647" y="6736039"/>
            <a:ext cx="13147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Absolute error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9DBFF48-3CF2-F4CE-A990-B0E1FA97147A}"/>
              </a:ext>
            </a:extLst>
          </p:cNvPr>
          <p:cNvGrpSpPr/>
          <p:nvPr/>
        </p:nvGrpSpPr>
        <p:grpSpPr>
          <a:xfrm>
            <a:off x="1340950" y="7415199"/>
            <a:ext cx="1523511" cy="1447305"/>
            <a:chOff x="2254575" y="527855"/>
            <a:chExt cx="1453678" cy="1388375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8E22BF5-85C4-271F-728C-9B3861FEC056}"/>
                </a:ext>
              </a:extLst>
            </p:cNvPr>
            <p:cNvSpPr txBox="1"/>
            <p:nvPr/>
          </p:nvSpPr>
          <p:spPr>
            <a:xfrm>
              <a:off x="2254575" y="837927"/>
              <a:ext cx="352404" cy="797854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Depth (km)</a:t>
              </a:r>
              <a:endPara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F9DB49C9-C28B-86D7-024A-02AAB0D5B4CA}"/>
                </a:ext>
              </a:extLst>
            </p:cNvPr>
            <p:cNvSpPr txBox="1"/>
            <p:nvPr/>
          </p:nvSpPr>
          <p:spPr>
            <a:xfrm>
              <a:off x="2554122" y="527855"/>
              <a:ext cx="962380" cy="2657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Length (km)</a:t>
              </a:r>
              <a:endPara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A35AF92A-8C65-11E2-2BF8-08BAD279F011}"/>
                </a:ext>
              </a:extLst>
            </p:cNvPr>
            <p:cNvSpPr txBox="1"/>
            <p:nvPr/>
          </p:nvSpPr>
          <p:spPr>
            <a:xfrm>
              <a:off x="2370067" y="565199"/>
              <a:ext cx="237384" cy="236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2D51A0A0-2783-DA7F-51CE-50DA270C9533}"/>
                </a:ext>
              </a:extLst>
            </p:cNvPr>
            <p:cNvSpPr txBox="1"/>
            <p:nvPr/>
          </p:nvSpPr>
          <p:spPr>
            <a:xfrm>
              <a:off x="3379099" y="575549"/>
              <a:ext cx="329154" cy="236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0.7</a:t>
              </a:r>
              <a:endPara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DA84F1FC-8634-9DBF-B211-A711969E728A}"/>
                </a:ext>
              </a:extLst>
            </p:cNvPr>
            <p:cNvSpPr txBox="1"/>
            <p:nvPr/>
          </p:nvSpPr>
          <p:spPr>
            <a:xfrm>
              <a:off x="2294532" y="1673884"/>
              <a:ext cx="323036" cy="242346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pPr algn="ctr"/>
              <a:r>
                <a:rPr lang="en-US" altLang="zh-CN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0.7</a:t>
              </a:r>
              <a:endPara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8042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</TotalTime>
  <Words>185</Words>
  <Application>Microsoft Office PowerPoint</Application>
  <PresentationFormat>自定义</PresentationFormat>
  <Paragraphs>82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Aptos</vt:lpstr>
      <vt:lpstr>Aptos Display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小娌 甄</dc:creator>
  <cp:lastModifiedBy>小娌 甄</cp:lastModifiedBy>
  <cp:revision>23</cp:revision>
  <dcterms:created xsi:type="dcterms:W3CDTF">2026-07-14T08:46:37Z</dcterms:created>
  <dcterms:modified xsi:type="dcterms:W3CDTF">2026-07-20T05:25:25Z</dcterms:modified>
</cp:coreProperties>
</file>