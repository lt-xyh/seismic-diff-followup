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720840" cy="434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36576"/>
            <a:ext cx="64922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  <a:latin typeface="Arial"/>
              </a:rPr>
              <a:t>Prediction-Consistent Residual Flow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301752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232323"/>
                </a:solidFill>
                <a:latin typeface="Arial"/>
              </a:rPr>
              <a:t>(a) Conditioning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66928"/>
            <a:ext cx="804672" cy="8046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" y="1385316"/>
            <a:ext cx="80467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C_str (channel RMS)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72768"/>
            <a:ext cx="804672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" y="2391156"/>
            <a:ext cx="80467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psi_bg(B_hat)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2578608"/>
            <a:ext cx="9144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30" b="1">
                <a:solidFill>
                  <a:srgbClr val="232323"/>
                </a:solidFill>
                <a:latin typeface="Arial"/>
              </a:rPr>
              <a:t>c_R = [C_str ; psi_bg(B_hat)]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01752"/>
            <a:ext cx="41605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232323"/>
                </a:solidFill>
                <a:latin typeface="Arial"/>
              </a:rPr>
              <a:t>(b) Euler trajectory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84632"/>
            <a:ext cx="41605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30" b="0">
                <a:solidFill>
                  <a:srgbClr val="323232"/>
                </a:solidFill>
                <a:latin typeface="Arial"/>
              </a:rPr>
              <a:t>R_(k+1) = R_k + dt v_k,   dt = 1/50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786384"/>
            <a:ext cx="667512" cy="667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1467611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R_0=\xi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833372" y="1060704"/>
            <a:ext cx="109728" cy="109728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816" y="786384"/>
            <a:ext cx="667512" cy="667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56816" y="1467611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R_{10}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647188" y="1060704"/>
            <a:ext cx="109728" cy="109728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632" y="786384"/>
            <a:ext cx="667512" cy="667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70632" y="1467611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R_{25}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461004" y="1060704"/>
            <a:ext cx="109728" cy="109728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786384"/>
            <a:ext cx="667512" cy="6675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84448" y="1467611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R_{40}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74820" y="1060704"/>
            <a:ext cx="109728" cy="109728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8264" y="786384"/>
            <a:ext cx="667512" cy="6675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98264" y="1467611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R_{50}=\hat 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1874519"/>
            <a:ext cx="667512" cy="6675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43000" y="2555748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v_0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6816" y="1874519"/>
            <a:ext cx="667512" cy="6675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56816" y="2555748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v_{10}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70632" y="1874519"/>
            <a:ext cx="667512" cy="6675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70632" y="2555748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v_{25}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4448" y="1874519"/>
            <a:ext cx="667512" cy="6675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584448" y="2555748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v_{40}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8264" y="1874519"/>
            <a:ext cx="667512" cy="6675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398264" y="2555748"/>
            <a:ext cx="66751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v_{49}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2743200"/>
            <a:ext cx="41605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30" b="0">
                <a:solidFill>
                  <a:srgbClr val="323232"/>
                </a:solidFill>
                <a:latin typeface="Arial"/>
              </a:rPr>
              <a:t>R_t = (1-t) xi + t(V - B_hat);  v_theta(R_t,t,c_R)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301752"/>
            <a:ext cx="10972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232323"/>
                </a:solidFill>
                <a:latin typeface="Arial"/>
              </a:rPr>
              <a:t>(c) Composition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04688" y="640080"/>
            <a:ext cx="822960" cy="8229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04688" y="1476756"/>
            <a:ext cx="8229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B_hat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04688" y="1719072"/>
            <a:ext cx="822960" cy="8229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04688" y="2555748"/>
            <a:ext cx="8229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R_hat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04688" y="2798064"/>
            <a:ext cx="822960" cy="8229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04688" y="3634740"/>
            <a:ext cx="8229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10" b="0">
                <a:solidFill>
                  <a:srgbClr val="232323"/>
                </a:solidFill>
                <a:latin typeface="Arial"/>
              </a:rPr>
              <a:t>V_hat = B_hat + R_hat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" y="4069080"/>
            <a:ext cx="64465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505050"/>
                </a:solidFill>
                <a:latin typeface="Arial"/>
              </a:rPr>
              <a:t>Feature maps are channel RMS (no velocity units); tile images are embedded data assets, while labels, equations, and arrows remain editable.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