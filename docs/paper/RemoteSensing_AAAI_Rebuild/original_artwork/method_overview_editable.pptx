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3" d="100"/>
          <a:sy n="163" d="100"/>
        </p:scale>
        <p:origin x="174" y="19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gend_Inference"/>
          <p:cNvSpPr txBox="1"/>
          <p:nvPr/>
        </p:nvSpPr>
        <p:spPr>
          <a:xfrm>
            <a:off x="201168" y="117477"/>
            <a:ext cx="159017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E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 arrows: inference computation</a:t>
            </a:r>
          </a:p>
        </p:txBody>
      </p:sp>
      <p:cxnSp>
        <p:nvCxnSpPr>
          <p:cNvPr id="3" name="Legend_Inference_Line"/>
          <p:cNvCxnSpPr/>
          <p:nvPr/>
        </p:nvCxnSpPr>
        <p:spPr>
          <a:xfrm>
            <a:off x="2057400" y="182880"/>
            <a:ext cx="429768" cy="0"/>
          </a:xfrm>
          <a:prstGeom prst="line">
            <a:avLst/>
          </a:prstGeom>
          <a:ln w="11430">
            <a:solidFill>
              <a:srgbClr val="344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egend_Inference_Line_ArrowHead"/>
          <p:cNvSpPr/>
          <p:nvPr/>
        </p:nvSpPr>
        <p:spPr>
          <a:xfrm rot="5400000">
            <a:off x="2423160" y="132588"/>
            <a:ext cx="128016" cy="100584"/>
          </a:xfrm>
          <a:prstGeom prst="triangle">
            <a:avLst/>
          </a:prstGeom>
          <a:solidFill>
            <a:srgbClr val="344054"/>
          </a:solidFill>
          <a:ln>
            <a:solidFill>
              <a:srgbClr val="3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egend_Training"/>
          <p:cNvSpPr txBox="1"/>
          <p:nvPr/>
        </p:nvSpPr>
        <p:spPr>
          <a:xfrm>
            <a:off x="2578608" y="117477"/>
            <a:ext cx="1806585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D982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Dashed orange: training-only supervision</a:t>
            </a:r>
          </a:p>
        </p:txBody>
      </p:sp>
      <p:cxnSp>
        <p:nvCxnSpPr>
          <p:cNvPr id="6" name="Legend_Training_Line"/>
          <p:cNvCxnSpPr/>
          <p:nvPr/>
        </p:nvCxnSpPr>
        <p:spPr>
          <a:xfrm>
            <a:off x="5001768" y="182880"/>
            <a:ext cx="438912" cy="0"/>
          </a:xfrm>
          <a:prstGeom prst="line">
            <a:avLst/>
          </a:prstGeom>
          <a:ln w="11430">
            <a:solidFill>
              <a:srgbClr val="D982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anel_A_Condition_Contract"/>
          <p:cNvSpPr/>
          <p:nvPr/>
        </p:nvSpPr>
        <p:spPr>
          <a:xfrm>
            <a:off x="296007" y="-4248671"/>
            <a:ext cx="4800600" cy="3977639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C8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Panel_B_Residual_Transport"/>
          <p:cNvSpPr/>
          <p:nvPr/>
        </p:nvSpPr>
        <p:spPr>
          <a:xfrm>
            <a:off x="5102352" y="384048"/>
            <a:ext cx="6912864" cy="3977639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C8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Panel_A_Title"/>
          <p:cNvSpPr txBox="1"/>
          <p:nvPr/>
        </p:nvSpPr>
        <p:spPr>
          <a:xfrm>
            <a:off x="6738708" y="-861376"/>
            <a:ext cx="3356688" cy="2231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 i="0" dirty="0">
                <a:solidFill>
                  <a:srgbClr val="243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Physics-Decoupled Condition Contract</a:t>
            </a:r>
          </a:p>
        </p:txBody>
      </p:sp>
      <p:sp>
        <p:nvSpPr>
          <p:cNvPr id="10" name="Panel_B_Title"/>
          <p:cNvSpPr txBox="1"/>
          <p:nvPr/>
        </p:nvSpPr>
        <p:spPr>
          <a:xfrm>
            <a:off x="6757008" y="487363"/>
            <a:ext cx="3603551" cy="2231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 i="0">
                <a:solidFill>
                  <a:srgbClr val="243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Prediction-Consistent Residual Transport</a:t>
            </a:r>
          </a:p>
        </p:txBody>
      </p:sp>
      <p:sp>
        <p:nvSpPr>
          <p:cNvPr id="11" name="Factorization_Formula_Box"/>
          <p:cNvSpPr/>
          <p:nvPr/>
        </p:nvSpPr>
        <p:spPr>
          <a:xfrm>
            <a:off x="1382092" y="-1483031"/>
            <a:ext cx="28346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8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actorization_Formula"/>
          <p:cNvSpPr txBox="1"/>
          <p:nvPr/>
        </p:nvSpPr>
        <p:spPr>
          <a:xfrm>
            <a:off x="1712576" y="-1447894"/>
            <a:ext cx="2173672" cy="1400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10" b="1" i="0" dirty="0" err="1">
                <a:solidFill>
                  <a:srgbClr val="7257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p_PD</a:t>
            </a:r>
            <a:r>
              <a:rPr sz="910" b="1" i="0" dirty="0">
                <a:solidFill>
                  <a:srgbClr val="7257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910" b="1" i="0" dirty="0" err="1">
                <a:solidFill>
                  <a:srgbClr val="7257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b,r|XΩ</a:t>
            </a:r>
            <a:r>
              <a:rPr sz="910" b="1" i="0" dirty="0">
                <a:solidFill>
                  <a:srgbClr val="7257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δ[b=</a:t>
            </a:r>
            <a:r>
              <a:rPr sz="910" b="1" i="0" dirty="0" err="1">
                <a:solidFill>
                  <a:srgbClr val="7257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f_B</a:t>
            </a:r>
            <a:r>
              <a:rPr sz="910" b="1" i="0" dirty="0">
                <a:solidFill>
                  <a:srgbClr val="7257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(C_B)] </a:t>
            </a:r>
            <a:r>
              <a:rPr sz="910" b="1" i="0" dirty="0" err="1">
                <a:solidFill>
                  <a:srgbClr val="7257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pθ</a:t>
            </a:r>
            <a:r>
              <a:rPr sz="910" b="1" i="0" dirty="0">
                <a:solidFill>
                  <a:srgbClr val="7257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910" b="1" i="0" dirty="0" err="1">
                <a:solidFill>
                  <a:srgbClr val="7257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r|C_S,b</a:t>
            </a:r>
            <a:r>
              <a:rPr sz="910" b="1" i="0" dirty="0">
                <a:solidFill>
                  <a:srgbClr val="7257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3" name="Factorization_Label"/>
          <p:cNvSpPr txBox="1"/>
          <p:nvPr/>
        </p:nvSpPr>
        <p:spPr>
          <a:xfrm>
            <a:off x="1856044" y="-1264111"/>
            <a:ext cx="1886735" cy="110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20" b="0" i="1" dirty="0">
                <a:solidFill>
                  <a:srgbClr val="5E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background + distributional residual</a:t>
            </a:r>
          </a:p>
        </p:txBody>
      </p:sp>
      <p:pic>
        <p:nvPicPr>
          <p:cNvPr id="14" name="Input_PoSTM_Tile" descr="pstm_1t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6072" cy="576072"/>
          </a:xfrm>
          <a:prstGeom prst="rect">
            <a:avLst/>
          </a:prstGeom>
        </p:spPr>
      </p:pic>
      <p:sp>
        <p:nvSpPr>
          <p:cNvPr id="15" name="Input_PoSTM_Label"/>
          <p:cNvSpPr txBox="1"/>
          <p:nvPr/>
        </p:nvSpPr>
        <p:spPr>
          <a:xfrm>
            <a:off x="479068" y="1851804"/>
            <a:ext cx="349455" cy="12772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 i="0" dirty="0" err="1">
                <a:solidFill>
                  <a:srgbClr val="243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</a:t>
            </a:r>
            <a:endParaRPr sz="830" b="1" i="0" dirty="0">
              <a:solidFill>
                <a:srgbClr val="24303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nput_Horizon_Tile" descr="horizon_1t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234440"/>
            <a:ext cx="576072" cy="576072"/>
          </a:xfrm>
          <a:prstGeom prst="rect">
            <a:avLst/>
          </a:prstGeom>
        </p:spPr>
      </p:pic>
      <p:sp>
        <p:nvSpPr>
          <p:cNvPr id="17" name="Input_Horizon_Label"/>
          <p:cNvSpPr txBox="1"/>
          <p:nvPr/>
        </p:nvSpPr>
        <p:spPr>
          <a:xfrm>
            <a:off x="1181880" y="1851804"/>
            <a:ext cx="370294" cy="12772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 i="0">
                <a:solidFill>
                  <a:srgbClr val="243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</a:t>
            </a:r>
          </a:p>
        </p:txBody>
      </p:sp>
      <p:pic>
        <p:nvPicPr>
          <p:cNvPr id="18" name="Input_RMS_Tile" descr="rms_1t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267712"/>
            <a:ext cx="576072" cy="576072"/>
          </a:xfrm>
          <a:prstGeom prst="rect">
            <a:avLst/>
          </a:prstGeom>
        </p:spPr>
      </p:pic>
      <p:sp>
        <p:nvSpPr>
          <p:cNvPr id="19" name="Input_RMS_Label"/>
          <p:cNvSpPr txBox="1"/>
          <p:nvPr/>
        </p:nvSpPr>
        <p:spPr>
          <a:xfrm>
            <a:off x="535174" y="2885076"/>
            <a:ext cx="237244" cy="12772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 i="0">
                <a:solidFill>
                  <a:srgbClr val="243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</a:t>
            </a:r>
          </a:p>
        </p:txBody>
      </p:sp>
      <p:pic>
        <p:nvPicPr>
          <p:cNvPr id="20" name="Input_Well_Tile" descr="well_1to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2267712"/>
            <a:ext cx="576072" cy="576072"/>
          </a:xfrm>
          <a:prstGeom prst="rect">
            <a:avLst/>
          </a:prstGeom>
        </p:spPr>
      </p:pic>
      <p:sp>
        <p:nvSpPr>
          <p:cNvPr id="21" name="Input_Well_Label"/>
          <p:cNvSpPr txBox="1"/>
          <p:nvPr/>
        </p:nvSpPr>
        <p:spPr>
          <a:xfrm>
            <a:off x="1262030" y="2885076"/>
            <a:ext cx="209994" cy="12772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1" i="0">
                <a:solidFill>
                  <a:srgbClr val="243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</a:t>
            </a:r>
          </a:p>
        </p:txBody>
      </p:sp>
      <p:sp>
        <p:nvSpPr>
          <p:cNvPr id="22" name="Input_Asymmetry_Label"/>
          <p:cNvSpPr txBox="1"/>
          <p:nvPr/>
        </p:nvSpPr>
        <p:spPr>
          <a:xfrm>
            <a:off x="407343" y="477641"/>
            <a:ext cx="940962" cy="1354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80" b="0" i="1">
                <a:solidFill>
                  <a:srgbClr val="5E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asymmetric evidence</a:t>
            </a:r>
          </a:p>
        </p:txBody>
      </p:sp>
      <p:sp>
        <p:nvSpPr>
          <p:cNvPr id="23" name="Modality_Evidence_Encoder"/>
          <p:cNvSpPr/>
          <p:nvPr/>
        </p:nvSpPr>
        <p:spPr>
          <a:xfrm>
            <a:off x="1874519" y="1325880"/>
            <a:ext cx="804672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Modality_Evidence_Encoder_Label"/>
          <p:cNvSpPr txBox="1"/>
          <p:nvPr/>
        </p:nvSpPr>
        <p:spPr>
          <a:xfrm>
            <a:off x="2052435" y="1657627"/>
            <a:ext cx="448841" cy="41549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243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Modality
Evidence
Encoder</a:t>
            </a:r>
          </a:p>
        </p:txBody>
      </p:sp>
      <p:sp>
        <p:nvSpPr>
          <p:cNvPr id="25" name="Encoder_Em"/>
          <p:cNvSpPr txBox="1"/>
          <p:nvPr/>
        </p:nvSpPr>
        <p:spPr>
          <a:xfrm>
            <a:off x="2146776" y="2333224"/>
            <a:ext cx="269304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46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E_m</a:t>
            </a:r>
          </a:p>
        </p:txBody>
      </p:sp>
      <p:sp>
        <p:nvSpPr>
          <p:cNvPr id="30" name="Role_Heads"/>
          <p:cNvSpPr/>
          <p:nvPr/>
        </p:nvSpPr>
        <p:spPr>
          <a:xfrm>
            <a:off x="2880360" y="1298448"/>
            <a:ext cx="822960" cy="1554480"/>
          </a:xfrm>
          <a:prstGeom prst="roundRect">
            <a:avLst/>
          </a:prstGeom>
          <a:solidFill>
            <a:srgbClr val="F2F4F7"/>
          </a:solidFill>
          <a:ln w="10160">
            <a:solidFill>
              <a:srgbClr val="C8D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ole_Heads_Title"/>
          <p:cNvSpPr txBox="1"/>
          <p:nvPr/>
        </p:nvSpPr>
        <p:spPr>
          <a:xfrm>
            <a:off x="3056198" y="1380119"/>
            <a:ext cx="471283" cy="1292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40" b="1" i="0">
                <a:solidFill>
                  <a:srgbClr val="243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heads</a:t>
            </a:r>
          </a:p>
        </p:txBody>
      </p:sp>
      <p:sp>
        <p:nvSpPr>
          <p:cNvPr id="32" name="Role_Head_B"/>
          <p:cNvSpPr txBox="1"/>
          <p:nvPr/>
        </p:nvSpPr>
        <p:spPr>
          <a:xfrm>
            <a:off x="3154783" y="1728182"/>
            <a:ext cx="274113" cy="1646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70" b="1" i="0">
                <a:solidFill>
                  <a:srgbClr val="2A9D6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B_m</a:t>
            </a:r>
          </a:p>
        </p:txBody>
      </p:sp>
      <p:sp>
        <p:nvSpPr>
          <p:cNvPr id="33" name="Role_Head_S"/>
          <p:cNvSpPr txBox="1"/>
          <p:nvPr/>
        </p:nvSpPr>
        <p:spPr>
          <a:xfrm>
            <a:off x="3161997" y="2048222"/>
            <a:ext cx="259686" cy="1646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70" b="1" i="0">
                <a:solidFill>
                  <a:srgbClr val="246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S_m</a:t>
            </a:r>
          </a:p>
        </p:txBody>
      </p:sp>
      <p:sp>
        <p:nvSpPr>
          <p:cNvPr id="34" name="Role_Head_U"/>
          <p:cNvSpPr txBox="1"/>
          <p:nvPr/>
        </p:nvSpPr>
        <p:spPr>
          <a:xfrm>
            <a:off x="3150775" y="2368262"/>
            <a:ext cx="282129" cy="1646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70" b="1" i="0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U_m</a:t>
            </a:r>
          </a:p>
        </p:txBody>
      </p:sp>
      <p:cxnSp>
        <p:nvCxnSpPr>
          <p:cNvPr id="35" name="Encoder_to_RoleHeads"/>
          <p:cNvCxnSpPr/>
          <p:nvPr/>
        </p:nvCxnSpPr>
        <p:spPr>
          <a:xfrm>
            <a:off x="2679192" y="2057400"/>
            <a:ext cx="201168" cy="0"/>
          </a:xfrm>
          <a:prstGeom prst="line">
            <a:avLst/>
          </a:prstGeom>
          <a:ln w="12700">
            <a:solidFill>
              <a:srgbClr val="344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Encoder_to_RoleHeads_ArrowHead"/>
          <p:cNvSpPr/>
          <p:nvPr/>
        </p:nvSpPr>
        <p:spPr>
          <a:xfrm rot="5400000">
            <a:off x="2816352" y="2007107"/>
            <a:ext cx="128016" cy="100584"/>
          </a:xfrm>
          <a:prstGeom prst="triangle">
            <a:avLst/>
          </a:prstGeom>
          <a:solidFill>
            <a:srgbClr val="344054"/>
          </a:solidFill>
          <a:ln>
            <a:solidFill>
              <a:srgbClr val="3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CB_Fusion"/>
          <p:cNvSpPr/>
          <p:nvPr/>
        </p:nvSpPr>
        <p:spPr>
          <a:xfrm>
            <a:off x="3877056" y="1463040"/>
            <a:ext cx="749808" cy="493776"/>
          </a:xfrm>
          <a:prstGeom prst="roundRect">
            <a:avLst/>
          </a:prstGeom>
          <a:solidFill>
            <a:srgbClr val="EAF6F0"/>
          </a:solidFill>
          <a:ln w="10160">
            <a:solidFill>
              <a:srgbClr val="2A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CB_Label"/>
          <p:cNvSpPr txBox="1"/>
          <p:nvPr/>
        </p:nvSpPr>
        <p:spPr>
          <a:xfrm>
            <a:off x="4094864" y="1573325"/>
            <a:ext cx="314189" cy="2000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A9D6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C_B</a:t>
            </a:r>
          </a:p>
        </p:txBody>
      </p:sp>
      <p:sp>
        <p:nvSpPr>
          <p:cNvPr id="39" name="CS_Fusion"/>
          <p:cNvSpPr/>
          <p:nvPr/>
        </p:nvSpPr>
        <p:spPr>
          <a:xfrm>
            <a:off x="3877056" y="2130552"/>
            <a:ext cx="749808" cy="493776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246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CS_Label"/>
          <p:cNvSpPr txBox="1"/>
          <p:nvPr/>
        </p:nvSpPr>
        <p:spPr>
          <a:xfrm>
            <a:off x="4103681" y="2240837"/>
            <a:ext cx="296555" cy="2000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46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C_S</a:t>
            </a:r>
          </a:p>
        </p:txBody>
      </p:sp>
      <p:cxnSp>
        <p:nvCxnSpPr>
          <p:cNvPr id="41" name="Bm_to_CB"/>
          <p:cNvCxnSpPr/>
          <p:nvPr/>
        </p:nvCxnSpPr>
        <p:spPr>
          <a:xfrm flipV="1">
            <a:off x="3703320" y="1709928"/>
            <a:ext cx="173736" cy="100584"/>
          </a:xfrm>
          <a:prstGeom prst="line">
            <a:avLst/>
          </a:prstGeom>
          <a:ln w="12700">
            <a:solidFill>
              <a:srgbClr val="2A9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Bm_to_CB_ArrowHead"/>
          <p:cNvSpPr/>
          <p:nvPr/>
        </p:nvSpPr>
        <p:spPr>
          <a:xfrm rot="3595885">
            <a:off x="3813048" y="1659636"/>
            <a:ext cx="128016" cy="100584"/>
          </a:xfrm>
          <a:prstGeom prst="triangle">
            <a:avLst/>
          </a:prstGeom>
          <a:solidFill>
            <a:srgbClr val="2A9D6F"/>
          </a:solidFill>
          <a:ln>
            <a:solidFill>
              <a:srgbClr val="2A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Sm_to_CS"/>
          <p:cNvCxnSpPr/>
          <p:nvPr/>
        </p:nvCxnSpPr>
        <p:spPr>
          <a:xfrm>
            <a:off x="3703320" y="2139696"/>
            <a:ext cx="173736" cy="237744"/>
          </a:xfrm>
          <a:prstGeom prst="line">
            <a:avLst/>
          </a:prstGeom>
          <a:ln w="12700">
            <a:solidFill>
              <a:srgbClr val="246B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Sm_to_CS_ArrowHead"/>
          <p:cNvSpPr/>
          <p:nvPr/>
        </p:nvSpPr>
        <p:spPr>
          <a:xfrm rot="8630509">
            <a:off x="3813048" y="2327148"/>
            <a:ext cx="128016" cy="100584"/>
          </a:xfrm>
          <a:prstGeom prst="triangle">
            <a:avLst/>
          </a:prstGeom>
          <a:solidFill>
            <a:srgbClr val="246BCE"/>
          </a:solidFill>
          <a:ln>
            <a:solidFill>
              <a:srgbClr val="246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Um_Separation_End"/>
          <p:cNvCxnSpPr/>
          <p:nvPr/>
        </p:nvCxnSpPr>
        <p:spPr>
          <a:xfrm>
            <a:off x="3703320" y="2514600"/>
            <a:ext cx="173736" cy="0"/>
          </a:xfrm>
          <a:prstGeom prst="line">
            <a:avLst/>
          </a:prstGeom>
          <a:ln w="1016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liability_Fusion_Label"/>
          <p:cNvSpPr txBox="1"/>
          <p:nvPr/>
        </p:nvSpPr>
        <p:spPr>
          <a:xfrm>
            <a:off x="3967832" y="2777165"/>
            <a:ext cx="367087" cy="2246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30" b="0" i="1">
                <a:solidFill>
                  <a:srgbClr val="5E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
fusion</a:t>
            </a:r>
          </a:p>
        </p:txBody>
      </p:sp>
      <p:sp>
        <p:nvSpPr>
          <p:cNvPr id="47" name="Unique_Head_Label"/>
          <p:cNvSpPr txBox="1"/>
          <p:nvPr/>
        </p:nvSpPr>
        <p:spPr>
          <a:xfrm>
            <a:off x="3225172" y="2961351"/>
            <a:ext cx="819135" cy="1123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30" b="0" i="1">
                <a:solidFill>
                  <a:srgbClr val="6670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U_m: separation only</a:t>
            </a:r>
          </a:p>
        </p:txBody>
      </p:sp>
      <p:pic>
        <p:nvPicPr>
          <p:cNvPr id="48" name="CB_Feature_Map" descr="cb_aggreg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3904" y="3255264"/>
            <a:ext cx="429768" cy="429768"/>
          </a:xfrm>
          <a:prstGeom prst="rect">
            <a:avLst/>
          </a:prstGeom>
        </p:spPr>
      </p:pic>
      <p:pic>
        <p:nvPicPr>
          <p:cNvPr id="49" name="CS_Feature_Map" descr="cs_aggreg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255264"/>
            <a:ext cx="429768" cy="429768"/>
          </a:xfrm>
          <a:prstGeom prst="rect">
            <a:avLst/>
          </a:prstGeom>
        </p:spPr>
      </p:pic>
      <p:sp>
        <p:nvSpPr>
          <p:cNvPr id="50" name="Role_Maps_Label"/>
          <p:cNvSpPr txBox="1"/>
          <p:nvPr/>
        </p:nvSpPr>
        <p:spPr>
          <a:xfrm>
            <a:off x="3964492" y="3740129"/>
            <a:ext cx="657231" cy="10926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10" b="0" i="1">
                <a:solidFill>
                  <a:srgbClr val="5E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learned role maps</a:t>
            </a:r>
          </a:p>
        </p:txBody>
      </p:sp>
      <p:sp>
        <p:nvSpPr>
          <p:cNvPr id="51" name="Training_Only_Anchors"/>
          <p:cNvSpPr/>
          <p:nvPr/>
        </p:nvSpPr>
        <p:spPr>
          <a:xfrm>
            <a:off x="1847088" y="3310128"/>
            <a:ext cx="1700784" cy="585216"/>
          </a:xfrm>
          <a:prstGeom prst="roundRect">
            <a:avLst/>
          </a:prstGeom>
          <a:solidFill>
            <a:srgbClr val="FFF3E7"/>
          </a:solidFill>
          <a:ln w="10160">
            <a:solidFill>
              <a:srgbClr val="D9822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raining_Only_Anchors_Title"/>
          <p:cNvSpPr txBox="1"/>
          <p:nvPr/>
        </p:nvSpPr>
        <p:spPr>
          <a:xfrm>
            <a:off x="2213373" y="3416262"/>
            <a:ext cx="968214" cy="1260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 i="0">
                <a:solidFill>
                  <a:srgbClr val="D982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training-only anchors</a:t>
            </a:r>
          </a:p>
        </p:txBody>
      </p:sp>
      <p:sp>
        <p:nvSpPr>
          <p:cNvPr id="53" name="Training_Only_Anchors_Formula"/>
          <p:cNvSpPr txBox="1"/>
          <p:nvPr/>
        </p:nvSpPr>
        <p:spPr>
          <a:xfrm>
            <a:off x="2020211" y="3634115"/>
            <a:ext cx="1354537" cy="1292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40" b="0" i="0">
                <a:solidFill>
                  <a:srgbClr val="D982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A_B=W_L(V),  A_S=W_H(V)</a:t>
            </a:r>
          </a:p>
        </p:txBody>
      </p:sp>
      <p:sp>
        <p:nvSpPr>
          <p:cNvPr id="54" name="Training_Only_Anchors_Note"/>
          <p:cNvSpPr txBox="1"/>
          <p:nvPr/>
        </p:nvSpPr>
        <p:spPr>
          <a:xfrm>
            <a:off x="2234212" y="3826996"/>
            <a:ext cx="926536" cy="10926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10" b="0" i="1">
                <a:solidFill>
                  <a:srgbClr val="5E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available at inference</a:t>
            </a:r>
          </a:p>
        </p:txBody>
      </p:sp>
      <p:cxnSp>
        <p:nvCxnSpPr>
          <p:cNvPr id="55" name="Anchor_to_RoleHeads"/>
          <p:cNvCxnSpPr/>
          <p:nvPr/>
        </p:nvCxnSpPr>
        <p:spPr>
          <a:xfrm flipV="1">
            <a:off x="2697480" y="2852928"/>
            <a:ext cx="576072" cy="457200"/>
          </a:xfrm>
          <a:prstGeom prst="line">
            <a:avLst/>
          </a:prstGeom>
          <a:ln w="10795">
            <a:solidFill>
              <a:srgbClr val="D982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Anchor_to_CS"/>
          <p:cNvCxnSpPr/>
          <p:nvPr/>
        </p:nvCxnSpPr>
        <p:spPr>
          <a:xfrm flipV="1">
            <a:off x="3273552" y="2377440"/>
            <a:ext cx="603504" cy="475488"/>
          </a:xfrm>
          <a:prstGeom prst="line">
            <a:avLst/>
          </a:prstGeom>
          <a:ln w="10795">
            <a:solidFill>
              <a:srgbClr val="D982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stricted_Routing_Label"/>
          <p:cNvSpPr txBox="1"/>
          <p:nvPr/>
        </p:nvSpPr>
        <p:spPr>
          <a:xfrm>
            <a:off x="5367528" y="797211"/>
            <a:ext cx="726161" cy="124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0" b="0" i="1">
                <a:solidFill>
                  <a:srgbClr val="5E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restricted routing</a:t>
            </a:r>
          </a:p>
        </p:txBody>
      </p:sp>
      <p:sp>
        <p:nvSpPr>
          <p:cNvPr id="58" name="B_Condition_Node"/>
          <p:cNvSpPr/>
          <p:nvPr/>
        </p:nvSpPr>
        <p:spPr>
          <a:xfrm>
            <a:off x="5413248" y="1143000"/>
            <a:ext cx="694944" cy="438912"/>
          </a:xfrm>
          <a:prstGeom prst="roundRect">
            <a:avLst/>
          </a:prstGeom>
          <a:solidFill>
            <a:srgbClr val="EAF6F0"/>
          </a:solidFill>
          <a:ln w="10160">
            <a:solidFill>
              <a:srgbClr val="2A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B_Condition_Label"/>
          <p:cNvSpPr txBox="1"/>
          <p:nvPr/>
        </p:nvSpPr>
        <p:spPr>
          <a:xfrm>
            <a:off x="5615648" y="1251835"/>
            <a:ext cx="29014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A9D6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C_B</a:t>
            </a:r>
          </a:p>
        </p:txBody>
      </p:sp>
      <p:sp>
        <p:nvSpPr>
          <p:cNvPr id="60" name="Background_UNet"/>
          <p:cNvSpPr/>
          <p:nvPr/>
        </p:nvSpPr>
        <p:spPr>
          <a:xfrm>
            <a:off x="6291072" y="1024128"/>
            <a:ext cx="1298448" cy="676656"/>
          </a:xfrm>
          <a:prstGeom prst="roundRect">
            <a:avLst/>
          </a:prstGeom>
          <a:solidFill>
            <a:srgbClr val="EAF6F0"/>
          </a:solidFill>
          <a:ln w="10160">
            <a:solidFill>
              <a:srgbClr val="2A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Background_UNet_Title"/>
          <p:cNvSpPr txBox="1"/>
          <p:nvPr/>
        </p:nvSpPr>
        <p:spPr>
          <a:xfrm>
            <a:off x="6473822" y="1160618"/>
            <a:ext cx="932948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2A9D6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U-Net</a:t>
            </a:r>
          </a:p>
        </p:txBody>
      </p:sp>
      <p:sp>
        <p:nvSpPr>
          <p:cNvPr id="62" name="Background_UNet_Formula"/>
          <p:cNvSpPr txBox="1"/>
          <p:nvPr/>
        </p:nvSpPr>
        <p:spPr>
          <a:xfrm>
            <a:off x="6705456" y="1406031"/>
            <a:ext cx="469680" cy="1414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19" b="0" i="0">
                <a:solidFill>
                  <a:srgbClr val="2A9D6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f_B(C_B)</a:t>
            </a:r>
          </a:p>
        </p:txBody>
      </p:sp>
      <p:sp>
        <p:nvSpPr>
          <p:cNvPr id="63" name="Predicted_Background"/>
          <p:cNvSpPr/>
          <p:nvPr/>
        </p:nvSpPr>
        <p:spPr>
          <a:xfrm>
            <a:off x="7790688" y="1143000"/>
            <a:ext cx="777240" cy="438912"/>
          </a:xfrm>
          <a:prstGeom prst="roundRect">
            <a:avLst/>
          </a:prstGeom>
          <a:solidFill>
            <a:srgbClr val="EAF6F0"/>
          </a:solidFill>
          <a:ln w="10160">
            <a:solidFill>
              <a:srgbClr val="2A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Predicted_Background_Label"/>
          <p:cNvSpPr txBox="1"/>
          <p:nvPr/>
        </p:nvSpPr>
        <p:spPr>
          <a:xfrm>
            <a:off x="8130416" y="1255682"/>
            <a:ext cx="97783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2A9D6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B̂</a:t>
            </a:r>
          </a:p>
        </p:txBody>
      </p:sp>
      <p:cxnSp>
        <p:nvCxnSpPr>
          <p:cNvPr id="65" name="CB_to_Background"/>
          <p:cNvCxnSpPr/>
          <p:nvPr/>
        </p:nvCxnSpPr>
        <p:spPr>
          <a:xfrm>
            <a:off x="6108192" y="1362456"/>
            <a:ext cx="182880" cy="0"/>
          </a:xfrm>
          <a:prstGeom prst="line">
            <a:avLst/>
          </a:prstGeom>
          <a:ln w="15240">
            <a:solidFill>
              <a:srgbClr val="2A9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CB_to_Background_ArrowHead"/>
          <p:cNvSpPr/>
          <p:nvPr/>
        </p:nvSpPr>
        <p:spPr>
          <a:xfrm rot="5400000">
            <a:off x="6227064" y="1312164"/>
            <a:ext cx="128016" cy="100584"/>
          </a:xfrm>
          <a:prstGeom prst="triangle">
            <a:avLst/>
          </a:prstGeom>
          <a:solidFill>
            <a:srgbClr val="2A9D6F"/>
          </a:solidFill>
          <a:ln>
            <a:solidFill>
              <a:srgbClr val="2A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Background_to_Bhat"/>
          <p:cNvCxnSpPr/>
          <p:nvPr/>
        </p:nvCxnSpPr>
        <p:spPr>
          <a:xfrm>
            <a:off x="7589520" y="1362456"/>
            <a:ext cx="201168" cy="0"/>
          </a:xfrm>
          <a:prstGeom prst="line">
            <a:avLst/>
          </a:prstGeom>
          <a:ln w="15240">
            <a:solidFill>
              <a:srgbClr val="2A9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Background_to_Bhat_ArrowHead"/>
          <p:cNvSpPr/>
          <p:nvPr/>
        </p:nvSpPr>
        <p:spPr>
          <a:xfrm rot="5400000">
            <a:off x="7726679" y="1312164"/>
            <a:ext cx="128016" cy="100584"/>
          </a:xfrm>
          <a:prstGeom prst="triangle">
            <a:avLst/>
          </a:prstGeom>
          <a:solidFill>
            <a:srgbClr val="2A9D6F"/>
          </a:solidFill>
          <a:ln>
            <a:solidFill>
              <a:srgbClr val="2A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top_Gradient_Node"/>
          <p:cNvSpPr/>
          <p:nvPr/>
        </p:nvSpPr>
        <p:spPr>
          <a:xfrm>
            <a:off x="7726679" y="1810512"/>
            <a:ext cx="932688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A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Stop_Gradient_Label"/>
          <p:cNvSpPr txBox="1"/>
          <p:nvPr/>
        </p:nvSpPr>
        <p:spPr>
          <a:xfrm>
            <a:off x="8015892" y="1950124"/>
            <a:ext cx="354264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2A9D6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B̄=sg[B̂]</a:t>
            </a:r>
          </a:p>
        </p:txBody>
      </p:sp>
      <p:cxnSp>
        <p:nvCxnSpPr>
          <p:cNvPr id="71" name="Bhat_to_StopGradient"/>
          <p:cNvCxnSpPr/>
          <p:nvPr/>
        </p:nvCxnSpPr>
        <p:spPr>
          <a:xfrm>
            <a:off x="8183879" y="1581912"/>
            <a:ext cx="0" cy="228600"/>
          </a:xfrm>
          <a:prstGeom prst="line">
            <a:avLst/>
          </a:prstGeom>
          <a:ln w="12700">
            <a:solidFill>
              <a:srgbClr val="2A9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Bhat_to_StopGradient_ArrowHead"/>
          <p:cNvSpPr/>
          <p:nvPr/>
        </p:nvSpPr>
        <p:spPr>
          <a:xfrm rot="10800000">
            <a:off x="8119871" y="1760220"/>
            <a:ext cx="128016" cy="100584"/>
          </a:xfrm>
          <a:prstGeom prst="triangle">
            <a:avLst/>
          </a:prstGeom>
          <a:solidFill>
            <a:srgbClr val="2A9D6F"/>
          </a:solidFill>
          <a:ln>
            <a:solidFill>
              <a:srgbClr val="2A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top_Gradient_Constraint"/>
          <p:cNvSpPr txBox="1"/>
          <p:nvPr/>
        </p:nvSpPr>
        <p:spPr>
          <a:xfrm>
            <a:off x="8732520" y="1842705"/>
            <a:ext cx="543418" cy="11849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70" b="0" i="1">
                <a:solidFill>
                  <a:srgbClr val="7257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∇ωB L_R = 0</a:t>
            </a:r>
          </a:p>
        </p:txBody>
      </p:sp>
      <p:sp>
        <p:nvSpPr>
          <p:cNvPr id="74" name="S_Condition_Node"/>
          <p:cNvSpPr/>
          <p:nvPr/>
        </p:nvSpPr>
        <p:spPr>
          <a:xfrm>
            <a:off x="5413248" y="2304288"/>
            <a:ext cx="694944" cy="438912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246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S_Condition_Label"/>
          <p:cNvSpPr txBox="1"/>
          <p:nvPr/>
        </p:nvSpPr>
        <p:spPr>
          <a:xfrm>
            <a:off x="5624465" y="2413123"/>
            <a:ext cx="27251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46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C_S</a:t>
            </a:r>
          </a:p>
        </p:txBody>
      </p:sp>
      <p:cxnSp>
        <p:nvCxnSpPr>
          <p:cNvPr id="76" name="Contract_CB_to_Responsibility"/>
          <p:cNvCxnSpPr/>
          <p:nvPr/>
        </p:nvCxnSpPr>
        <p:spPr>
          <a:xfrm flipV="1">
            <a:off x="4626864" y="1362456"/>
            <a:ext cx="786384" cy="347472"/>
          </a:xfrm>
          <a:prstGeom prst="line">
            <a:avLst/>
          </a:prstGeom>
          <a:ln w="12700">
            <a:solidFill>
              <a:srgbClr val="2A9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Contract_CB_to_Responsibility_ArrowHead"/>
          <p:cNvSpPr/>
          <p:nvPr/>
        </p:nvSpPr>
        <p:spPr>
          <a:xfrm rot="3969676">
            <a:off x="5349240" y="1312164"/>
            <a:ext cx="128016" cy="100584"/>
          </a:xfrm>
          <a:prstGeom prst="triangle">
            <a:avLst/>
          </a:prstGeom>
          <a:solidFill>
            <a:srgbClr val="2A9D6F"/>
          </a:solidFill>
          <a:ln>
            <a:solidFill>
              <a:srgbClr val="2A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Contract_CS_to_Responsibility"/>
          <p:cNvCxnSpPr/>
          <p:nvPr/>
        </p:nvCxnSpPr>
        <p:spPr>
          <a:xfrm>
            <a:off x="4626864" y="2377440"/>
            <a:ext cx="786384" cy="146304"/>
          </a:xfrm>
          <a:prstGeom prst="line">
            <a:avLst/>
          </a:prstGeom>
          <a:ln w="12700">
            <a:solidFill>
              <a:srgbClr val="246B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ontract_CS_to_Responsibility_ArrowHead"/>
          <p:cNvSpPr/>
          <p:nvPr/>
        </p:nvSpPr>
        <p:spPr>
          <a:xfrm rot="6032351">
            <a:off x="5349240" y="2473451"/>
            <a:ext cx="128016" cy="100584"/>
          </a:xfrm>
          <a:prstGeom prst="triangle">
            <a:avLst/>
          </a:prstGeom>
          <a:solidFill>
            <a:srgbClr val="246BCE"/>
          </a:solidFill>
          <a:ln>
            <a:solidFill>
              <a:srgbClr val="246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Residual_Context"/>
          <p:cNvSpPr/>
          <p:nvPr/>
        </p:nvSpPr>
        <p:spPr>
          <a:xfrm>
            <a:off x="8842248" y="2249424"/>
            <a:ext cx="1234440" cy="566928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246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Residual_Context_Formula"/>
          <p:cNvSpPr txBox="1"/>
          <p:nvPr/>
        </p:nvSpPr>
        <p:spPr>
          <a:xfrm>
            <a:off x="9095586" y="2406555"/>
            <a:ext cx="727763" cy="124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0" b="1" i="0">
                <a:solidFill>
                  <a:srgbClr val="246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c=[C_S;ψ_B(B̄)]</a:t>
            </a:r>
          </a:p>
        </p:txBody>
      </p:sp>
      <p:cxnSp>
        <p:nvCxnSpPr>
          <p:cNvPr id="82" name="Bbar_to_Context"/>
          <p:cNvCxnSpPr/>
          <p:nvPr/>
        </p:nvCxnSpPr>
        <p:spPr>
          <a:xfrm>
            <a:off x="8183879" y="2249424"/>
            <a:ext cx="658369" cy="283464"/>
          </a:xfrm>
          <a:prstGeom prst="line">
            <a:avLst/>
          </a:prstGeom>
          <a:ln w="12700">
            <a:solidFill>
              <a:srgbClr val="2A9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Bbar_to_Context_ArrowHead"/>
          <p:cNvSpPr/>
          <p:nvPr/>
        </p:nvSpPr>
        <p:spPr>
          <a:xfrm rot="6797674">
            <a:off x="8778240" y="2482596"/>
            <a:ext cx="128016" cy="100584"/>
          </a:xfrm>
          <a:prstGeom prst="triangle">
            <a:avLst/>
          </a:prstGeom>
          <a:solidFill>
            <a:srgbClr val="2A9D6F"/>
          </a:solidFill>
          <a:ln>
            <a:solidFill>
              <a:srgbClr val="2A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4" name="CS_to_Context"/>
          <p:cNvCxnSpPr/>
          <p:nvPr/>
        </p:nvCxnSpPr>
        <p:spPr>
          <a:xfrm>
            <a:off x="6108192" y="2523744"/>
            <a:ext cx="2734056" cy="0"/>
          </a:xfrm>
          <a:prstGeom prst="line">
            <a:avLst/>
          </a:prstGeom>
          <a:ln w="13970">
            <a:solidFill>
              <a:srgbClr val="246B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CS_to_Context_ArrowHead"/>
          <p:cNvSpPr/>
          <p:nvPr/>
        </p:nvSpPr>
        <p:spPr>
          <a:xfrm rot="5400000">
            <a:off x="8778240" y="2473451"/>
            <a:ext cx="128016" cy="100584"/>
          </a:xfrm>
          <a:prstGeom prst="triangle">
            <a:avLst/>
          </a:prstGeom>
          <a:solidFill>
            <a:srgbClr val="246BCE"/>
          </a:solidFill>
          <a:ln>
            <a:solidFill>
              <a:srgbClr val="246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Residual_FM_Block"/>
          <p:cNvSpPr/>
          <p:nvPr/>
        </p:nvSpPr>
        <p:spPr>
          <a:xfrm>
            <a:off x="9262872" y="2962656"/>
            <a:ext cx="1874519" cy="6858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246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Residual_FM_Title"/>
          <p:cNvSpPr txBox="1"/>
          <p:nvPr/>
        </p:nvSpPr>
        <p:spPr>
          <a:xfrm>
            <a:off x="9701361" y="3075517"/>
            <a:ext cx="1006686" cy="1400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10" b="1" i="0">
                <a:solidFill>
                  <a:srgbClr val="246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velocity-space FiLM</a:t>
            </a:r>
          </a:p>
        </p:txBody>
      </p:sp>
      <p:sp>
        <p:nvSpPr>
          <p:cNvPr id="88" name="Residual_FM_Subtitle"/>
          <p:cNvSpPr txBox="1"/>
          <p:nvPr/>
        </p:nvSpPr>
        <p:spPr>
          <a:xfrm>
            <a:off x="9654072" y="3298114"/>
            <a:ext cx="1101263" cy="1337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69" b="0" i="0">
                <a:solidFill>
                  <a:srgbClr val="246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Flow Matching</a:t>
            </a:r>
          </a:p>
        </p:txBody>
      </p:sp>
      <p:cxnSp>
        <p:nvCxnSpPr>
          <p:cNvPr id="89" name="Context_to_FM"/>
          <p:cNvCxnSpPr/>
          <p:nvPr/>
        </p:nvCxnSpPr>
        <p:spPr>
          <a:xfrm>
            <a:off x="9464040" y="2816352"/>
            <a:ext cx="0" cy="146304"/>
          </a:xfrm>
          <a:prstGeom prst="line">
            <a:avLst/>
          </a:prstGeom>
          <a:ln w="13970">
            <a:solidFill>
              <a:srgbClr val="246B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Context_to_FM_ArrowHead"/>
          <p:cNvSpPr/>
          <p:nvPr/>
        </p:nvSpPr>
        <p:spPr>
          <a:xfrm rot="10800000">
            <a:off x="9400032" y="2912364"/>
            <a:ext cx="128016" cy="100584"/>
          </a:xfrm>
          <a:prstGeom prst="triangle">
            <a:avLst/>
          </a:prstGeom>
          <a:solidFill>
            <a:srgbClr val="246BCE"/>
          </a:solidFill>
          <a:ln>
            <a:solidFill>
              <a:srgbClr val="246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1" name="Transport_Noise_Tile" descr="noise_f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3099816"/>
            <a:ext cx="438912" cy="438912"/>
          </a:xfrm>
          <a:prstGeom prst="rect">
            <a:avLst/>
          </a:prstGeom>
        </p:spPr>
      </p:pic>
      <p:sp>
        <p:nvSpPr>
          <p:cNvPr id="92" name="Transport_Noise_Label"/>
          <p:cNvSpPr txBox="1"/>
          <p:nvPr/>
        </p:nvSpPr>
        <p:spPr>
          <a:xfrm>
            <a:off x="7513817" y="3564085"/>
            <a:ext cx="41678" cy="1138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40" b="0" i="0">
                <a:solidFill>
                  <a:srgbClr val="246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</a:p>
        </p:txBody>
      </p:sp>
      <p:pic>
        <p:nvPicPr>
          <p:cNvPr id="93" name="Transport_Rt_Tile" descr="interpolated_residual_f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9560" y="3099816"/>
            <a:ext cx="438912" cy="438912"/>
          </a:xfrm>
          <a:prstGeom prst="rect">
            <a:avLst/>
          </a:prstGeom>
        </p:spPr>
      </p:pic>
      <p:sp>
        <p:nvSpPr>
          <p:cNvPr id="94" name="Transport_Rt_Label"/>
          <p:cNvSpPr txBox="1"/>
          <p:nvPr/>
        </p:nvSpPr>
        <p:spPr>
          <a:xfrm>
            <a:off x="8060888" y="3564085"/>
            <a:ext cx="136255" cy="1138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40" b="0" i="0">
                <a:solidFill>
                  <a:srgbClr val="246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R_t</a:t>
            </a:r>
          </a:p>
        </p:txBody>
      </p:sp>
      <p:pic>
        <p:nvPicPr>
          <p:cNvPr id="95" name="Transport_Rhat_Tile" descr="stage3_target_residual_Rha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3920" y="3099816"/>
            <a:ext cx="438912" cy="438912"/>
          </a:xfrm>
          <a:prstGeom prst="rect">
            <a:avLst/>
          </a:prstGeom>
        </p:spPr>
      </p:pic>
      <p:sp>
        <p:nvSpPr>
          <p:cNvPr id="96" name="Transport_Rhat_Label"/>
          <p:cNvSpPr txBox="1"/>
          <p:nvPr/>
        </p:nvSpPr>
        <p:spPr>
          <a:xfrm>
            <a:off x="8591930" y="3564085"/>
            <a:ext cx="262892" cy="1138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40" b="0" i="0">
                <a:solidFill>
                  <a:srgbClr val="246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R_{B̂}</a:t>
            </a:r>
          </a:p>
        </p:txBody>
      </p:sp>
      <p:cxnSp>
        <p:nvCxnSpPr>
          <p:cNvPr id="97" name="Noise_to_Rt"/>
          <p:cNvCxnSpPr/>
          <p:nvPr/>
        </p:nvCxnSpPr>
        <p:spPr>
          <a:xfrm>
            <a:off x="7763256" y="3319272"/>
            <a:ext cx="146304" cy="0"/>
          </a:xfrm>
          <a:prstGeom prst="line">
            <a:avLst/>
          </a:prstGeom>
          <a:ln w="10160">
            <a:solidFill>
              <a:srgbClr val="246B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Noise_to_Rt_ArrowHead"/>
          <p:cNvSpPr/>
          <p:nvPr/>
        </p:nvSpPr>
        <p:spPr>
          <a:xfrm rot="5400000">
            <a:off x="7845552" y="3268979"/>
            <a:ext cx="128016" cy="100584"/>
          </a:xfrm>
          <a:prstGeom prst="triangle">
            <a:avLst/>
          </a:prstGeom>
          <a:solidFill>
            <a:srgbClr val="246BCE"/>
          </a:solidFill>
          <a:ln>
            <a:solidFill>
              <a:srgbClr val="246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9" name="Rt_to_Rhat"/>
          <p:cNvCxnSpPr/>
          <p:nvPr/>
        </p:nvCxnSpPr>
        <p:spPr>
          <a:xfrm>
            <a:off x="8357616" y="3319272"/>
            <a:ext cx="146304" cy="0"/>
          </a:xfrm>
          <a:prstGeom prst="line">
            <a:avLst/>
          </a:prstGeom>
          <a:ln w="10160">
            <a:solidFill>
              <a:srgbClr val="246B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t_to_Rhat_ArrowHead"/>
          <p:cNvSpPr/>
          <p:nvPr/>
        </p:nvSpPr>
        <p:spPr>
          <a:xfrm rot="5400000">
            <a:off x="8439912" y="3268979"/>
            <a:ext cx="128016" cy="100584"/>
          </a:xfrm>
          <a:prstGeom prst="triangle">
            <a:avLst/>
          </a:prstGeom>
          <a:solidFill>
            <a:srgbClr val="246BCE"/>
          </a:solidFill>
          <a:ln>
            <a:solidFill>
              <a:srgbClr val="246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ransport_Interpolation_Formula"/>
          <p:cNvSpPr txBox="1"/>
          <p:nvPr/>
        </p:nvSpPr>
        <p:spPr>
          <a:xfrm>
            <a:off x="7724257" y="3756064"/>
            <a:ext cx="809517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246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R_t=(1-t)ξ+tR_{B̂}</a:t>
            </a:r>
          </a:p>
        </p:txBody>
      </p:sp>
      <p:sp>
        <p:nvSpPr>
          <p:cNvPr id="102" name="Transport_Target_Formula"/>
          <p:cNvSpPr txBox="1"/>
          <p:nvPr/>
        </p:nvSpPr>
        <p:spPr>
          <a:xfrm>
            <a:off x="9111965" y="3756064"/>
            <a:ext cx="557845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246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u_t=R_{B̂}-ξ</a:t>
            </a:r>
          </a:p>
        </p:txBody>
      </p:sp>
      <p:sp>
        <p:nvSpPr>
          <p:cNvPr id="103" name="Residual_Target_TrainingOnly"/>
          <p:cNvSpPr/>
          <p:nvPr/>
        </p:nvSpPr>
        <p:spPr>
          <a:xfrm>
            <a:off x="5486400" y="3438144"/>
            <a:ext cx="1536192" cy="502920"/>
          </a:xfrm>
          <a:prstGeom prst="roundRect">
            <a:avLst/>
          </a:prstGeom>
          <a:solidFill>
            <a:srgbClr val="FFF3E7"/>
          </a:solidFill>
          <a:ln w="10160">
            <a:solidFill>
              <a:srgbClr val="D9822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Residual_Target_V_Label"/>
          <p:cNvSpPr txBox="1"/>
          <p:nvPr/>
        </p:nvSpPr>
        <p:spPr>
          <a:xfrm>
            <a:off x="5886606" y="3536608"/>
            <a:ext cx="735779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D982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(training only)</a:t>
            </a:r>
          </a:p>
        </p:txBody>
      </p:sp>
      <p:sp>
        <p:nvSpPr>
          <p:cNvPr id="105" name="Residual_Target_Formula"/>
          <p:cNvSpPr txBox="1"/>
          <p:nvPr/>
        </p:nvSpPr>
        <p:spPr>
          <a:xfrm>
            <a:off x="5985191" y="3740040"/>
            <a:ext cx="538609" cy="12772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30" b="0" i="0">
                <a:solidFill>
                  <a:srgbClr val="D982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R_{B̂}=V-B̄</a:t>
            </a:r>
          </a:p>
        </p:txBody>
      </p:sp>
      <p:cxnSp>
        <p:nvCxnSpPr>
          <p:cNvPr id="106" name="Target_to_Residual_Transport"/>
          <p:cNvCxnSpPr/>
          <p:nvPr/>
        </p:nvCxnSpPr>
        <p:spPr>
          <a:xfrm>
            <a:off x="7022592" y="3685032"/>
            <a:ext cx="1481328" cy="0"/>
          </a:xfrm>
          <a:prstGeom prst="line">
            <a:avLst/>
          </a:prstGeom>
          <a:ln w="10795">
            <a:solidFill>
              <a:srgbClr val="D982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Composition_Plus"/>
          <p:cNvSpPr/>
          <p:nvPr/>
        </p:nvSpPr>
        <p:spPr>
          <a:xfrm>
            <a:off x="10378440" y="1243584"/>
            <a:ext cx="393192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24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Composition_Plus_Label"/>
          <p:cNvSpPr txBox="1"/>
          <p:nvPr/>
        </p:nvSpPr>
        <p:spPr>
          <a:xfrm>
            <a:off x="10520534" y="1274472"/>
            <a:ext cx="109004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243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cxnSp>
        <p:nvCxnSpPr>
          <p:cNvPr id="109" name="Bhat_to_Composition"/>
          <p:cNvCxnSpPr/>
          <p:nvPr/>
        </p:nvCxnSpPr>
        <p:spPr>
          <a:xfrm>
            <a:off x="8567928" y="1362456"/>
            <a:ext cx="1810512" cy="82296"/>
          </a:xfrm>
          <a:prstGeom prst="line">
            <a:avLst/>
          </a:prstGeom>
          <a:ln w="13970">
            <a:solidFill>
              <a:srgbClr val="2A9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Bhat_to_Composition_ArrowHead"/>
          <p:cNvSpPr/>
          <p:nvPr/>
        </p:nvSpPr>
        <p:spPr>
          <a:xfrm rot="5556154">
            <a:off x="10314432" y="1394460"/>
            <a:ext cx="128016" cy="100584"/>
          </a:xfrm>
          <a:prstGeom prst="triangle">
            <a:avLst/>
          </a:prstGeom>
          <a:solidFill>
            <a:srgbClr val="2A9D6F"/>
          </a:solidFill>
          <a:ln>
            <a:solidFill>
              <a:srgbClr val="2A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Rhat_to_Composition"/>
          <p:cNvCxnSpPr/>
          <p:nvPr/>
        </p:nvCxnSpPr>
        <p:spPr>
          <a:xfrm flipV="1">
            <a:off x="10177272" y="1636776"/>
            <a:ext cx="384048" cy="1655064"/>
          </a:xfrm>
          <a:prstGeom prst="line">
            <a:avLst/>
          </a:prstGeom>
          <a:ln w="13970">
            <a:solidFill>
              <a:srgbClr val="246B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hat_to_Composition_ArrowHead"/>
          <p:cNvSpPr/>
          <p:nvPr/>
        </p:nvSpPr>
        <p:spPr>
          <a:xfrm rot="783837">
            <a:off x="10497312" y="1586484"/>
            <a:ext cx="128016" cy="100584"/>
          </a:xfrm>
          <a:prstGeom prst="triangle">
            <a:avLst/>
          </a:prstGeom>
          <a:solidFill>
            <a:srgbClr val="246BCE"/>
          </a:solidFill>
          <a:ln>
            <a:solidFill>
              <a:srgbClr val="246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Final_Output"/>
          <p:cNvSpPr/>
          <p:nvPr/>
        </p:nvSpPr>
        <p:spPr>
          <a:xfrm>
            <a:off x="10808208" y="1133856"/>
            <a:ext cx="107899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4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Final_Output_Formula"/>
          <p:cNvSpPr txBox="1"/>
          <p:nvPr/>
        </p:nvSpPr>
        <p:spPr>
          <a:xfrm>
            <a:off x="11126489" y="1372578"/>
            <a:ext cx="442429" cy="1260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19" b="1" i="0">
                <a:solidFill>
                  <a:srgbClr val="243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V̂ = B̂ + R̂</a:t>
            </a:r>
          </a:p>
        </p:txBody>
      </p:sp>
      <p:cxnSp>
        <p:nvCxnSpPr>
          <p:cNvPr id="115" name="Composition_to_Output"/>
          <p:cNvCxnSpPr/>
          <p:nvPr/>
        </p:nvCxnSpPr>
        <p:spPr>
          <a:xfrm>
            <a:off x="10771632" y="1444752"/>
            <a:ext cx="36576" cy="0"/>
          </a:xfrm>
          <a:prstGeom prst="line">
            <a:avLst/>
          </a:prstGeom>
          <a:ln w="12700">
            <a:solidFill>
              <a:srgbClr val="24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Composition_to_Output_ArrowHead"/>
          <p:cNvSpPr/>
          <p:nvPr/>
        </p:nvSpPr>
        <p:spPr>
          <a:xfrm rot="5400000">
            <a:off x="10744200" y="1394460"/>
            <a:ext cx="128016" cy="100584"/>
          </a:xfrm>
          <a:prstGeom prst="triangle">
            <a:avLst/>
          </a:prstGeom>
          <a:solidFill>
            <a:srgbClr val="24303D"/>
          </a:solidFill>
          <a:ln>
            <a:solidFill>
              <a:srgbClr val="24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Composition_Consistency"/>
          <p:cNvSpPr txBox="1"/>
          <p:nvPr/>
        </p:nvSpPr>
        <p:spPr>
          <a:xfrm>
            <a:off x="10689814" y="1886116"/>
            <a:ext cx="629980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7257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V̂-V=R̂-R_{B̂}</a:t>
            </a:r>
          </a:p>
        </p:txBody>
      </p:sp>
      <p:sp>
        <p:nvSpPr>
          <p:cNvPr id="118" name="Transport_Energy_Condition"/>
          <p:cNvSpPr/>
          <p:nvPr/>
        </p:nvSpPr>
        <p:spPr>
          <a:xfrm>
            <a:off x="9802368" y="3785615"/>
            <a:ext cx="2148840" cy="512064"/>
          </a:xfrm>
          <a:prstGeom prst="roundRect">
            <a:avLst/>
          </a:prstGeom>
          <a:solidFill>
            <a:srgbClr val="F1EDFC"/>
          </a:solidFill>
          <a:ln w="10160">
            <a:solidFill>
              <a:srgbClr val="72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ransport_Energy_Formula_1"/>
          <p:cNvSpPr txBox="1"/>
          <p:nvPr/>
        </p:nvSpPr>
        <p:spPr>
          <a:xfrm>
            <a:off x="10343225" y="3833610"/>
            <a:ext cx="1057982" cy="1600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40" b="0" i="0">
                <a:solidFill>
                  <a:srgbClr val="7257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E||u_R||² &lt; E||u_V||²</a:t>
            </a:r>
          </a:p>
        </p:txBody>
      </p:sp>
      <p:sp>
        <p:nvSpPr>
          <p:cNvPr id="120" name="Transport_Energy_Formula_2"/>
          <p:cNvSpPr txBox="1"/>
          <p:nvPr/>
        </p:nvSpPr>
        <p:spPr>
          <a:xfrm>
            <a:off x="10327195" y="4007345"/>
            <a:ext cx="1090042" cy="1600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40" b="0" i="0">
                <a:solidFill>
                  <a:srgbClr val="7257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iff E||V-B̂||² &lt; E||V||²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276</Words>
  <Application>Microsoft Office PowerPoint</Application>
  <PresentationFormat>自定义</PresentationFormat>
  <Paragraphs>48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小娌 甄</cp:lastModifiedBy>
  <cp:revision>2</cp:revision>
  <dcterms:created xsi:type="dcterms:W3CDTF">2013-01-27T09:14:16Z</dcterms:created>
  <dcterms:modified xsi:type="dcterms:W3CDTF">2026-07-16T09:22:35Z</dcterms:modified>
  <cp:category/>
</cp:coreProperties>
</file>