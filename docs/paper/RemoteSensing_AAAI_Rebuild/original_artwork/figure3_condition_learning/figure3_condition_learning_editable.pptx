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523081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CEFE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45" d="100"/>
          <a:sy n="145" d="100"/>
        </p:scale>
        <p:origin x="138" y="9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nelA_Title"/>
          <p:cNvSpPr txBox="1"/>
          <p:nvPr/>
        </p:nvSpPr>
        <p:spPr>
          <a:xfrm>
            <a:off x="444969" y="257002"/>
            <a:ext cx="4035593" cy="36933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2400" b="1" i="0" dirty="0">
                <a:solidFill>
                  <a:srgbClr val="252A31"/>
                </a:solidFill>
                <a:latin typeface="Times New Roman"/>
              </a:rPr>
              <a:t>(a) Physical anchor calibration</a:t>
            </a:r>
          </a:p>
        </p:txBody>
      </p:sp>
      <p:cxnSp>
        <p:nvCxnSpPr>
          <p:cNvPr id="3" name="AnchorGrid_-0.5"/>
          <p:cNvCxnSpPr/>
          <p:nvPr/>
        </p:nvCxnSpPr>
        <p:spPr>
          <a:xfrm>
            <a:off x="749808" y="4080795"/>
            <a:ext cx="3593592" cy="0"/>
          </a:xfrm>
          <a:prstGeom prst="line">
            <a:avLst/>
          </a:prstGeom>
          <a:ln w="19050">
            <a:solidFill>
              <a:srgbClr val="E1E5E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AnchorTick_-0.5"/>
          <p:cNvSpPr txBox="1"/>
          <p:nvPr/>
        </p:nvSpPr>
        <p:spPr>
          <a:xfrm>
            <a:off x="377558" y="3957685"/>
            <a:ext cx="325410" cy="24622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r"/>
            <a:r>
              <a:rPr sz="1600" b="0" i="0">
                <a:solidFill>
                  <a:srgbClr val="4C5563"/>
                </a:solidFill>
                <a:latin typeface="Times New Roman"/>
              </a:rPr>
              <a:t>-0.5</a:t>
            </a:r>
          </a:p>
        </p:txBody>
      </p:sp>
      <p:cxnSp>
        <p:nvCxnSpPr>
          <p:cNvPr id="5" name="AnchorGrid_0.0"/>
          <p:cNvCxnSpPr/>
          <p:nvPr/>
        </p:nvCxnSpPr>
        <p:spPr>
          <a:xfrm>
            <a:off x="749808" y="3009233"/>
            <a:ext cx="3593592" cy="0"/>
          </a:xfrm>
          <a:prstGeom prst="line">
            <a:avLst/>
          </a:prstGeom>
          <a:ln w="19050">
            <a:solidFill>
              <a:srgbClr val="E1E5E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AnchorTick_0.0"/>
          <p:cNvSpPr txBox="1"/>
          <p:nvPr/>
        </p:nvSpPr>
        <p:spPr>
          <a:xfrm>
            <a:off x="446487" y="2886123"/>
            <a:ext cx="256481" cy="24622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r"/>
            <a:r>
              <a:rPr sz="1600" b="0" i="0" dirty="0">
                <a:solidFill>
                  <a:srgbClr val="4C5563"/>
                </a:solidFill>
                <a:latin typeface="Times New Roman"/>
              </a:rPr>
              <a:t>0.0</a:t>
            </a:r>
          </a:p>
        </p:txBody>
      </p:sp>
      <p:cxnSp>
        <p:nvCxnSpPr>
          <p:cNvPr id="7" name="AnchorGrid_0.5"/>
          <p:cNvCxnSpPr/>
          <p:nvPr/>
        </p:nvCxnSpPr>
        <p:spPr>
          <a:xfrm>
            <a:off x="749808" y="1937670"/>
            <a:ext cx="3593592" cy="0"/>
          </a:xfrm>
          <a:prstGeom prst="line">
            <a:avLst/>
          </a:prstGeom>
          <a:ln w="19050">
            <a:solidFill>
              <a:srgbClr val="E1E5E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AnchorTick_0.5"/>
          <p:cNvSpPr txBox="1"/>
          <p:nvPr/>
        </p:nvSpPr>
        <p:spPr>
          <a:xfrm>
            <a:off x="446487" y="1814560"/>
            <a:ext cx="256481" cy="24622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r"/>
            <a:r>
              <a:rPr sz="1600" b="0" i="0" dirty="0">
                <a:solidFill>
                  <a:srgbClr val="4C5563"/>
                </a:solidFill>
                <a:latin typeface="Times New Roman"/>
              </a:rPr>
              <a:t>0.5</a:t>
            </a:r>
          </a:p>
        </p:txBody>
      </p:sp>
      <p:cxnSp>
        <p:nvCxnSpPr>
          <p:cNvPr id="9" name="AnchorGrid_1.0"/>
          <p:cNvCxnSpPr/>
          <p:nvPr/>
        </p:nvCxnSpPr>
        <p:spPr>
          <a:xfrm>
            <a:off x="749808" y="866108"/>
            <a:ext cx="3593592" cy="0"/>
          </a:xfrm>
          <a:prstGeom prst="line">
            <a:avLst/>
          </a:prstGeom>
          <a:ln w="19050">
            <a:solidFill>
              <a:srgbClr val="E1E5E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AnchorTick_1.0"/>
          <p:cNvSpPr txBox="1"/>
          <p:nvPr/>
        </p:nvSpPr>
        <p:spPr>
          <a:xfrm>
            <a:off x="446487" y="742998"/>
            <a:ext cx="256481" cy="24622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r"/>
            <a:r>
              <a:rPr sz="1600" b="0" i="0" dirty="0">
                <a:solidFill>
                  <a:srgbClr val="4C5563"/>
                </a:solidFill>
                <a:latin typeface="Times New Roman"/>
              </a:rPr>
              <a:t>1.0</a:t>
            </a:r>
          </a:p>
        </p:txBody>
      </p:sp>
      <p:cxnSp>
        <p:nvCxnSpPr>
          <p:cNvPr id="11" name="AnchorYAxis"/>
          <p:cNvCxnSpPr/>
          <p:nvPr/>
        </p:nvCxnSpPr>
        <p:spPr>
          <a:xfrm>
            <a:off x="749808" y="758952"/>
            <a:ext cx="0" cy="3429000"/>
          </a:xfrm>
          <a:prstGeom prst="line">
            <a:avLst/>
          </a:prstGeom>
          <a:ln w="11430">
            <a:solidFill>
              <a:srgbClr val="4C556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AnchorXAxis"/>
          <p:cNvCxnSpPr/>
          <p:nvPr/>
        </p:nvCxnSpPr>
        <p:spPr>
          <a:xfrm>
            <a:off x="749808" y="4187952"/>
            <a:ext cx="3593592" cy="0"/>
          </a:xfrm>
          <a:prstGeom prst="line">
            <a:avLst/>
          </a:prstGeom>
          <a:ln w="11430">
            <a:solidFill>
              <a:srgbClr val="4C556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AnchorYAxisTitle"/>
          <p:cNvSpPr txBox="1"/>
          <p:nvPr/>
        </p:nvSpPr>
        <p:spPr>
          <a:xfrm rot="16200000">
            <a:off x="-570953" y="2273843"/>
            <a:ext cx="1753685" cy="307777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2000" b="0" i="0" dirty="0">
                <a:solidFill>
                  <a:srgbClr val="252A31"/>
                </a:solidFill>
                <a:latin typeface="Times New Roman"/>
              </a:rPr>
              <a:t>Cosine similarity</a:t>
            </a:r>
          </a:p>
        </p:txBody>
      </p:sp>
      <p:sp>
        <p:nvSpPr>
          <p:cNvPr id="14" name="Violin_background_matched"/>
          <p:cNvSpPr/>
          <p:nvPr/>
        </p:nvSpPr>
        <p:spPr>
          <a:xfrm>
            <a:off x="1216152" y="1049731"/>
            <a:ext cx="493776" cy="1133856"/>
          </a:xfrm>
          <a:custGeom>
            <a:avLst/>
            <a:gdLst/>
            <a:ahLst/>
            <a:cxnLst/>
            <a:rect l="l" t="t" r="r" b="b"/>
            <a:pathLst>
              <a:path w="540" h="1240">
                <a:moveTo>
                  <a:pt x="270" y="1240"/>
                </a:moveTo>
                <a:lnTo>
                  <a:pt x="270" y="1232"/>
                </a:lnTo>
                <a:lnTo>
                  <a:pt x="270" y="1224"/>
                </a:lnTo>
                <a:lnTo>
                  <a:pt x="270" y="1216"/>
                </a:lnTo>
                <a:lnTo>
                  <a:pt x="270" y="1207"/>
                </a:lnTo>
                <a:lnTo>
                  <a:pt x="270" y="1199"/>
                </a:lnTo>
                <a:lnTo>
                  <a:pt x="270" y="1191"/>
                </a:lnTo>
                <a:lnTo>
                  <a:pt x="270" y="1182"/>
                </a:lnTo>
                <a:lnTo>
                  <a:pt x="270" y="1174"/>
                </a:lnTo>
                <a:lnTo>
                  <a:pt x="270" y="1166"/>
                </a:lnTo>
                <a:lnTo>
                  <a:pt x="270" y="1157"/>
                </a:lnTo>
                <a:lnTo>
                  <a:pt x="270" y="1149"/>
                </a:lnTo>
                <a:lnTo>
                  <a:pt x="270" y="1141"/>
                </a:lnTo>
                <a:lnTo>
                  <a:pt x="270" y="1132"/>
                </a:lnTo>
                <a:lnTo>
                  <a:pt x="270" y="1124"/>
                </a:lnTo>
                <a:lnTo>
                  <a:pt x="270" y="1116"/>
                </a:lnTo>
                <a:lnTo>
                  <a:pt x="270" y="1107"/>
                </a:lnTo>
                <a:lnTo>
                  <a:pt x="270" y="1099"/>
                </a:lnTo>
                <a:lnTo>
                  <a:pt x="270" y="1091"/>
                </a:lnTo>
                <a:lnTo>
                  <a:pt x="270" y="1082"/>
                </a:lnTo>
                <a:lnTo>
                  <a:pt x="270" y="1074"/>
                </a:lnTo>
                <a:lnTo>
                  <a:pt x="270" y="1066"/>
                </a:lnTo>
                <a:lnTo>
                  <a:pt x="270" y="1057"/>
                </a:lnTo>
                <a:lnTo>
                  <a:pt x="270" y="1049"/>
                </a:lnTo>
                <a:lnTo>
                  <a:pt x="270" y="1041"/>
                </a:lnTo>
                <a:lnTo>
                  <a:pt x="270" y="1032"/>
                </a:lnTo>
                <a:lnTo>
                  <a:pt x="270" y="1024"/>
                </a:lnTo>
                <a:lnTo>
                  <a:pt x="269" y="1016"/>
                </a:lnTo>
                <a:lnTo>
                  <a:pt x="269" y="1007"/>
                </a:lnTo>
                <a:lnTo>
                  <a:pt x="269" y="999"/>
                </a:lnTo>
                <a:lnTo>
                  <a:pt x="269" y="991"/>
                </a:lnTo>
                <a:lnTo>
                  <a:pt x="269" y="982"/>
                </a:lnTo>
                <a:lnTo>
                  <a:pt x="269" y="974"/>
                </a:lnTo>
                <a:lnTo>
                  <a:pt x="269" y="966"/>
                </a:lnTo>
                <a:lnTo>
                  <a:pt x="269" y="957"/>
                </a:lnTo>
                <a:lnTo>
                  <a:pt x="269" y="949"/>
                </a:lnTo>
                <a:lnTo>
                  <a:pt x="269" y="941"/>
                </a:lnTo>
                <a:lnTo>
                  <a:pt x="269" y="933"/>
                </a:lnTo>
                <a:lnTo>
                  <a:pt x="268" y="924"/>
                </a:lnTo>
                <a:lnTo>
                  <a:pt x="268" y="916"/>
                </a:lnTo>
                <a:lnTo>
                  <a:pt x="268" y="908"/>
                </a:lnTo>
                <a:lnTo>
                  <a:pt x="267" y="899"/>
                </a:lnTo>
                <a:lnTo>
                  <a:pt x="267" y="891"/>
                </a:lnTo>
                <a:lnTo>
                  <a:pt x="267" y="883"/>
                </a:lnTo>
                <a:lnTo>
                  <a:pt x="266" y="874"/>
                </a:lnTo>
                <a:lnTo>
                  <a:pt x="266" y="866"/>
                </a:lnTo>
                <a:lnTo>
                  <a:pt x="265" y="858"/>
                </a:lnTo>
                <a:lnTo>
                  <a:pt x="265" y="849"/>
                </a:lnTo>
                <a:lnTo>
                  <a:pt x="264" y="841"/>
                </a:lnTo>
                <a:lnTo>
                  <a:pt x="263" y="833"/>
                </a:lnTo>
                <a:lnTo>
                  <a:pt x="263" y="824"/>
                </a:lnTo>
                <a:lnTo>
                  <a:pt x="262" y="816"/>
                </a:lnTo>
                <a:lnTo>
                  <a:pt x="261" y="808"/>
                </a:lnTo>
                <a:lnTo>
                  <a:pt x="260" y="799"/>
                </a:lnTo>
                <a:lnTo>
                  <a:pt x="259" y="791"/>
                </a:lnTo>
                <a:lnTo>
                  <a:pt x="257" y="783"/>
                </a:lnTo>
                <a:lnTo>
                  <a:pt x="255" y="774"/>
                </a:lnTo>
                <a:lnTo>
                  <a:pt x="253" y="766"/>
                </a:lnTo>
                <a:lnTo>
                  <a:pt x="250" y="758"/>
                </a:lnTo>
                <a:lnTo>
                  <a:pt x="247" y="749"/>
                </a:lnTo>
                <a:lnTo>
                  <a:pt x="244" y="741"/>
                </a:lnTo>
                <a:lnTo>
                  <a:pt x="240" y="733"/>
                </a:lnTo>
                <a:lnTo>
                  <a:pt x="236" y="724"/>
                </a:lnTo>
                <a:lnTo>
                  <a:pt x="230" y="716"/>
                </a:lnTo>
                <a:lnTo>
                  <a:pt x="225" y="708"/>
                </a:lnTo>
                <a:lnTo>
                  <a:pt x="218" y="699"/>
                </a:lnTo>
                <a:lnTo>
                  <a:pt x="210" y="691"/>
                </a:lnTo>
                <a:lnTo>
                  <a:pt x="202" y="683"/>
                </a:lnTo>
                <a:lnTo>
                  <a:pt x="192" y="674"/>
                </a:lnTo>
                <a:lnTo>
                  <a:pt x="180" y="666"/>
                </a:lnTo>
                <a:lnTo>
                  <a:pt x="167" y="658"/>
                </a:lnTo>
                <a:lnTo>
                  <a:pt x="153" y="649"/>
                </a:lnTo>
                <a:lnTo>
                  <a:pt x="137" y="641"/>
                </a:lnTo>
                <a:lnTo>
                  <a:pt x="120" y="633"/>
                </a:lnTo>
                <a:lnTo>
                  <a:pt x="103" y="625"/>
                </a:lnTo>
                <a:lnTo>
                  <a:pt x="86" y="616"/>
                </a:lnTo>
                <a:lnTo>
                  <a:pt x="70" y="608"/>
                </a:lnTo>
                <a:lnTo>
                  <a:pt x="54" y="600"/>
                </a:lnTo>
                <a:lnTo>
                  <a:pt x="39" y="591"/>
                </a:lnTo>
                <a:lnTo>
                  <a:pt x="27" y="583"/>
                </a:lnTo>
                <a:lnTo>
                  <a:pt x="17" y="575"/>
                </a:lnTo>
                <a:lnTo>
                  <a:pt x="9" y="566"/>
                </a:lnTo>
                <a:lnTo>
                  <a:pt x="3" y="558"/>
                </a:lnTo>
                <a:lnTo>
                  <a:pt x="0" y="550"/>
                </a:lnTo>
                <a:lnTo>
                  <a:pt x="0" y="541"/>
                </a:lnTo>
                <a:lnTo>
                  <a:pt x="3" y="533"/>
                </a:lnTo>
                <a:lnTo>
                  <a:pt x="9" y="525"/>
                </a:lnTo>
                <a:lnTo>
                  <a:pt x="18" y="516"/>
                </a:lnTo>
                <a:lnTo>
                  <a:pt x="30" y="508"/>
                </a:lnTo>
                <a:lnTo>
                  <a:pt x="44" y="500"/>
                </a:lnTo>
                <a:lnTo>
                  <a:pt x="59" y="491"/>
                </a:lnTo>
                <a:lnTo>
                  <a:pt x="75" y="483"/>
                </a:lnTo>
                <a:lnTo>
                  <a:pt x="91" y="475"/>
                </a:lnTo>
                <a:lnTo>
                  <a:pt x="106" y="466"/>
                </a:lnTo>
                <a:lnTo>
                  <a:pt x="119" y="458"/>
                </a:lnTo>
                <a:lnTo>
                  <a:pt x="132" y="450"/>
                </a:lnTo>
                <a:lnTo>
                  <a:pt x="143" y="441"/>
                </a:lnTo>
                <a:lnTo>
                  <a:pt x="153" y="433"/>
                </a:lnTo>
                <a:lnTo>
                  <a:pt x="162" y="425"/>
                </a:lnTo>
                <a:lnTo>
                  <a:pt x="171" y="416"/>
                </a:lnTo>
                <a:lnTo>
                  <a:pt x="180" y="408"/>
                </a:lnTo>
                <a:lnTo>
                  <a:pt x="187" y="400"/>
                </a:lnTo>
                <a:lnTo>
                  <a:pt x="194" y="391"/>
                </a:lnTo>
                <a:lnTo>
                  <a:pt x="199" y="383"/>
                </a:lnTo>
                <a:lnTo>
                  <a:pt x="204" y="375"/>
                </a:lnTo>
                <a:lnTo>
                  <a:pt x="207" y="366"/>
                </a:lnTo>
                <a:lnTo>
                  <a:pt x="208" y="358"/>
                </a:lnTo>
                <a:lnTo>
                  <a:pt x="209" y="350"/>
                </a:lnTo>
                <a:lnTo>
                  <a:pt x="208" y="342"/>
                </a:lnTo>
                <a:lnTo>
                  <a:pt x="206" y="333"/>
                </a:lnTo>
                <a:lnTo>
                  <a:pt x="204" y="325"/>
                </a:lnTo>
                <a:lnTo>
                  <a:pt x="200" y="317"/>
                </a:lnTo>
                <a:lnTo>
                  <a:pt x="196" y="308"/>
                </a:lnTo>
                <a:lnTo>
                  <a:pt x="191" y="300"/>
                </a:lnTo>
                <a:lnTo>
                  <a:pt x="187" y="292"/>
                </a:lnTo>
                <a:lnTo>
                  <a:pt x="183" y="283"/>
                </a:lnTo>
                <a:lnTo>
                  <a:pt x="179" y="275"/>
                </a:lnTo>
                <a:lnTo>
                  <a:pt x="177" y="267"/>
                </a:lnTo>
                <a:lnTo>
                  <a:pt x="174" y="258"/>
                </a:lnTo>
                <a:lnTo>
                  <a:pt x="173" y="250"/>
                </a:lnTo>
                <a:lnTo>
                  <a:pt x="173" y="242"/>
                </a:lnTo>
                <a:lnTo>
                  <a:pt x="173" y="233"/>
                </a:lnTo>
                <a:lnTo>
                  <a:pt x="175" y="225"/>
                </a:lnTo>
                <a:lnTo>
                  <a:pt x="179" y="217"/>
                </a:lnTo>
                <a:lnTo>
                  <a:pt x="183" y="208"/>
                </a:lnTo>
                <a:lnTo>
                  <a:pt x="189" y="200"/>
                </a:lnTo>
                <a:lnTo>
                  <a:pt x="195" y="192"/>
                </a:lnTo>
                <a:lnTo>
                  <a:pt x="202" y="183"/>
                </a:lnTo>
                <a:lnTo>
                  <a:pt x="210" y="175"/>
                </a:lnTo>
                <a:lnTo>
                  <a:pt x="217" y="167"/>
                </a:lnTo>
                <a:lnTo>
                  <a:pt x="225" y="158"/>
                </a:lnTo>
                <a:lnTo>
                  <a:pt x="232" y="150"/>
                </a:lnTo>
                <a:lnTo>
                  <a:pt x="239" y="142"/>
                </a:lnTo>
                <a:lnTo>
                  <a:pt x="245" y="133"/>
                </a:lnTo>
                <a:lnTo>
                  <a:pt x="250" y="125"/>
                </a:lnTo>
                <a:lnTo>
                  <a:pt x="254" y="117"/>
                </a:lnTo>
                <a:lnTo>
                  <a:pt x="258" y="108"/>
                </a:lnTo>
                <a:lnTo>
                  <a:pt x="261" y="100"/>
                </a:lnTo>
                <a:lnTo>
                  <a:pt x="264" y="92"/>
                </a:lnTo>
                <a:lnTo>
                  <a:pt x="266" y="83"/>
                </a:lnTo>
                <a:lnTo>
                  <a:pt x="267" y="75"/>
                </a:lnTo>
                <a:lnTo>
                  <a:pt x="268" y="67"/>
                </a:lnTo>
                <a:lnTo>
                  <a:pt x="269" y="58"/>
                </a:lnTo>
                <a:lnTo>
                  <a:pt x="269" y="50"/>
                </a:lnTo>
                <a:lnTo>
                  <a:pt x="270" y="42"/>
                </a:lnTo>
                <a:lnTo>
                  <a:pt x="270" y="34"/>
                </a:lnTo>
                <a:lnTo>
                  <a:pt x="270" y="25"/>
                </a:lnTo>
                <a:lnTo>
                  <a:pt x="270" y="17"/>
                </a:lnTo>
                <a:lnTo>
                  <a:pt x="270" y="9"/>
                </a:lnTo>
                <a:lnTo>
                  <a:pt x="270" y="0"/>
                </a:lnTo>
                <a:lnTo>
                  <a:pt x="270" y="0"/>
                </a:lnTo>
                <a:lnTo>
                  <a:pt x="270" y="9"/>
                </a:lnTo>
                <a:lnTo>
                  <a:pt x="270" y="17"/>
                </a:lnTo>
                <a:lnTo>
                  <a:pt x="270" y="25"/>
                </a:lnTo>
                <a:lnTo>
                  <a:pt x="270" y="34"/>
                </a:lnTo>
                <a:lnTo>
                  <a:pt x="270" y="42"/>
                </a:lnTo>
                <a:lnTo>
                  <a:pt x="271" y="50"/>
                </a:lnTo>
                <a:lnTo>
                  <a:pt x="271" y="58"/>
                </a:lnTo>
                <a:lnTo>
                  <a:pt x="272" y="67"/>
                </a:lnTo>
                <a:lnTo>
                  <a:pt x="273" y="75"/>
                </a:lnTo>
                <a:lnTo>
                  <a:pt x="274" y="83"/>
                </a:lnTo>
                <a:lnTo>
                  <a:pt x="276" y="92"/>
                </a:lnTo>
                <a:lnTo>
                  <a:pt x="279" y="100"/>
                </a:lnTo>
                <a:lnTo>
                  <a:pt x="282" y="108"/>
                </a:lnTo>
                <a:lnTo>
                  <a:pt x="286" y="117"/>
                </a:lnTo>
                <a:lnTo>
                  <a:pt x="290" y="125"/>
                </a:lnTo>
                <a:lnTo>
                  <a:pt x="295" y="133"/>
                </a:lnTo>
                <a:lnTo>
                  <a:pt x="301" y="142"/>
                </a:lnTo>
                <a:lnTo>
                  <a:pt x="308" y="150"/>
                </a:lnTo>
                <a:lnTo>
                  <a:pt x="315" y="158"/>
                </a:lnTo>
                <a:lnTo>
                  <a:pt x="323" y="167"/>
                </a:lnTo>
                <a:lnTo>
                  <a:pt x="330" y="175"/>
                </a:lnTo>
                <a:lnTo>
                  <a:pt x="338" y="183"/>
                </a:lnTo>
                <a:lnTo>
                  <a:pt x="345" y="192"/>
                </a:lnTo>
                <a:lnTo>
                  <a:pt x="351" y="200"/>
                </a:lnTo>
                <a:lnTo>
                  <a:pt x="357" y="208"/>
                </a:lnTo>
                <a:lnTo>
                  <a:pt x="361" y="217"/>
                </a:lnTo>
                <a:lnTo>
                  <a:pt x="365" y="225"/>
                </a:lnTo>
                <a:lnTo>
                  <a:pt x="367" y="233"/>
                </a:lnTo>
                <a:lnTo>
                  <a:pt x="367" y="242"/>
                </a:lnTo>
                <a:lnTo>
                  <a:pt x="367" y="250"/>
                </a:lnTo>
                <a:lnTo>
                  <a:pt x="366" y="258"/>
                </a:lnTo>
                <a:lnTo>
                  <a:pt x="363" y="267"/>
                </a:lnTo>
                <a:lnTo>
                  <a:pt x="361" y="275"/>
                </a:lnTo>
                <a:lnTo>
                  <a:pt x="357" y="283"/>
                </a:lnTo>
                <a:lnTo>
                  <a:pt x="353" y="292"/>
                </a:lnTo>
                <a:lnTo>
                  <a:pt x="349" y="300"/>
                </a:lnTo>
                <a:lnTo>
                  <a:pt x="344" y="308"/>
                </a:lnTo>
                <a:lnTo>
                  <a:pt x="340" y="317"/>
                </a:lnTo>
                <a:lnTo>
                  <a:pt x="336" y="325"/>
                </a:lnTo>
                <a:lnTo>
                  <a:pt x="334" y="333"/>
                </a:lnTo>
                <a:lnTo>
                  <a:pt x="332" y="342"/>
                </a:lnTo>
                <a:lnTo>
                  <a:pt x="331" y="350"/>
                </a:lnTo>
                <a:lnTo>
                  <a:pt x="332" y="358"/>
                </a:lnTo>
                <a:lnTo>
                  <a:pt x="333" y="366"/>
                </a:lnTo>
                <a:lnTo>
                  <a:pt x="336" y="375"/>
                </a:lnTo>
                <a:lnTo>
                  <a:pt x="341" y="383"/>
                </a:lnTo>
                <a:lnTo>
                  <a:pt x="346" y="391"/>
                </a:lnTo>
                <a:lnTo>
                  <a:pt x="353" y="400"/>
                </a:lnTo>
                <a:lnTo>
                  <a:pt x="360" y="408"/>
                </a:lnTo>
                <a:lnTo>
                  <a:pt x="369" y="416"/>
                </a:lnTo>
                <a:lnTo>
                  <a:pt x="378" y="425"/>
                </a:lnTo>
                <a:lnTo>
                  <a:pt x="387" y="433"/>
                </a:lnTo>
                <a:lnTo>
                  <a:pt x="397" y="441"/>
                </a:lnTo>
                <a:lnTo>
                  <a:pt x="408" y="450"/>
                </a:lnTo>
                <a:lnTo>
                  <a:pt x="421" y="458"/>
                </a:lnTo>
                <a:lnTo>
                  <a:pt x="434" y="466"/>
                </a:lnTo>
                <a:lnTo>
                  <a:pt x="449" y="475"/>
                </a:lnTo>
                <a:lnTo>
                  <a:pt x="465" y="483"/>
                </a:lnTo>
                <a:lnTo>
                  <a:pt x="481" y="491"/>
                </a:lnTo>
                <a:lnTo>
                  <a:pt x="496" y="500"/>
                </a:lnTo>
                <a:lnTo>
                  <a:pt x="510" y="508"/>
                </a:lnTo>
                <a:lnTo>
                  <a:pt x="522" y="516"/>
                </a:lnTo>
                <a:lnTo>
                  <a:pt x="531" y="525"/>
                </a:lnTo>
                <a:lnTo>
                  <a:pt x="537" y="533"/>
                </a:lnTo>
                <a:lnTo>
                  <a:pt x="540" y="541"/>
                </a:lnTo>
                <a:lnTo>
                  <a:pt x="540" y="550"/>
                </a:lnTo>
                <a:lnTo>
                  <a:pt x="537" y="558"/>
                </a:lnTo>
                <a:lnTo>
                  <a:pt x="531" y="566"/>
                </a:lnTo>
                <a:lnTo>
                  <a:pt x="523" y="575"/>
                </a:lnTo>
                <a:lnTo>
                  <a:pt x="513" y="583"/>
                </a:lnTo>
                <a:lnTo>
                  <a:pt x="501" y="591"/>
                </a:lnTo>
                <a:lnTo>
                  <a:pt x="486" y="600"/>
                </a:lnTo>
                <a:lnTo>
                  <a:pt x="470" y="608"/>
                </a:lnTo>
                <a:lnTo>
                  <a:pt x="454" y="616"/>
                </a:lnTo>
                <a:lnTo>
                  <a:pt x="437" y="625"/>
                </a:lnTo>
                <a:lnTo>
                  <a:pt x="420" y="633"/>
                </a:lnTo>
                <a:lnTo>
                  <a:pt x="403" y="641"/>
                </a:lnTo>
                <a:lnTo>
                  <a:pt x="387" y="649"/>
                </a:lnTo>
                <a:lnTo>
                  <a:pt x="373" y="658"/>
                </a:lnTo>
                <a:lnTo>
                  <a:pt x="360" y="666"/>
                </a:lnTo>
                <a:lnTo>
                  <a:pt x="348" y="674"/>
                </a:lnTo>
                <a:lnTo>
                  <a:pt x="338" y="683"/>
                </a:lnTo>
                <a:lnTo>
                  <a:pt x="330" y="691"/>
                </a:lnTo>
                <a:lnTo>
                  <a:pt x="322" y="699"/>
                </a:lnTo>
                <a:lnTo>
                  <a:pt x="315" y="708"/>
                </a:lnTo>
                <a:lnTo>
                  <a:pt x="310" y="716"/>
                </a:lnTo>
                <a:lnTo>
                  <a:pt x="304" y="724"/>
                </a:lnTo>
                <a:lnTo>
                  <a:pt x="300" y="733"/>
                </a:lnTo>
                <a:lnTo>
                  <a:pt x="296" y="741"/>
                </a:lnTo>
                <a:lnTo>
                  <a:pt x="293" y="749"/>
                </a:lnTo>
                <a:lnTo>
                  <a:pt x="290" y="758"/>
                </a:lnTo>
                <a:lnTo>
                  <a:pt x="287" y="766"/>
                </a:lnTo>
                <a:lnTo>
                  <a:pt x="285" y="774"/>
                </a:lnTo>
                <a:lnTo>
                  <a:pt x="283" y="783"/>
                </a:lnTo>
                <a:lnTo>
                  <a:pt x="281" y="791"/>
                </a:lnTo>
                <a:lnTo>
                  <a:pt x="280" y="799"/>
                </a:lnTo>
                <a:lnTo>
                  <a:pt x="279" y="808"/>
                </a:lnTo>
                <a:lnTo>
                  <a:pt x="278" y="816"/>
                </a:lnTo>
                <a:lnTo>
                  <a:pt x="277" y="824"/>
                </a:lnTo>
                <a:lnTo>
                  <a:pt x="277" y="833"/>
                </a:lnTo>
                <a:lnTo>
                  <a:pt x="276" y="841"/>
                </a:lnTo>
                <a:lnTo>
                  <a:pt x="275" y="849"/>
                </a:lnTo>
                <a:lnTo>
                  <a:pt x="275" y="858"/>
                </a:lnTo>
                <a:lnTo>
                  <a:pt x="274" y="866"/>
                </a:lnTo>
                <a:lnTo>
                  <a:pt x="274" y="874"/>
                </a:lnTo>
                <a:lnTo>
                  <a:pt x="273" y="883"/>
                </a:lnTo>
                <a:lnTo>
                  <a:pt x="273" y="891"/>
                </a:lnTo>
                <a:lnTo>
                  <a:pt x="273" y="899"/>
                </a:lnTo>
                <a:lnTo>
                  <a:pt x="272" y="908"/>
                </a:lnTo>
                <a:lnTo>
                  <a:pt x="272" y="916"/>
                </a:lnTo>
                <a:lnTo>
                  <a:pt x="272" y="924"/>
                </a:lnTo>
                <a:lnTo>
                  <a:pt x="271" y="933"/>
                </a:lnTo>
                <a:lnTo>
                  <a:pt x="271" y="941"/>
                </a:lnTo>
                <a:lnTo>
                  <a:pt x="271" y="949"/>
                </a:lnTo>
                <a:lnTo>
                  <a:pt x="271" y="957"/>
                </a:lnTo>
                <a:lnTo>
                  <a:pt x="271" y="966"/>
                </a:lnTo>
                <a:lnTo>
                  <a:pt x="271" y="974"/>
                </a:lnTo>
                <a:lnTo>
                  <a:pt x="271" y="982"/>
                </a:lnTo>
                <a:lnTo>
                  <a:pt x="271" y="991"/>
                </a:lnTo>
                <a:lnTo>
                  <a:pt x="271" y="999"/>
                </a:lnTo>
                <a:lnTo>
                  <a:pt x="271" y="1007"/>
                </a:lnTo>
                <a:lnTo>
                  <a:pt x="271" y="1016"/>
                </a:lnTo>
                <a:lnTo>
                  <a:pt x="270" y="1024"/>
                </a:lnTo>
                <a:lnTo>
                  <a:pt x="270" y="1032"/>
                </a:lnTo>
                <a:lnTo>
                  <a:pt x="270" y="1041"/>
                </a:lnTo>
                <a:lnTo>
                  <a:pt x="270" y="1049"/>
                </a:lnTo>
                <a:lnTo>
                  <a:pt x="270" y="1057"/>
                </a:lnTo>
                <a:lnTo>
                  <a:pt x="270" y="1066"/>
                </a:lnTo>
                <a:lnTo>
                  <a:pt x="270" y="1074"/>
                </a:lnTo>
                <a:lnTo>
                  <a:pt x="270" y="1082"/>
                </a:lnTo>
                <a:lnTo>
                  <a:pt x="270" y="1091"/>
                </a:lnTo>
                <a:lnTo>
                  <a:pt x="270" y="1099"/>
                </a:lnTo>
                <a:lnTo>
                  <a:pt x="270" y="1107"/>
                </a:lnTo>
                <a:lnTo>
                  <a:pt x="270" y="1116"/>
                </a:lnTo>
                <a:lnTo>
                  <a:pt x="270" y="1124"/>
                </a:lnTo>
                <a:lnTo>
                  <a:pt x="270" y="1132"/>
                </a:lnTo>
                <a:lnTo>
                  <a:pt x="270" y="1141"/>
                </a:lnTo>
                <a:lnTo>
                  <a:pt x="270" y="1149"/>
                </a:lnTo>
                <a:lnTo>
                  <a:pt x="270" y="1157"/>
                </a:lnTo>
                <a:lnTo>
                  <a:pt x="270" y="1166"/>
                </a:lnTo>
                <a:lnTo>
                  <a:pt x="270" y="1174"/>
                </a:lnTo>
                <a:lnTo>
                  <a:pt x="270" y="1182"/>
                </a:lnTo>
                <a:lnTo>
                  <a:pt x="270" y="1191"/>
                </a:lnTo>
                <a:lnTo>
                  <a:pt x="270" y="1199"/>
                </a:lnTo>
                <a:lnTo>
                  <a:pt x="270" y="1207"/>
                </a:lnTo>
                <a:lnTo>
                  <a:pt x="270" y="1216"/>
                </a:lnTo>
                <a:lnTo>
                  <a:pt x="270" y="1224"/>
                </a:lnTo>
                <a:lnTo>
                  <a:pt x="270" y="1232"/>
                </a:lnTo>
                <a:lnTo>
                  <a:pt x="270" y="1240"/>
                </a:lnTo>
                <a:close/>
              </a:path>
            </a:pathLst>
          </a:custGeom>
          <a:solidFill>
            <a:srgbClr val="DCEFE4"/>
          </a:solidFill>
          <a:ln w="9525">
            <a:solidFill>
              <a:srgbClr val="178F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Violin_background_shuffled"/>
          <p:cNvSpPr/>
          <p:nvPr/>
        </p:nvSpPr>
        <p:spPr>
          <a:xfrm>
            <a:off x="1929384" y="1058875"/>
            <a:ext cx="493776" cy="3004718"/>
          </a:xfrm>
          <a:custGeom>
            <a:avLst/>
            <a:gdLst/>
            <a:ahLst/>
            <a:cxnLst/>
            <a:rect l="l" t="t" r="r" b="b"/>
            <a:pathLst>
              <a:path w="540" h="3286">
                <a:moveTo>
                  <a:pt x="269" y="3286"/>
                </a:moveTo>
                <a:lnTo>
                  <a:pt x="269" y="3264"/>
                </a:lnTo>
                <a:lnTo>
                  <a:pt x="268" y="3242"/>
                </a:lnTo>
                <a:lnTo>
                  <a:pt x="267" y="3220"/>
                </a:lnTo>
                <a:lnTo>
                  <a:pt x="266" y="3198"/>
                </a:lnTo>
                <a:lnTo>
                  <a:pt x="264" y="3176"/>
                </a:lnTo>
                <a:lnTo>
                  <a:pt x="262" y="3153"/>
                </a:lnTo>
                <a:lnTo>
                  <a:pt x="259" y="3131"/>
                </a:lnTo>
                <a:lnTo>
                  <a:pt x="255" y="3109"/>
                </a:lnTo>
                <a:lnTo>
                  <a:pt x="251" y="3087"/>
                </a:lnTo>
                <a:lnTo>
                  <a:pt x="245" y="3065"/>
                </a:lnTo>
                <a:lnTo>
                  <a:pt x="239" y="3043"/>
                </a:lnTo>
                <a:lnTo>
                  <a:pt x="232" y="3021"/>
                </a:lnTo>
                <a:lnTo>
                  <a:pt x="223" y="2999"/>
                </a:lnTo>
                <a:lnTo>
                  <a:pt x="214" y="2977"/>
                </a:lnTo>
                <a:lnTo>
                  <a:pt x="204" y="2955"/>
                </a:lnTo>
                <a:lnTo>
                  <a:pt x="193" y="2933"/>
                </a:lnTo>
                <a:lnTo>
                  <a:pt x="182" y="2911"/>
                </a:lnTo>
                <a:lnTo>
                  <a:pt x="170" y="2889"/>
                </a:lnTo>
                <a:lnTo>
                  <a:pt x="158" y="2867"/>
                </a:lnTo>
                <a:lnTo>
                  <a:pt x="147" y="2845"/>
                </a:lnTo>
                <a:lnTo>
                  <a:pt x="135" y="2823"/>
                </a:lnTo>
                <a:lnTo>
                  <a:pt x="125" y="2801"/>
                </a:lnTo>
                <a:lnTo>
                  <a:pt x="115" y="2779"/>
                </a:lnTo>
                <a:lnTo>
                  <a:pt x="106" y="2757"/>
                </a:lnTo>
                <a:lnTo>
                  <a:pt x="98" y="2735"/>
                </a:lnTo>
                <a:lnTo>
                  <a:pt x="91" y="2712"/>
                </a:lnTo>
                <a:lnTo>
                  <a:pt x="86" y="2690"/>
                </a:lnTo>
                <a:lnTo>
                  <a:pt x="82" y="2668"/>
                </a:lnTo>
                <a:lnTo>
                  <a:pt x="79" y="2646"/>
                </a:lnTo>
                <a:lnTo>
                  <a:pt x="77" y="2624"/>
                </a:lnTo>
                <a:lnTo>
                  <a:pt x="76" y="2602"/>
                </a:lnTo>
                <a:lnTo>
                  <a:pt x="76" y="2580"/>
                </a:lnTo>
                <a:lnTo>
                  <a:pt x="76" y="2558"/>
                </a:lnTo>
                <a:lnTo>
                  <a:pt x="78" y="2536"/>
                </a:lnTo>
                <a:lnTo>
                  <a:pt x="80" y="2514"/>
                </a:lnTo>
                <a:lnTo>
                  <a:pt x="82" y="2492"/>
                </a:lnTo>
                <a:lnTo>
                  <a:pt x="85" y="2470"/>
                </a:lnTo>
                <a:lnTo>
                  <a:pt x="88" y="2448"/>
                </a:lnTo>
                <a:lnTo>
                  <a:pt x="91" y="2426"/>
                </a:lnTo>
                <a:lnTo>
                  <a:pt x="94" y="2404"/>
                </a:lnTo>
                <a:lnTo>
                  <a:pt x="97" y="2382"/>
                </a:lnTo>
                <a:lnTo>
                  <a:pt x="101" y="2360"/>
                </a:lnTo>
                <a:lnTo>
                  <a:pt x="104" y="2338"/>
                </a:lnTo>
                <a:lnTo>
                  <a:pt x="107" y="2316"/>
                </a:lnTo>
                <a:lnTo>
                  <a:pt x="110" y="2293"/>
                </a:lnTo>
                <a:lnTo>
                  <a:pt x="113" y="2271"/>
                </a:lnTo>
                <a:lnTo>
                  <a:pt x="116" y="2249"/>
                </a:lnTo>
                <a:lnTo>
                  <a:pt x="118" y="2227"/>
                </a:lnTo>
                <a:lnTo>
                  <a:pt x="120" y="2205"/>
                </a:lnTo>
                <a:lnTo>
                  <a:pt x="123" y="2183"/>
                </a:lnTo>
                <a:lnTo>
                  <a:pt x="125" y="2161"/>
                </a:lnTo>
                <a:lnTo>
                  <a:pt x="128" y="2139"/>
                </a:lnTo>
                <a:lnTo>
                  <a:pt x="130" y="2117"/>
                </a:lnTo>
                <a:lnTo>
                  <a:pt x="132" y="2095"/>
                </a:lnTo>
                <a:lnTo>
                  <a:pt x="134" y="2073"/>
                </a:lnTo>
                <a:lnTo>
                  <a:pt x="136" y="2051"/>
                </a:lnTo>
                <a:lnTo>
                  <a:pt x="138" y="2029"/>
                </a:lnTo>
                <a:lnTo>
                  <a:pt x="139" y="2007"/>
                </a:lnTo>
                <a:lnTo>
                  <a:pt x="141" y="1985"/>
                </a:lnTo>
                <a:lnTo>
                  <a:pt x="142" y="1963"/>
                </a:lnTo>
                <a:lnTo>
                  <a:pt x="142" y="1941"/>
                </a:lnTo>
                <a:lnTo>
                  <a:pt x="143" y="1919"/>
                </a:lnTo>
                <a:lnTo>
                  <a:pt x="143" y="1897"/>
                </a:lnTo>
                <a:lnTo>
                  <a:pt x="144" y="1875"/>
                </a:lnTo>
                <a:lnTo>
                  <a:pt x="144" y="1852"/>
                </a:lnTo>
                <a:lnTo>
                  <a:pt x="144" y="1830"/>
                </a:lnTo>
                <a:lnTo>
                  <a:pt x="145" y="1808"/>
                </a:lnTo>
                <a:lnTo>
                  <a:pt x="145" y="1786"/>
                </a:lnTo>
                <a:lnTo>
                  <a:pt x="146" y="1764"/>
                </a:lnTo>
                <a:lnTo>
                  <a:pt x="147" y="1742"/>
                </a:lnTo>
                <a:lnTo>
                  <a:pt x="147" y="1720"/>
                </a:lnTo>
                <a:lnTo>
                  <a:pt x="148" y="1698"/>
                </a:lnTo>
                <a:lnTo>
                  <a:pt x="149" y="1676"/>
                </a:lnTo>
                <a:lnTo>
                  <a:pt x="149" y="1654"/>
                </a:lnTo>
                <a:lnTo>
                  <a:pt x="149" y="1632"/>
                </a:lnTo>
                <a:lnTo>
                  <a:pt x="149" y="1610"/>
                </a:lnTo>
                <a:lnTo>
                  <a:pt x="150" y="1588"/>
                </a:lnTo>
                <a:lnTo>
                  <a:pt x="149" y="1566"/>
                </a:lnTo>
                <a:lnTo>
                  <a:pt x="149" y="1544"/>
                </a:lnTo>
                <a:lnTo>
                  <a:pt x="149" y="1522"/>
                </a:lnTo>
                <a:lnTo>
                  <a:pt x="148" y="1500"/>
                </a:lnTo>
                <a:lnTo>
                  <a:pt x="147" y="1478"/>
                </a:lnTo>
                <a:lnTo>
                  <a:pt x="146" y="1456"/>
                </a:lnTo>
                <a:lnTo>
                  <a:pt x="145" y="1434"/>
                </a:lnTo>
                <a:lnTo>
                  <a:pt x="144" y="1411"/>
                </a:lnTo>
                <a:lnTo>
                  <a:pt x="143" y="1389"/>
                </a:lnTo>
                <a:lnTo>
                  <a:pt x="141" y="1367"/>
                </a:lnTo>
                <a:lnTo>
                  <a:pt x="140" y="1345"/>
                </a:lnTo>
                <a:lnTo>
                  <a:pt x="138" y="1323"/>
                </a:lnTo>
                <a:lnTo>
                  <a:pt x="137" y="1301"/>
                </a:lnTo>
                <a:lnTo>
                  <a:pt x="135" y="1279"/>
                </a:lnTo>
                <a:lnTo>
                  <a:pt x="134" y="1257"/>
                </a:lnTo>
                <a:lnTo>
                  <a:pt x="132" y="1235"/>
                </a:lnTo>
                <a:lnTo>
                  <a:pt x="131" y="1213"/>
                </a:lnTo>
                <a:lnTo>
                  <a:pt x="130" y="1191"/>
                </a:lnTo>
                <a:lnTo>
                  <a:pt x="128" y="1169"/>
                </a:lnTo>
                <a:lnTo>
                  <a:pt x="127" y="1147"/>
                </a:lnTo>
                <a:lnTo>
                  <a:pt x="125" y="1125"/>
                </a:lnTo>
                <a:lnTo>
                  <a:pt x="123" y="1103"/>
                </a:lnTo>
                <a:lnTo>
                  <a:pt x="120" y="1081"/>
                </a:lnTo>
                <a:lnTo>
                  <a:pt x="118" y="1059"/>
                </a:lnTo>
                <a:lnTo>
                  <a:pt x="115" y="1037"/>
                </a:lnTo>
                <a:lnTo>
                  <a:pt x="112" y="1015"/>
                </a:lnTo>
                <a:lnTo>
                  <a:pt x="108" y="992"/>
                </a:lnTo>
                <a:lnTo>
                  <a:pt x="104" y="970"/>
                </a:lnTo>
                <a:lnTo>
                  <a:pt x="100" y="948"/>
                </a:lnTo>
                <a:lnTo>
                  <a:pt x="95" y="926"/>
                </a:lnTo>
                <a:lnTo>
                  <a:pt x="90" y="904"/>
                </a:lnTo>
                <a:lnTo>
                  <a:pt x="84" y="882"/>
                </a:lnTo>
                <a:lnTo>
                  <a:pt x="77" y="860"/>
                </a:lnTo>
                <a:lnTo>
                  <a:pt x="69" y="838"/>
                </a:lnTo>
                <a:lnTo>
                  <a:pt x="61" y="816"/>
                </a:lnTo>
                <a:lnTo>
                  <a:pt x="52" y="794"/>
                </a:lnTo>
                <a:lnTo>
                  <a:pt x="42" y="772"/>
                </a:lnTo>
                <a:lnTo>
                  <a:pt x="32" y="750"/>
                </a:lnTo>
                <a:lnTo>
                  <a:pt x="23" y="728"/>
                </a:lnTo>
                <a:lnTo>
                  <a:pt x="14" y="706"/>
                </a:lnTo>
                <a:lnTo>
                  <a:pt x="7" y="684"/>
                </a:lnTo>
                <a:lnTo>
                  <a:pt x="2" y="662"/>
                </a:lnTo>
                <a:lnTo>
                  <a:pt x="0" y="640"/>
                </a:lnTo>
                <a:lnTo>
                  <a:pt x="1" y="618"/>
                </a:lnTo>
                <a:lnTo>
                  <a:pt x="6" y="596"/>
                </a:lnTo>
                <a:lnTo>
                  <a:pt x="14" y="574"/>
                </a:lnTo>
                <a:lnTo>
                  <a:pt x="25" y="551"/>
                </a:lnTo>
                <a:lnTo>
                  <a:pt x="40" y="529"/>
                </a:lnTo>
                <a:lnTo>
                  <a:pt x="56" y="507"/>
                </a:lnTo>
                <a:lnTo>
                  <a:pt x="73" y="485"/>
                </a:lnTo>
                <a:lnTo>
                  <a:pt x="91" y="463"/>
                </a:lnTo>
                <a:lnTo>
                  <a:pt x="108" y="441"/>
                </a:lnTo>
                <a:lnTo>
                  <a:pt x="124" y="419"/>
                </a:lnTo>
                <a:lnTo>
                  <a:pt x="138" y="397"/>
                </a:lnTo>
                <a:lnTo>
                  <a:pt x="151" y="375"/>
                </a:lnTo>
                <a:lnTo>
                  <a:pt x="162" y="353"/>
                </a:lnTo>
                <a:lnTo>
                  <a:pt x="171" y="331"/>
                </a:lnTo>
                <a:lnTo>
                  <a:pt x="180" y="309"/>
                </a:lnTo>
                <a:lnTo>
                  <a:pt x="187" y="287"/>
                </a:lnTo>
                <a:lnTo>
                  <a:pt x="195" y="265"/>
                </a:lnTo>
                <a:lnTo>
                  <a:pt x="202" y="243"/>
                </a:lnTo>
                <a:lnTo>
                  <a:pt x="210" y="221"/>
                </a:lnTo>
                <a:lnTo>
                  <a:pt x="217" y="199"/>
                </a:lnTo>
                <a:lnTo>
                  <a:pt x="225" y="177"/>
                </a:lnTo>
                <a:lnTo>
                  <a:pt x="232" y="155"/>
                </a:lnTo>
                <a:lnTo>
                  <a:pt x="239" y="133"/>
                </a:lnTo>
                <a:lnTo>
                  <a:pt x="245" y="110"/>
                </a:lnTo>
                <a:lnTo>
                  <a:pt x="251" y="88"/>
                </a:lnTo>
                <a:lnTo>
                  <a:pt x="256" y="66"/>
                </a:lnTo>
                <a:lnTo>
                  <a:pt x="260" y="44"/>
                </a:lnTo>
                <a:lnTo>
                  <a:pt x="263" y="22"/>
                </a:lnTo>
                <a:lnTo>
                  <a:pt x="265" y="0"/>
                </a:lnTo>
                <a:lnTo>
                  <a:pt x="275" y="0"/>
                </a:lnTo>
                <a:lnTo>
                  <a:pt x="277" y="22"/>
                </a:lnTo>
                <a:lnTo>
                  <a:pt x="280" y="44"/>
                </a:lnTo>
                <a:lnTo>
                  <a:pt x="284" y="66"/>
                </a:lnTo>
                <a:lnTo>
                  <a:pt x="289" y="88"/>
                </a:lnTo>
                <a:lnTo>
                  <a:pt x="295" y="110"/>
                </a:lnTo>
                <a:lnTo>
                  <a:pt x="301" y="133"/>
                </a:lnTo>
                <a:lnTo>
                  <a:pt x="308" y="155"/>
                </a:lnTo>
                <a:lnTo>
                  <a:pt x="315" y="177"/>
                </a:lnTo>
                <a:lnTo>
                  <a:pt x="323" y="199"/>
                </a:lnTo>
                <a:lnTo>
                  <a:pt x="330" y="221"/>
                </a:lnTo>
                <a:lnTo>
                  <a:pt x="338" y="243"/>
                </a:lnTo>
                <a:lnTo>
                  <a:pt x="345" y="265"/>
                </a:lnTo>
                <a:lnTo>
                  <a:pt x="353" y="287"/>
                </a:lnTo>
                <a:lnTo>
                  <a:pt x="360" y="309"/>
                </a:lnTo>
                <a:lnTo>
                  <a:pt x="369" y="331"/>
                </a:lnTo>
                <a:lnTo>
                  <a:pt x="378" y="353"/>
                </a:lnTo>
                <a:lnTo>
                  <a:pt x="389" y="375"/>
                </a:lnTo>
                <a:lnTo>
                  <a:pt x="402" y="397"/>
                </a:lnTo>
                <a:lnTo>
                  <a:pt x="416" y="419"/>
                </a:lnTo>
                <a:lnTo>
                  <a:pt x="432" y="441"/>
                </a:lnTo>
                <a:lnTo>
                  <a:pt x="449" y="463"/>
                </a:lnTo>
                <a:lnTo>
                  <a:pt x="467" y="485"/>
                </a:lnTo>
                <a:lnTo>
                  <a:pt x="484" y="507"/>
                </a:lnTo>
                <a:lnTo>
                  <a:pt x="500" y="529"/>
                </a:lnTo>
                <a:lnTo>
                  <a:pt x="515" y="551"/>
                </a:lnTo>
                <a:lnTo>
                  <a:pt x="526" y="574"/>
                </a:lnTo>
                <a:lnTo>
                  <a:pt x="534" y="596"/>
                </a:lnTo>
                <a:lnTo>
                  <a:pt x="539" y="618"/>
                </a:lnTo>
                <a:lnTo>
                  <a:pt x="540" y="640"/>
                </a:lnTo>
                <a:lnTo>
                  <a:pt x="538" y="662"/>
                </a:lnTo>
                <a:lnTo>
                  <a:pt x="533" y="684"/>
                </a:lnTo>
                <a:lnTo>
                  <a:pt x="526" y="706"/>
                </a:lnTo>
                <a:lnTo>
                  <a:pt x="517" y="728"/>
                </a:lnTo>
                <a:lnTo>
                  <a:pt x="508" y="750"/>
                </a:lnTo>
                <a:lnTo>
                  <a:pt x="498" y="772"/>
                </a:lnTo>
                <a:lnTo>
                  <a:pt x="488" y="794"/>
                </a:lnTo>
                <a:lnTo>
                  <a:pt x="479" y="816"/>
                </a:lnTo>
                <a:lnTo>
                  <a:pt x="471" y="838"/>
                </a:lnTo>
                <a:lnTo>
                  <a:pt x="463" y="860"/>
                </a:lnTo>
                <a:lnTo>
                  <a:pt x="456" y="882"/>
                </a:lnTo>
                <a:lnTo>
                  <a:pt x="450" y="904"/>
                </a:lnTo>
                <a:lnTo>
                  <a:pt x="445" y="926"/>
                </a:lnTo>
                <a:lnTo>
                  <a:pt x="440" y="948"/>
                </a:lnTo>
                <a:lnTo>
                  <a:pt x="436" y="970"/>
                </a:lnTo>
                <a:lnTo>
                  <a:pt x="432" y="992"/>
                </a:lnTo>
                <a:lnTo>
                  <a:pt x="428" y="1015"/>
                </a:lnTo>
                <a:lnTo>
                  <a:pt x="425" y="1037"/>
                </a:lnTo>
                <a:lnTo>
                  <a:pt x="422" y="1059"/>
                </a:lnTo>
                <a:lnTo>
                  <a:pt x="420" y="1081"/>
                </a:lnTo>
                <a:lnTo>
                  <a:pt x="417" y="1103"/>
                </a:lnTo>
                <a:lnTo>
                  <a:pt x="415" y="1125"/>
                </a:lnTo>
                <a:lnTo>
                  <a:pt x="413" y="1147"/>
                </a:lnTo>
                <a:lnTo>
                  <a:pt x="412" y="1169"/>
                </a:lnTo>
                <a:lnTo>
                  <a:pt x="410" y="1191"/>
                </a:lnTo>
                <a:lnTo>
                  <a:pt x="409" y="1213"/>
                </a:lnTo>
                <a:lnTo>
                  <a:pt x="408" y="1235"/>
                </a:lnTo>
                <a:lnTo>
                  <a:pt x="406" y="1257"/>
                </a:lnTo>
                <a:lnTo>
                  <a:pt x="405" y="1279"/>
                </a:lnTo>
                <a:lnTo>
                  <a:pt x="403" y="1301"/>
                </a:lnTo>
                <a:lnTo>
                  <a:pt x="402" y="1323"/>
                </a:lnTo>
                <a:lnTo>
                  <a:pt x="400" y="1345"/>
                </a:lnTo>
                <a:lnTo>
                  <a:pt x="399" y="1367"/>
                </a:lnTo>
                <a:lnTo>
                  <a:pt x="397" y="1389"/>
                </a:lnTo>
                <a:lnTo>
                  <a:pt x="396" y="1411"/>
                </a:lnTo>
                <a:lnTo>
                  <a:pt x="395" y="1434"/>
                </a:lnTo>
                <a:lnTo>
                  <a:pt x="394" y="1456"/>
                </a:lnTo>
                <a:lnTo>
                  <a:pt x="393" y="1478"/>
                </a:lnTo>
                <a:lnTo>
                  <a:pt x="392" y="1500"/>
                </a:lnTo>
                <a:lnTo>
                  <a:pt x="391" y="1522"/>
                </a:lnTo>
                <a:lnTo>
                  <a:pt x="391" y="1544"/>
                </a:lnTo>
                <a:lnTo>
                  <a:pt x="391" y="1566"/>
                </a:lnTo>
                <a:lnTo>
                  <a:pt x="390" y="1588"/>
                </a:lnTo>
                <a:lnTo>
                  <a:pt x="391" y="1610"/>
                </a:lnTo>
                <a:lnTo>
                  <a:pt x="391" y="1632"/>
                </a:lnTo>
                <a:lnTo>
                  <a:pt x="391" y="1654"/>
                </a:lnTo>
                <a:lnTo>
                  <a:pt x="391" y="1676"/>
                </a:lnTo>
                <a:lnTo>
                  <a:pt x="392" y="1698"/>
                </a:lnTo>
                <a:lnTo>
                  <a:pt x="393" y="1720"/>
                </a:lnTo>
                <a:lnTo>
                  <a:pt x="393" y="1742"/>
                </a:lnTo>
                <a:lnTo>
                  <a:pt x="394" y="1764"/>
                </a:lnTo>
                <a:lnTo>
                  <a:pt x="395" y="1786"/>
                </a:lnTo>
                <a:lnTo>
                  <a:pt x="395" y="1808"/>
                </a:lnTo>
                <a:lnTo>
                  <a:pt x="396" y="1830"/>
                </a:lnTo>
                <a:lnTo>
                  <a:pt x="396" y="1852"/>
                </a:lnTo>
                <a:lnTo>
                  <a:pt x="396" y="1875"/>
                </a:lnTo>
                <a:lnTo>
                  <a:pt x="397" y="1897"/>
                </a:lnTo>
                <a:lnTo>
                  <a:pt x="397" y="1919"/>
                </a:lnTo>
                <a:lnTo>
                  <a:pt x="398" y="1941"/>
                </a:lnTo>
                <a:lnTo>
                  <a:pt x="398" y="1963"/>
                </a:lnTo>
                <a:lnTo>
                  <a:pt x="399" y="1985"/>
                </a:lnTo>
                <a:lnTo>
                  <a:pt x="401" y="2007"/>
                </a:lnTo>
                <a:lnTo>
                  <a:pt x="402" y="2029"/>
                </a:lnTo>
                <a:lnTo>
                  <a:pt x="404" y="2051"/>
                </a:lnTo>
                <a:lnTo>
                  <a:pt x="406" y="2073"/>
                </a:lnTo>
                <a:lnTo>
                  <a:pt x="408" y="2095"/>
                </a:lnTo>
                <a:lnTo>
                  <a:pt x="410" y="2117"/>
                </a:lnTo>
                <a:lnTo>
                  <a:pt x="412" y="2139"/>
                </a:lnTo>
                <a:lnTo>
                  <a:pt x="415" y="2161"/>
                </a:lnTo>
                <a:lnTo>
                  <a:pt x="417" y="2183"/>
                </a:lnTo>
                <a:lnTo>
                  <a:pt x="420" y="2205"/>
                </a:lnTo>
                <a:lnTo>
                  <a:pt x="422" y="2227"/>
                </a:lnTo>
                <a:lnTo>
                  <a:pt x="424" y="2249"/>
                </a:lnTo>
                <a:lnTo>
                  <a:pt x="427" y="2271"/>
                </a:lnTo>
                <a:lnTo>
                  <a:pt x="430" y="2293"/>
                </a:lnTo>
                <a:lnTo>
                  <a:pt x="433" y="2316"/>
                </a:lnTo>
                <a:lnTo>
                  <a:pt x="436" y="2338"/>
                </a:lnTo>
                <a:lnTo>
                  <a:pt x="439" y="2360"/>
                </a:lnTo>
                <a:lnTo>
                  <a:pt x="443" y="2382"/>
                </a:lnTo>
                <a:lnTo>
                  <a:pt x="446" y="2404"/>
                </a:lnTo>
                <a:lnTo>
                  <a:pt x="449" y="2426"/>
                </a:lnTo>
                <a:lnTo>
                  <a:pt x="452" y="2448"/>
                </a:lnTo>
                <a:lnTo>
                  <a:pt x="455" y="2470"/>
                </a:lnTo>
                <a:lnTo>
                  <a:pt x="458" y="2492"/>
                </a:lnTo>
                <a:lnTo>
                  <a:pt x="460" y="2514"/>
                </a:lnTo>
                <a:lnTo>
                  <a:pt x="462" y="2536"/>
                </a:lnTo>
                <a:lnTo>
                  <a:pt x="464" y="2558"/>
                </a:lnTo>
                <a:lnTo>
                  <a:pt x="464" y="2580"/>
                </a:lnTo>
                <a:lnTo>
                  <a:pt x="464" y="2602"/>
                </a:lnTo>
                <a:lnTo>
                  <a:pt x="463" y="2624"/>
                </a:lnTo>
                <a:lnTo>
                  <a:pt x="461" y="2646"/>
                </a:lnTo>
                <a:lnTo>
                  <a:pt x="458" y="2668"/>
                </a:lnTo>
                <a:lnTo>
                  <a:pt x="454" y="2690"/>
                </a:lnTo>
                <a:lnTo>
                  <a:pt x="449" y="2712"/>
                </a:lnTo>
                <a:lnTo>
                  <a:pt x="442" y="2735"/>
                </a:lnTo>
                <a:lnTo>
                  <a:pt x="434" y="2757"/>
                </a:lnTo>
                <a:lnTo>
                  <a:pt x="425" y="2779"/>
                </a:lnTo>
                <a:lnTo>
                  <a:pt x="415" y="2801"/>
                </a:lnTo>
                <a:lnTo>
                  <a:pt x="405" y="2823"/>
                </a:lnTo>
                <a:lnTo>
                  <a:pt x="393" y="2845"/>
                </a:lnTo>
                <a:lnTo>
                  <a:pt x="382" y="2867"/>
                </a:lnTo>
                <a:lnTo>
                  <a:pt x="370" y="2889"/>
                </a:lnTo>
                <a:lnTo>
                  <a:pt x="358" y="2911"/>
                </a:lnTo>
                <a:lnTo>
                  <a:pt x="347" y="2933"/>
                </a:lnTo>
                <a:lnTo>
                  <a:pt x="336" y="2955"/>
                </a:lnTo>
                <a:lnTo>
                  <a:pt x="326" y="2977"/>
                </a:lnTo>
                <a:lnTo>
                  <a:pt x="317" y="2999"/>
                </a:lnTo>
                <a:lnTo>
                  <a:pt x="308" y="3021"/>
                </a:lnTo>
                <a:lnTo>
                  <a:pt x="301" y="3043"/>
                </a:lnTo>
                <a:lnTo>
                  <a:pt x="295" y="3065"/>
                </a:lnTo>
                <a:lnTo>
                  <a:pt x="289" y="3087"/>
                </a:lnTo>
                <a:lnTo>
                  <a:pt x="285" y="3109"/>
                </a:lnTo>
                <a:lnTo>
                  <a:pt x="281" y="3131"/>
                </a:lnTo>
                <a:lnTo>
                  <a:pt x="278" y="3153"/>
                </a:lnTo>
                <a:lnTo>
                  <a:pt x="276" y="3176"/>
                </a:lnTo>
                <a:lnTo>
                  <a:pt x="274" y="3198"/>
                </a:lnTo>
                <a:lnTo>
                  <a:pt x="273" y="3220"/>
                </a:lnTo>
                <a:lnTo>
                  <a:pt x="272" y="3242"/>
                </a:lnTo>
                <a:lnTo>
                  <a:pt x="271" y="3264"/>
                </a:lnTo>
                <a:lnTo>
                  <a:pt x="271" y="3286"/>
                </a:lnTo>
                <a:close/>
              </a:path>
            </a:pathLst>
          </a:custGeom>
          <a:solidFill>
            <a:srgbClr val="D5D9DE"/>
          </a:solidFill>
          <a:ln w="9525">
            <a:solidFill>
              <a:srgbClr val="8A92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6" name="Median_background_matched"/>
          <p:cNvCxnSpPr/>
          <p:nvPr/>
        </p:nvCxnSpPr>
        <p:spPr>
          <a:xfrm>
            <a:off x="1261872" y="1519918"/>
            <a:ext cx="402336" cy="0"/>
          </a:xfrm>
          <a:prstGeom prst="line">
            <a:avLst/>
          </a:prstGeom>
          <a:ln w="17145">
            <a:solidFill>
              <a:srgbClr val="252A3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Median_background_shuffled"/>
          <p:cNvCxnSpPr/>
          <p:nvPr/>
        </p:nvCxnSpPr>
        <p:spPr>
          <a:xfrm>
            <a:off x="1975103" y="2420968"/>
            <a:ext cx="402337" cy="0"/>
          </a:xfrm>
          <a:prstGeom prst="line">
            <a:avLst/>
          </a:prstGeom>
          <a:ln w="17145">
            <a:solidFill>
              <a:srgbClr val="252A3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AnchorSummary_background"/>
          <p:cNvSpPr txBox="1"/>
          <p:nvPr/>
        </p:nvSpPr>
        <p:spPr>
          <a:xfrm>
            <a:off x="1015333" y="-612131"/>
            <a:ext cx="2351605" cy="21544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400" b="0" i="0" dirty="0">
                <a:solidFill>
                  <a:srgbClr val="596270"/>
                </a:solidFill>
                <a:latin typeface="Times New Roman"/>
              </a:rPr>
              <a:t>B med=0.69; Δ=0.46 [0.46,0.46]</a:t>
            </a:r>
          </a:p>
        </p:txBody>
      </p:sp>
      <p:sp>
        <p:nvSpPr>
          <p:cNvPr id="19" name="Violin_structural_matched"/>
          <p:cNvSpPr/>
          <p:nvPr/>
        </p:nvSpPr>
        <p:spPr>
          <a:xfrm>
            <a:off x="2798064" y="854964"/>
            <a:ext cx="493776" cy="1698955"/>
          </a:xfrm>
          <a:custGeom>
            <a:avLst/>
            <a:gdLst/>
            <a:ahLst/>
            <a:cxnLst/>
            <a:rect l="l" t="t" r="r" b="b"/>
            <a:pathLst>
              <a:path w="540" h="1858">
                <a:moveTo>
                  <a:pt x="270" y="1858"/>
                </a:moveTo>
                <a:lnTo>
                  <a:pt x="270" y="1846"/>
                </a:lnTo>
                <a:lnTo>
                  <a:pt x="270" y="1833"/>
                </a:lnTo>
                <a:lnTo>
                  <a:pt x="270" y="1821"/>
                </a:lnTo>
                <a:lnTo>
                  <a:pt x="270" y="1808"/>
                </a:lnTo>
                <a:lnTo>
                  <a:pt x="270" y="1796"/>
                </a:lnTo>
                <a:lnTo>
                  <a:pt x="270" y="1783"/>
                </a:lnTo>
                <a:lnTo>
                  <a:pt x="270" y="1771"/>
                </a:lnTo>
                <a:lnTo>
                  <a:pt x="270" y="1758"/>
                </a:lnTo>
                <a:lnTo>
                  <a:pt x="270" y="1746"/>
                </a:lnTo>
                <a:lnTo>
                  <a:pt x="270" y="1733"/>
                </a:lnTo>
                <a:lnTo>
                  <a:pt x="270" y="1721"/>
                </a:lnTo>
                <a:lnTo>
                  <a:pt x="270" y="1709"/>
                </a:lnTo>
                <a:lnTo>
                  <a:pt x="270" y="1696"/>
                </a:lnTo>
                <a:lnTo>
                  <a:pt x="270" y="1684"/>
                </a:lnTo>
                <a:lnTo>
                  <a:pt x="270" y="1671"/>
                </a:lnTo>
                <a:lnTo>
                  <a:pt x="270" y="1659"/>
                </a:lnTo>
                <a:lnTo>
                  <a:pt x="270" y="1646"/>
                </a:lnTo>
                <a:lnTo>
                  <a:pt x="270" y="1634"/>
                </a:lnTo>
                <a:lnTo>
                  <a:pt x="270" y="1621"/>
                </a:lnTo>
                <a:lnTo>
                  <a:pt x="270" y="1609"/>
                </a:lnTo>
                <a:lnTo>
                  <a:pt x="270" y="1596"/>
                </a:lnTo>
                <a:lnTo>
                  <a:pt x="270" y="1584"/>
                </a:lnTo>
                <a:lnTo>
                  <a:pt x="270" y="1571"/>
                </a:lnTo>
                <a:lnTo>
                  <a:pt x="270" y="1559"/>
                </a:lnTo>
                <a:lnTo>
                  <a:pt x="270" y="1546"/>
                </a:lnTo>
                <a:lnTo>
                  <a:pt x="270" y="1534"/>
                </a:lnTo>
                <a:lnTo>
                  <a:pt x="270" y="1521"/>
                </a:lnTo>
                <a:lnTo>
                  <a:pt x="270" y="1509"/>
                </a:lnTo>
                <a:lnTo>
                  <a:pt x="270" y="1496"/>
                </a:lnTo>
                <a:lnTo>
                  <a:pt x="270" y="1484"/>
                </a:lnTo>
                <a:lnTo>
                  <a:pt x="270" y="1472"/>
                </a:lnTo>
                <a:lnTo>
                  <a:pt x="270" y="1459"/>
                </a:lnTo>
                <a:lnTo>
                  <a:pt x="270" y="1447"/>
                </a:lnTo>
                <a:lnTo>
                  <a:pt x="270" y="1434"/>
                </a:lnTo>
                <a:lnTo>
                  <a:pt x="270" y="1422"/>
                </a:lnTo>
                <a:lnTo>
                  <a:pt x="270" y="1409"/>
                </a:lnTo>
                <a:lnTo>
                  <a:pt x="270" y="1397"/>
                </a:lnTo>
                <a:lnTo>
                  <a:pt x="269" y="1384"/>
                </a:lnTo>
                <a:lnTo>
                  <a:pt x="269" y="1372"/>
                </a:lnTo>
                <a:lnTo>
                  <a:pt x="269" y="1359"/>
                </a:lnTo>
                <a:lnTo>
                  <a:pt x="269" y="1347"/>
                </a:lnTo>
                <a:lnTo>
                  <a:pt x="269" y="1334"/>
                </a:lnTo>
                <a:lnTo>
                  <a:pt x="269" y="1322"/>
                </a:lnTo>
                <a:lnTo>
                  <a:pt x="269" y="1309"/>
                </a:lnTo>
                <a:lnTo>
                  <a:pt x="269" y="1297"/>
                </a:lnTo>
                <a:lnTo>
                  <a:pt x="269" y="1284"/>
                </a:lnTo>
                <a:lnTo>
                  <a:pt x="269" y="1272"/>
                </a:lnTo>
                <a:lnTo>
                  <a:pt x="269" y="1260"/>
                </a:lnTo>
                <a:lnTo>
                  <a:pt x="269" y="1247"/>
                </a:lnTo>
                <a:lnTo>
                  <a:pt x="269" y="1235"/>
                </a:lnTo>
                <a:lnTo>
                  <a:pt x="269" y="1222"/>
                </a:lnTo>
                <a:lnTo>
                  <a:pt x="269" y="1210"/>
                </a:lnTo>
                <a:lnTo>
                  <a:pt x="269" y="1197"/>
                </a:lnTo>
                <a:lnTo>
                  <a:pt x="269" y="1185"/>
                </a:lnTo>
                <a:lnTo>
                  <a:pt x="269" y="1172"/>
                </a:lnTo>
                <a:lnTo>
                  <a:pt x="269" y="1160"/>
                </a:lnTo>
                <a:lnTo>
                  <a:pt x="269" y="1147"/>
                </a:lnTo>
                <a:lnTo>
                  <a:pt x="269" y="1135"/>
                </a:lnTo>
                <a:lnTo>
                  <a:pt x="269" y="1122"/>
                </a:lnTo>
                <a:lnTo>
                  <a:pt x="269" y="1110"/>
                </a:lnTo>
                <a:lnTo>
                  <a:pt x="268" y="1097"/>
                </a:lnTo>
                <a:lnTo>
                  <a:pt x="268" y="1085"/>
                </a:lnTo>
                <a:lnTo>
                  <a:pt x="268" y="1072"/>
                </a:lnTo>
                <a:lnTo>
                  <a:pt x="268" y="1060"/>
                </a:lnTo>
                <a:lnTo>
                  <a:pt x="268" y="1047"/>
                </a:lnTo>
                <a:lnTo>
                  <a:pt x="268" y="1035"/>
                </a:lnTo>
                <a:lnTo>
                  <a:pt x="268" y="1023"/>
                </a:lnTo>
                <a:lnTo>
                  <a:pt x="268" y="1010"/>
                </a:lnTo>
                <a:lnTo>
                  <a:pt x="267" y="998"/>
                </a:lnTo>
                <a:lnTo>
                  <a:pt x="267" y="985"/>
                </a:lnTo>
                <a:lnTo>
                  <a:pt x="267" y="973"/>
                </a:lnTo>
                <a:lnTo>
                  <a:pt x="267" y="960"/>
                </a:lnTo>
                <a:lnTo>
                  <a:pt x="267" y="948"/>
                </a:lnTo>
                <a:lnTo>
                  <a:pt x="266" y="935"/>
                </a:lnTo>
                <a:lnTo>
                  <a:pt x="266" y="923"/>
                </a:lnTo>
                <a:lnTo>
                  <a:pt x="266" y="910"/>
                </a:lnTo>
                <a:lnTo>
                  <a:pt x="266" y="898"/>
                </a:lnTo>
                <a:lnTo>
                  <a:pt x="265" y="885"/>
                </a:lnTo>
                <a:lnTo>
                  <a:pt x="265" y="873"/>
                </a:lnTo>
                <a:lnTo>
                  <a:pt x="264" y="860"/>
                </a:lnTo>
                <a:lnTo>
                  <a:pt x="264" y="848"/>
                </a:lnTo>
                <a:lnTo>
                  <a:pt x="264" y="835"/>
                </a:lnTo>
                <a:lnTo>
                  <a:pt x="263" y="823"/>
                </a:lnTo>
                <a:lnTo>
                  <a:pt x="263" y="811"/>
                </a:lnTo>
                <a:lnTo>
                  <a:pt x="262" y="798"/>
                </a:lnTo>
                <a:lnTo>
                  <a:pt x="262" y="786"/>
                </a:lnTo>
                <a:lnTo>
                  <a:pt x="261" y="773"/>
                </a:lnTo>
                <a:lnTo>
                  <a:pt x="261" y="761"/>
                </a:lnTo>
                <a:lnTo>
                  <a:pt x="260" y="748"/>
                </a:lnTo>
                <a:lnTo>
                  <a:pt x="260" y="736"/>
                </a:lnTo>
                <a:lnTo>
                  <a:pt x="259" y="723"/>
                </a:lnTo>
                <a:lnTo>
                  <a:pt x="258" y="711"/>
                </a:lnTo>
                <a:lnTo>
                  <a:pt x="258" y="698"/>
                </a:lnTo>
                <a:lnTo>
                  <a:pt x="257" y="686"/>
                </a:lnTo>
                <a:lnTo>
                  <a:pt x="256" y="673"/>
                </a:lnTo>
                <a:lnTo>
                  <a:pt x="255" y="661"/>
                </a:lnTo>
                <a:lnTo>
                  <a:pt x="254" y="648"/>
                </a:lnTo>
                <a:lnTo>
                  <a:pt x="253" y="636"/>
                </a:lnTo>
                <a:lnTo>
                  <a:pt x="252" y="623"/>
                </a:lnTo>
                <a:lnTo>
                  <a:pt x="251" y="611"/>
                </a:lnTo>
                <a:lnTo>
                  <a:pt x="250" y="598"/>
                </a:lnTo>
                <a:lnTo>
                  <a:pt x="248" y="586"/>
                </a:lnTo>
                <a:lnTo>
                  <a:pt x="247" y="574"/>
                </a:lnTo>
                <a:lnTo>
                  <a:pt x="246" y="561"/>
                </a:lnTo>
                <a:lnTo>
                  <a:pt x="244" y="549"/>
                </a:lnTo>
                <a:lnTo>
                  <a:pt x="242" y="536"/>
                </a:lnTo>
                <a:lnTo>
                  <a:pt x="239" y="524"/>
                </a:lnTo>
                <a:lnTo>
                  <a:pt x="237" y="511"/>
                </a:lnTo>
                <a:lnTo>
                  <a:pt x="234" y="499"/>
                </a:lnTo>
                <a:lnTo>
                  <a:pt x="231" y="486"/>
                </a:lnTo>
                <a:lnTo>
                  <a:pt x="228" y="474"/>
                </a:lnTo>
                <a:lnTo>
                  <a:pt x="224" y="461"/>
                </a:lnTo>
                <a:lnTo>
                  <a:pt x="219" y="449"/>
                </a:lnTo>
                <a:lnTo>
                  <a:pt x="214" y="436"/>
                </a:lnTo>
                <a:lnTo>
                  <a:pt x="208" y="424"/>
                </a:lnTo>
                <a:lnTo>
                  <a:pt x="201" y="411"/>
                </a:lnTo>
                <a:lnTo>
                  <a:pt x="193" y="399"/>
                </a:lnTo>
                <a:lnTo>
                  <a:pt x="185" y="386"/>
                </a:lnTo>
                <a:lnTo>
                  <a:pt x="176" y="374"/>
                </a:lnTo>
                <a:lnTo>
                  <a:pt x="167" y="361"/>
                </a:lnTo>
                <a:lnTo>
                  <a:pt x="156" y="349"/>
                </a:lnTo>
                <a:lnTo>
                  <a:pt x="143" y="337"/>
                </a:lnTo>
                <a:lnTo>
                  <a:pt x="131" y="324"/>
                </a:lnTo>
                <a:lnTo>
                  <a:pt x="118" y="312"/>
                </a:lnTo>
                <a:lnTo>
                  <a:pt x="104" y="299"/>
                </a:lnTo>
                <a:lnTo>
                  <a:pt x="91" y="287"/>
                </a:lnTo>
                <a:lnTo>
                  <a:pt x="77" y="274"/>
                </a:lnTo>
                <a:lnTo>
                  <a:pt x="60" y="262"/>
                </a:lnTo>
                <a:lnTo>
                  <a:pt x="40" y="249"/>
                </a:lnTo>
                <a:lnTo>
                  <a:pt x="18" y="237"/>
                </a:lnTo>
                <a:lnTo>
                  <a:pt x="2" y="224"/>
                </a:lnTo>
                <a:lnTo>
                  <a:pt x="0" y="212"/>
                </a:lnTo>
                <a:lnTo>
                  <a:pt x="18" y="199"/>
                </a:lnTo>
                <a:lnTo>
                  <a:pt x="52" y="187"/>
                </a:lnTo>
                <a:lnTo>
                  <a:pt x="92" y="174"/>
                </a:lnTo>
                <a:lnTo>
                  <a:pt x="127" y="162"/>
                </a:lnTo>
                <a:lnTo>
                  <a:pt x="151" y="149"/>
                </a:lnTo>
                <a:lnTo>
                  <a:pt x="169" y="137"/>
                </a:lnTo>
                <a:lnTo>
                  <a:pt x="185" y="125"/>
                </a:lnTo>
                <a:lnTo>
                  <a:pt x="203" y="112"/>
                </a:lnTo>
                <a:lnTo>
                  <a:pt x="223" y="100"/>
                </a:lnTo>
                <a:lnTo>
                  <a:pt x="240" y="87"/>
                </a:lnTo>
                <a:lnTo>
                  <a:pt x="253" y="75"/>
                </a:lnTo>
                <a:lnTo>
                  <a:pt x="261" y="62"/>
                </a:lnTo>
                <a:lnTo>
                  <a:pt x="266" y="50"/>
                </a:lnTo>
                <a:lnTo>
                  <a:pt x="269" y="37"/>
                </a:lnTo>
                <a:lnTo>
                  <a:pt x="270" y="25"/>
                </a:lnTo>
                <a:lnTo>
                  <a:pt x="270" y="12"/>
                </a:lnTo>
                <a:lnTo>
                  <a:pt x="270" y="0"/>
                </a:lnTo>
                <a:lnTo>
                  <a:pt x="270" y="0"/>
                </a:lnTo>
                <a:lnTo>
                  <a:pt x="270" y="12"/>
                </a:lnTo>
                <a:lnTo>
                  <a:pt x="270" y="25"/>
                </a:lnTo>
                <a:lnTo>
                  <a:pt x="271" y="37"/>
                </a:lnTo>
                <a:lnTo>
                  <a:pt x="274" y="50"/>
                </a:lnTo>
                <a:lnTo>
                  <a:pt x="279" y="62"/>
                </a:lnTo>
                <a:lnTo>
                  <a:pt x="287" y="75"/>
                </a:lnTo>
                <a:lnTo>
                  <a:pt x="300" y="87"/>
                </a:lnTo>
                <a:lnTo>
                  <a:pt x="317" y="100"/>
                </a:lnTo>
                <a:lnTo>
                  <a:pt x="337" y="112"/>
                </a:lnTo>
                <a:lnTo>
                  <a:pt x="355" y="125"/>
                </a:lnTo>
                <a:lnTo>
                  <a:pt x="371" y="137"/>
                </a:lnTo>
                <a:lnTo>
                  <a:pt x="389" y="149"/>
                </a:lnTo>
                <a:lnTo>
                  <a:pt x="413" y="162"/>
                </a:lnTo>
                <a:lnTo>
                  <a:pt x="448" y="174"/>
                </a:lnTo>
                <a:lnTo>
                  <a:pt x="488" y="187"/>
                </a:lnTo>
                <a:lnTo>
                  <a:pt x="522" y="199"/>
                </a:lnTo>
                <a:lnTo>
                  <a:pt x="540" y="212"/>
                </a:lnTo>
                <a:lnTo>
                  <a:pt x="538" y="224"/>
                </a:lnTo>
                <a:lnTo>
                  <a:pt x="522" y="237"/>
                </a:lnTo>
                <a:lnTo>
                  <a:pt x="500" y="249"/>
                </a:lnTo>
                <a:lnTo>
                  <a:pt x="480" y="262"/>
                </a:lnTo>
                <a:lnTo>
                  <a:pt x="463" y="274"/>
                </a:lnTo>
                <a:lnTo>
                  <a:pt x="449" y="287"/>
                </a:lnTo>
                <a:lnTo>
                  <a:pt x="436" y="299"/>
                </a:lnTo>
                <a:lnTo>
                  <a:pt x="422" y="312"/>
                </a:lnTo>
                <a:lnTo>
                  <a:pt x="409" y="324"/>
                </a:lnTo>
                <a:lnTo>
                  <a:pt x="397" y="337"/>
                </a:lnTo>
                <a:lnTo>
                  <a:pt x="384" y="349"/>
                </a:lnTo>
                <a:lnTo>
                  <a:pt x="373" y="361"/>
                </a:lnTo>
                <a:lnTo>
                  <a:pt x="364" y="374"/>
                </a:lnTo>
                <a:lnTo>
                  <a:pt x="355" y="386"/>
                </a:lnTo>
                <a:lnTo>
                  <a:pt x="347" y="399"/>
                </a:lnTo>
                <a:lnTo>
                  <a:pt x="339" y="411"/>
                </a:lnTo>
                <a:lnTo>
                  <a:pt x="332" y="424"/>
                </a:lnTo>
                <a:lnTo>
                  <a:pt x="326" y="436"/>
                </a:lnTo>
                <a:lnTo>
                  <a:pt x="321" y="449"/>
                </a:lnTo>
                <a:lnTo>
                  <a:pt x="316" y="461"/>
                </a:lnTo>
                <a:lnTo>
                  <a:pt x="312" y="474"/>
                </a:lnTo>
                <a:lnTo>
                  <a:pt x="309" y="486"/>
                </a:lnTo>
                <a:lnTo>
                  <a:pt x="306" y="499"/>
                </a:lnTo>
                <a:lnTo>
                  <a:pt x="303" y="511"/>
                </a:lnTo>
                <a:lnTo>
                  <a:pt x="301" y="524"/>
                </a:lnTo>
                <a:lnTo>
                  <a:pt x="298" y="536"/>
                </a:lnTo>
                <a:lnTo>
                  <a:pt x="296" y="549"/>
                </a:lnTo>
                <a:lnTo>
                  <a:pt x="294" y="561"/>
                </a:lnTo>
                <a:lnTo>
                  <a:pt x="293" y="574"/>
                </a:lnTo>
                <a:lnTo>
                  <a:pt x="292" y="586"/>
                </a:lnTo>
                <a:lnTo>
                  <a:pt x="290" y="598"/>
                </a:lnTo>
                <a:lnTo>
                  <a:pt x="289" y="611"/>
                </a:lnTo>
                <a:lnTo>
                  <a:pt x="288" y="623"/>
                </a:lnTo>
                <a:lnTo>
                  <a:pt x="287" y="636"/>
                </a:lnTo>
                <a:lnTo>
                  <a:pt x="286" y="648"/>
                </a:lnTo>
                <a:lnTo>
                  <a:pt x="285" y="661"/>
                </a:lnTo>
                <a:lnTo>
                  <a:pt x="284" y="673"/>
                </a:lnTo>
                <a:lnTo>
                  <a:pt x="283" y="686"/>
                </a:lnTo>
                <a:lnTo>
                  <a:pt x="282" y="698"/>
                </a:lnTo>
                <a:lnTo>
                  <a:pt x="282" y="711"/>
                </a:lnTo>
                <a:lnTo>
                  <a:pt x="281" y="723"/>
                </a:lnTo>
                <a:lnTo>
                  <a:pt x="280" y="736"/>
                </a:lnTo>
                <a:lnTo>
                  <a:pt x="280" y="748"/>
                </a:lnTo>
                <a:lnTo>
                  <a:pt x="279" y="761"/>
                </a:lnTo>
                <a:lnTo>
                  <a:pt x="279" y="773"/>
                </a:lnTo>
                <a:lnTo>
                  <a:pt x="278" y="786"/>
                </a:lnTo>
                <a:lnTo>
                  <a:pt x="278" y="798"/>
                </a:lnTo>
                <a:lnTo>
                  <a:pt x="277" y="811"/>
                </a:lnTo>
                <a:lnTo>
                  <a:pt x="277" y="823"/>
                </a:lnTo>
                <a:lnTo>
                  <a:pt x="276" y="835"/>
                </a:lnTo>
                <a:lnTo>
                  <a:pt x="276" y="848"/>
                </a:lnTo>
                <a:lnTo>
                  <a:pt x="276" y="860"/>
                </a:lnTo>
                <a:lnTo>
                  <a:pt x="275" y="873"/>
                </a:lnTo>
                <a:lnTo>
                  <a:pt x="275" y="885"/>
                </a:lnTo>
                <a:lnTo>
                  <a:pt x="274" y="898"/>
                </a:lnTo>
                <a:lnTo>
                  <a:pt x="274" y="910"/>
                </a:lnTo>
                <a:lnTo>
                  <a:pt x="274" y="923"/>
                </a:lnTo>
                <a:lnTo>
                  <a:pt x="274" y="935"/>
                </a:lnTo>
                <a:lnTo>
                  <a:pt x="273" y="948"/>
                </a:lnTo>
                <a:lnTo>
                  <a:pt x="273" y="960"/>
                </a:lnTo>
                <a:lnTo>
                  <a:pt x="273" y="973"/>
                </a:lnTo>
                <a:lnTo>
                  <a:pt x="273" y="985"/>
                </a:lnTo>
                <a:lnTo>
                  <a:pt x="273" y="998"/>
                </a:lnTo>
                <a:lnTo>
                  <a:pt x="272" y="1010"/>
                </a:lnTo>
                <a:lnTo>
                  <a:pt x="272" y="1023"/>
                </a:lnTo>
                <a:lnTo>
                  <a:pt x="272" y="1035"/>
                </a:lnTo>
                <a:lnTo>
                  <a:pt x="272" y="1047"/>
                </a:lnTo>
                <a:lnTo>
                  <a:pt x="272" y="1060"/>
                </a:lnTo>
                <a:lnTo>
                  <a:pt x="272" y="1072"/>
                </a:lnTo>
                <a:lnTo>
                  <a:pt x="272" y="1085"/>
                </a:lnTo>
                <a:lnTo>
                  <a:pt x="272" y="1097"/>
                </a:lnTo>
                <a:lnTo>
                  <a:pt x="271" y="1110"/>
                </a:lnTo>
                <a:lnTo>
                  <a:pt x="271" y="1122"/>
                </a:lnTo>
                <a:lnTo>
                  <a:pt x="271" y="1135"/>
                </a:lnTo>
                <a:lnTo>
                  <a:pt x="271" y="1147"/>
                </a:lnTo>
                <a:lnTo>
                  <a:pt x="271" y="1160"/>
                </a:lnTo>
                <a:lnTo>
                  <a:pt x="271" y="1172"/>
                </a:lnTo>
                <a:lnTo>
                  <a:pt x="271" y="1185"/>
                </a:lnTo>
                <a:lnTo>
                  <a:pt x="271" y="1197"/>
                </a:lnTo>
                <a:lnTo>
                  <a:pt x="271" y="1210"/>
                </a:lnTo>
                <a:lnTo>
                  <a:pt x="271" y="1222"/>
                </a:lnTo>
                <a:lnTo>
                  <a:pt x="271" y="1235"/>
                </a:lnTo>
                <a:lnTo>
                  <a:pt x="271" y="1247"/>
                </a:lnTo>
                <a:lnTo>
                  <a:pt x="271" y="1260"/>
                </a:lnTo>
                <a:lnTo>
                  <a:pt x="271" y="1272"/>
                </a:lnTo>
                <a:lnTo>
                  <a:pt x="271" y="1284"/>
                </a:lnTo>
                <a:lnTo>
                  <a:pt x="271" y="1297"/>
                </a:lnTo>
                <a:lnTo>
                  <a:pt x="271" y="1309"/>
                </a:lnTo>
                <a:lnTo>
                  <a:pt x="271" y="1322"/>
                </a:lnTo>
                <a:lnTo>
                  <a:pt x="271" y="1334"/>
                </a:lnTo>
                <a:lnTo>
                  <a:pt x="271" y="1347"/>
                </a:lnTo>
                <a:lnTo>
                  <a:pt x="271" y="1359"/>
                </a:lnTo>
                <a:lnTo>
                  <a:pt x="271" y="1372"/>
                </a:lnTo>
                <a:lnTo>
                  <a:pt x="271" y="1384"/>
                </a:lnTo>
                <a:lnTo>
                  <a:pt x="270" y="1397"/>
                </a:lnTo>
                <a:lnTo>
                  <a:pt x="270" y="1409"/>
                </a:lnTo>
                <a:lnTo>
                  <a:pt x="270" y="1422"/>
                </a:lnTo>
                <a:lnTo>
                  <a:pt x="270" y="1434"/>
                </a:lnTo>
                <a:lnTo>
                  <a:pt x="270" y="1447"/>
                </a:lnTo>
                <a:lnTo>
                  <a:pt x="270" y="1459"/>
                </a:lnTo>
                <a:lnTo>
                  <a:pt x="270" y="1472"/>
                </a:lnTo>
                <a:lnTo>
                  <a:pt x="270" y="1484"/>
                </a:lnTo>
                <a:lnTo>
                  <a:pt x="270" y="1496"/>
                </a:lnTo>
                <a:lnTo>
                  <a:pt x="270" y="1509"/>
                </a:lnTo>
                <a:lnTo>
                  <a:pt x="270" y="1521"/>
                </a:lnTo>
                <a:lnTo>
                  <a:pt x="270" y="1534"/>
                </a:lnTo>
                <a:lnTo>
                  <a:pt x="270" y="1546"/>
                </a:lnTo>
                <a:lnTo>
                  <a:pt x="270" y="1559"/>
                </a:lnTo>
                <a:lnTo>
                  <a:pt x="270" y="1571"/>
                </a:lnTo>
                <a:lnTo>
                  <a:pt x="270" y="1584"/>
                </a:lnTo>
                <a:lnTo>
                  <a:pt x="270" y="1596"/>
                </a:lnTo>
                <a:lnTo>
                  <a:pt x="270" y="1609"/>
                </a:lnTo>
                <a:lnTo>
                  <a:pt x="270" y="1621"/>
                </a:lnTo>
                <a:lnTo>
                  <a:pt x="270" y="1634"/>
                </a:lnTo>
                <a:lnTo>
                  <a:pt x="270" y="1646"/>
                </a:lnTo>
                <a:lnTo>
                  <a:pt x="270" y="1659"/>
                </a:lnTo>
                <a:lnTo>
                  <a:pt x="270" y="1671"/>
                </a:lnTo>
                <a:lnTo>
                  <a:pt x="270" y="1684"/>
                </a:lnTo>
                <a:lnTo>
                  <a:pt x="270" y="1696"/>
                </a:lnTo>
                <a:lnTo>
                  <a:pt x="270" y="1709"/>
                </a:lnTo>
                <a:lnTo>
                  <a:pt x="270" y="1721"/>
                </a:lnTo>
                <a:lnTo>
                  <a:pt x="270" y="1733"/>
                </a:lnTo>
                <a:lnTo>
                  <a:pt x="270" y="1746"/>
                </a:lnTo>
                <a:lnTo>
                  <a:pt x="270" y="1758"/>
                </a:lnTo>
                <a:lnTo>
                  <a:pt x="270" y="1771"/>
                </a:lnTo>
                <a:lnTo>
                  <a:pt x="270" y="1783"/>
                </a:lnTo>
                <a:lnTo>
                  <a:pt x="270" y="1796"/>
                </a:lnTo>
                <a:lnTo>
                  <a:pt x="270" y="1808"/>
                </a:lnTo>
                <a:lnTo>
                  <a:pt x="270" y="1821"/>
                </a:lnTo>
                <a:lnTo>
                  <a:pt x="270" y="1833"/>
                </a:lnTo>
                <a:lnTo>
                  <a:pt x="270" y="1846"/>
                </a:lnTo>
                <a:lnTo>
                  <a:pt x="270" y="1858"/>
                </a:lnTo>
                <a:close/>
              </a:path>
            </a:pathLst>
          </a:custGeom>
          <a:solidFill>
            <a:srgbClr val="DCE8F8"/>
          </a:solidFill>
          <a:ln w="9525">
            <a:solidFill>
              <a:srgbClr val="1E63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Violin_structural_shuffled"/>
          <p:cNvSpPr/>
          <p:nvPr/>
        </p:nvSpPr>
        <p:spPr>
          <a:xfrm>
            <a:off x="3511296" y="857707"/>
            <a:ext cx="493776" cy="3295498"/>
          </a:xfrm>
          <a:custGeom>
            <a:avLst/>
            <a:gdLst/>
            <a:ahLst/>
            <a:cxnLst/>
            <a:rect l="l" t="t" r="r" b="b"/>
            <a:pathLst>
              <a:path w="540" h="3604">
                <a:moveTo>
                  <a:pt x="269" y="3604"/>
                </a:moveTo>
                <a:lnTo>
                  <a:pt x="268" y="3579"/>
                </a:lnTo>
                <a:lnTo>
                  <a:pt x="268" y="3555"/>
                </a:lnTo>
                <a:lnTo>
                  <a:pt x="267" y="3531"/>
                </a:lnTo>
                <a:lnTo>
                  <a:pt x="266" y="3507"/>
                </a:lnTo>
                <a:lnTo>
                  <a:pt x="265" y="3483"/>
                </a:lnTo>
                <a:lnTo>
                  <a:pt x="263" y="3459"/>
                </a:lnTo>
                <a:lnTo>
                  <a:pt x="262" y="3434"/>
                </a:lnTo>
                <a:lnTo>
                  <a:pt x="260" y="3410"/>
                </a:lnTo>
                <a:lnTo>
                  <a:pt x="259" y="3386"/>
                </a:lnTo>
                <a:lnTo>
                  <a:pt x="257" y="3362"/>
                </a:lnTo>
                <a:lnTo>
                  <a:pt x="255" y="3338"/>
                </a:lnTo>
                <a:lnTo>
                  <a:pt x="253" y="3313"/>
                </a:lnTo>
                <a:lnTo>
                  <a:pt x="251" y="3289"/>
                </a:lnTo>
                <a:lnTo>
                  <a:pt x="249" y="3265"/>
                </a:lnTo>
                <a:lnTo>
                  <a:pt x="247" y="3241"/>
                </a:lnTo>
                <a:lnTo>
                  <a:pt x="244" y="3217"/>
                </a:lnTo>
                <a:lnTo>
                  <a:pt x="242" y="3193"/>
                </a:lnTo>
                <a:lnTo>
                  <a:pt x="240" y="3168"/>
                </a:lnTo>
                <a:lnTo>
                  <a:pt x="238" y="3144"/>
                </a:lnTo>
                <a:lnTo>
                  <a:pt x="236" y="3120"/>
                </a:lnTo>
                <a:lnTo>
                  <a:pt x="234" y="3096"/>
                </a:lnTo>
                <a:lnTo>
                  <a:pt x="232" y="3072"/>
                </a:lnTo>
                <a:lnTo>
                  <a:pt x="231" y="3047"/>
                </a:lnTo>
                <a:lnTo>
                  <a:pt x="230" y="3023"/>
                </a:lnTo>
                <a:lnTo>
                  <a:pt x="229" y="2999"/>
                </a:lnTo>
                <a:lnTo>
                  <a:pt x="228" y="2975"/>
                </a:lnTo>
                <a:lnTo>
                  <a:pt x="228" y="2951"/>
                </a:lnTo>
                <a:lnTo>
                  <a:pt x="227" y="2926"/>
                </a:lnTo>
                <a:lnTo>
                  <a:pt x="227" y="2902"/>
                </a:lnTo>
                <a:lnTo>
                  <a:pt x="227" y="2878"/>
                </a:lnTo>
                <a:lnTo>
                  <a:pt x="227" y="2854"/>
                </a:lnTo>
                <a:lnTo>
                  <a:pt x="227" y="2830"/>
                </a:lnTo>
                <a:lnTo>
                  <a:pt x="227" y="2806"/>
                </a:lnTo>
                <a:lnTo>
                  <a:pt x="227" y="2781"/>
                </a:lnTo>
                <a:lnTo>
                  <a:pt x="227" y="2757"/>
                </a:lnTo>
                <a:lnTo>
                  <a:pt x="227" y="2733"/>
                </a:lnTo>
                <a:lnTo>
                  <a:pt x="227" y="2709"/>
                </a:lnTo>
                <a:lnTo>
                  <a:pt x="227" y="2685"/>
                </a:lnTo>
                <a:lnTo>
                  <a:pt x="227" y="2660"/>
                </a:lnTo>
                <a:lnTo>
                  <a:pt x="226" y="2636"/>
                </a:lnTo>
                <a:lnTo>
                  <a:pt x="226" y="2612"/>
                </a:lnTo>
                <a:lnTo>
                  <a:pt x="225" y="2588"/>
                </a:lnTo>
                <a:lnTo>
                  <a:pt x="225" y="2564"/>
                </a:lnTo>
                <a:lnTo>
                  <a:pt x="224" y="2540"/>
                </a:lnTo>
                <a:lnTo>
                  <a:pt x="223" y="2515"/>
                </a:lnTo>
                <a:lnTo>
                  <a:pt x="222" y="2491"/>
                </a:lnTo>
                <a:lnTo>
                  <a:pt x="221" y="2467"/>
                </a:lnTo>
                <a:lnTo>
                  <a:pt x="220" y="2443"/>
                </a:lnTo>
                <a:lnTo>
                  <a:pt x="219" y="2419"/>
                </a:lnTo>
                <a:lnTo>
                  <a:pt x="218" y="2394"/>
                </a:lnTo>
                <a:lnTo>
                  <a:pt x="217" y="2370"/>
                </a:lnTo>
                <a:lnTo>
                  <a:pt x="216" y="2346"/>
                </a:lnTo>
                <a:lnTo>
                  <a:pt x="215" y="2322"/>
                </a:lnTo>
                <a:lnTo>
                  <a:pt x="214" y="2298"/>
                </a:lnTo>
                <a:lnTo>
                  <a:pt x="213" y="2273"/>
                </a:lnTo>
                <a:lnTo>
                  <a:pt x="213" y="2249"/>
                </a:lnTo>
                <a:lnTo>
                  <a:pt x="212" y="2225"/>
                </a:lnTo>
                <a:lnTo>
                  <a:pt x="211" y="2201"/>
                </a:lnTo>
                <a:lnTo>
                  <a:pt x="210" y="2177"/>
                </a:lnTo>
                <a:lnTo>
                  <a:pt x="210" y="2153"/>
                </a:lnTo>
                <a:lnTo>
                  <a:pt x="209" y="2128"/>
                </a:lnTo>
                <a:lnTo>
                  <a:pt x="208" y="2104"/>
                </a:lnTo>
                <a:lnTo>
                  <a:pt x="208" y="2080"/>
                </a:lnTo>
                <a:lnTo>
                  <a:pt x="207" y="2056"/>
                </a:lnTo>
                <a:lnTo>
                  <a:pt x="207" y="2032"/>
                </a:lnTo>
                <a:lnTo>
                  <a:pt x="207" y="2007"/>
                </a:lnTo>
                <a:lnTo>
                  <a:pt x="206" y="1983"/>
                </a:lnTo>
                <a:lnTo>
                  <a:pt x="206" y="1959"/>
                </a:lnTo>
                <a:lnTo>
                  <a:pt x="206" y="1935"/>
                </a:lnTo>
                <a:lnTo>
                  <a:pt x="206" y="1911"/>
                </a:lnTo>
                <a:lnTo>
                  <a:pt x="206" y="1887"/>
                </a:lnTo>
                <a:lnTo>
                  <a:pt x="206" y="1862"/>
                </a:lnTo>
                <a:lnTo>
                  <a:pt x="205" y="1838"/>
                </a:lnTo>
                <a:lnTo>
                  <a:pt x="205" y="1814"/>
                </a:lnTo>
                <a:lnTo>
                  <a:pt x="205" y="1790"/>
                </a:lnTo>
                <a:lnTo>
                  <a:pt x="204" y="1766"/>
                </a:lnTo>
                <a:lnTo>
                  <a:pt x="203" y="1741"/>
                </a:lnTo>
                <a:lnTo>
                  <a:pt x="202" y="1717"/>
                </a:lnTo>
                <a:lnTo>
                  <a:pt x="202" y="1693"/>
                </a:lnTo>
                <a:lnTo>
                  <a:pt x="201" y="1669"/>
                </a:lnTo>
                <a:lnTo>
                  <a:pt x="200" y="1645"/>
                </a:lnTo>
                <a:lnTo>
                  <a:pt x="199" y="1620"/>
                </a:lnTo>
                <a:lnTo>
                  <a:pt x="198" y="1596"/>
                </a:lnTo>
                <a:lnTo>
                  <a:pt x="198" y="1572"/>
                </a:lnTo>
                <a:lnTo>
                  <a:pt x="197" y="1548"/>
                </a:lnTo>
                <a:lnTo>
                  <a:pt x="196" y="1524"/>
                </a:lnTo>
                <a:lnTo>
                  <a:pt x="195" y="1500"/>
                </a:lnTo>
                <a:lnTo>
                  <a:pt x="194" y="1475"/>
                </a:lnTo>
                <a:lnTo>
                  <a:pt x="194" y="1451"/>
                </a:lnTo>
                <a:lnTo>
                  <a:pt x="193" y="1427"/>
                </a:lnTo>
                <a:lnTo>
                  <a:pt x="192" y="1403"/>
                </a:lnTo>
                <a:lnTo>
                  <a:pt x="191" y="1379"/>
                </a:lnTo>
                <a:lnTo>
                  <a:pt x="189" y="1354"/>
                </a:lnTo>
                <a:lnTo>
                  <a:pt x="188" y="1330"/>
                </a:lnTo>
                <a:lnTo>
                  <a:pt x="187" y="1306"/>
                </a:lnTo>
                <a:lnTo>
                  <a:pt x="186" y="1282"/>
                </a:lnTo>
                <a:lnTo>
                  <a:pt x="184" y="1258"/>
                </a:lnTo>
                <a:lnTo>
                  <a:pt x="183" y="1234"/>
                </a:lnTo>
                <a:lnTo>
                  <a:pt x="181" y="1209"/>
                </a:lnTo>
                <a:lnTo>
                  <a:pt x="180" y="1185"/>
                </a:lnTo>
                <a:lnTo>
                  <a:pt x="179" y="1161"/>
                </a:lnTo>
                <a:lnTo>
                  <a:pt x="177" y="1137"/>
                </a:lnTo>
                <a:lnTo>
                  <a:pt x="175" y="1113"/>
                </a:lnTo>
                <a:lnTo>
                  <a:pt x="174" y="1088"/>
                </a:lnTo>
                <a:lnTo>
                  <a:pt x="172" y="1064"/>
                </a:lnTo>
                <a:lnTo>
                  <a:pt x="169" y="1040"/>
                </a:lnTo>
                <a:lnTo>
                  <a:pt x="167" y="1016"/>
                </a:lnTo>
                <a:lnTo>
                  <a:pt x="165" y="992"/>
                </a:lnTo>
                <a:lnTo>
                  <a:pt x="162" y="967"/>
                </a:lnTo>
                <a:lnTo>
                  <a:pt x="159" y="943"/>
                </a:lnTo>
                <a:lnTo>
                  <a:pt x="156" y="919"/>
                </a:lnTo>
                <a:lnTo>
                  <a:pt x="152" y="895"/>
                </a:lnTo>
                <a:lnTo>
                  <a:pt x="149" y="871"/>
                </a:lnTo>
                <a:lnTo>
                  <a:pt x="145" y="847"/>
                </a:lnTo>
                <a:lnTo>
                  <a:pt x="141" y="822"/>
                </a:lnTo>
                <a:lnTo>
                  <a:pt x="137" y="798"/>
                </a:lnTo>
                <a:lnTo>
                  <a:pt x="132" y="774"/>
                </a:lnTo>
                <a:lnTo>
                  <a:pt x="128" y="750"/>
                </a:lnTo>
                <a:lnTo>
                  <a:pt x="123" y="726"/>
                </a:lnTo>
                <a:lnTo>
                  <a:pt x="118" y="701"/>
                </a:lnTo>
                <a:lnTo>
                  <a:pt x="112" y="677"/>
                </a:lnTo>
                <a:lnTo>
                  <a:pt x="106" y="653"/>
                </a:lnTo>
                <a:lnTo>
                  <a:pt x="100" y="629"/>
                </a:lnTo>
                <a:lnTo>
                  <a:pt x="93" y="605"/>
                </a:lnTo>
                <a:lnTo>
                  <a:pt x="85" y="580"/>
                </a:lnTo>
                <a:lnTo>
                  <a:pt x="77" y="556"/>
                </a:lnTo>
                <a:lnTo>
                  <a:pt x="68" y="532"/>
                </a:lnTo>
                <a:lnTo>
                  <a:pt x="59" y="508"/>
                </a:lnTo>
                <a:lnTo>
                  <a:pt x="49" y="484"/>
                </a:lnTo>
                <a:lnTo>
                  <a:pt x="39" y="460"/>
                </a:lnTo>
                <a:lnTo>
                  <a:pt x="29" y="435"/>
                </a:lnTo>
                <a:lnTo>
                  <a:pt x="20" y="411"/>
                </a:lnTo>
                <a:lnTo>
                  <a:pt x="12" y="387"/>
                </a:lnTo>
                <a:lnTo>
                  <a:pt x="5" y="363"/>
                </a:lnTo>
                <a:lnTo>
                  <a:pt x="1" y="339"/>
                </a:lnTo>
                <a:lnTo>
                  <a:pt x="0" y="314"/>
                </a:lnTo>
                <a:lnTo>
                  <a:pt x="3" y="290"/>
                </a:lnTo>
                <a:lnTo>
                  <a:pt x="11" y="266"/>
                </a:lnTo>
                <a:lnTo>
                  <a:pt x="24" y="242"/>
                </a:lnTo>
                <a:lnTo>
                  <a:pt x="41" y="218"/>
                </a:lnTo>
                <a:lnTo>
                  <a:pt x="62" y="194"/>
                </a:lnTo>
                <a:lnTo>
                  <a:pt x="87" y="169"/>
                </a:lnTo>
                <a:lnTo>
                  <a:pt x="113" y="145"/>
                </a:lnTo>
                <a:lnTo>
                  <a:pt x="139" y="121"/>
                </a:lnTo>
                <a:lnTo>
                  <a:pt x="165" y="97"/>
                </a:lnTo>
                <a:lnTo>
                  <a:pt x="188" y="73"/>
                </a:lnTo>
                <a:lnTo>
                  <a:pt x="208" y="48"/>
                </a:lnTo>
                <a:lnTo>
                  <a:pt x="225" y="24"/>
                </a:lnTo>
                <a:lnTo>
                  <a:pt x="238" y="0"/>
                </a:lnTo>
                <a:lnTo>
                  <a:pt x="302" y="0"/>
                </a:lnTo>
                <a:lnTo>
                  <a:pt x="315" y="24"/>
                </a:lnTo>
                <a:lnTo>
                  <a:pt x="332" y="48"/>
                </a:lnTo>
                <a:lnTo>
                  <a:pt x="352" y="73"/>
                </a:lnTo>
                <a:lnTo>
                  <a:pt x="375" y="97"/>
                </a:lnTo>
                <a:lnTo>
                  <a:pt x="401" y="121"/>
                </a:lnTo>
                <a:lnTo>
                  <a:pt x="427" y="145"/>
                </a:lnTo>
                <a:lnTo>
                  <a:pt x="453" y="169"/>
                </a:lnTo>
                <a:lnTo>
                  <a:pt x="478" y="194"/>
                </a:lnTo>
                <a:lnTo>
                  <a:pt x="499" y="218"/>
                </a:lnTo>
                <a:lnTo>
                  <a:pt x="516" y="242"/>
                </a:lnTo>
                <a:lnTo>
                  <a:pt x="529" y="266"/>
                </a:lnTo>
                <a:lnTo>
                  <a:pt x="537" y="290"/>
                </a:lnTo>
                <a:lnTo>
                  <a:pt x="540" y="314"/>
                </a:lnTo>
                <a:lnTo>
                  <a:pt x="539" y="339"/>
                </a:lnTo>
                <a:lnTo>
                  <a:pt x="535" y="363"/>
                </a:lnTo>
                <a:lnTo>
                  <a:pt x="528" y="387"/>
                </a:lnTo>
                <a:lnTo>
                  <a:pt x="520" y="411"/>
                </a:lnTo>
                <a:lnTo>
                  <a:pt x="511" y="435"/>
                </a:lnTo>
                <a:lnTo>
                  <a:pt x="501" y="460"/>
                </a:lnTo>
                <a:lnTo>
                  <a:pt x="491" y="484"/>
                </a:lnTo>
                <a:lnTo>
                  <a:pt x="481" y="508"/>
                </a:lnTo>
                <a:lnTo>
                  <a:pt x="472" y="532"/>
                </a:lnTo>
                <a:lnTo>
                  <a:pt x="463" y="556"/>
                </a:lnTo>
                <a:lnTo>
                  <a:pt x="455" y="580"/>
                </a:lnTo>
                <a:lnTo>
                  <a:pt x="447" y="605"/>
                </a:lnTo>
                <a:lnTo>
                  <a:pt x="440" y="629"/>
                </a:lnTo>
                <a:lnTo>
                  <a:pt x="434" y="653"/>
                </a:lnTo>
                <a:lnTo>
                  <a:pt x="428" y="677"/>
                </a:lnTo>
                <a:lnTo>
                  <a:pt x="422" y="701"/>
                </a:lnTo>
                <a:lnTo>
                  <a:pt x="417" y="726"/>
                </a:lnTo>
                <a:lnTo>
                  <a:pt x="412" y="750"/>
                </a:lnTo>
                <a:lnTo>
                  <a:pt x="408" y="774"/>
                </a:lnTo>
                <a:lnTo>
                  <a:pt x="403" y="798"/>
                </a:lnTo>
                <a:lnTo>
                  <a:pt x="399" y="822"/>
                </a:lnTo>
                <a:lnTo>
                  <a:pt x="395" y="847"/>
                </a:lnTo>
                <a:lnTo>
                  <a:pt x="391" y="871"/>
                </a:lnTo>
                <a:lnTo>
                  <a:pt x="388" y="895"/>
                </a:lnTo>
                <a:lnTo>
                  <a:pt x="384" y="919"/>
                </a:lnTo>
                <a:lnTo>
                  <a:pt x="381" y="943"/>
                </a:lnTo>
                <a:lnTo>
                  <a:pt x="378" y="967"/>
                </a:lnTo>
                <a:lnTo>
                  <a:pt x="375" y="992"/>
                </a:lnTo>
                <a:lnTo>
                  <a:pt x="373" y="1016"/>
                </a:lnTo>
                <a:lnTo>
                  <a:pt x="371" y="1040"/>
                </a:lnTo>
                <a:lnTo>
                  <a:pt x="368" y="1064"/>
                </a:lnTo>
                <a:lnTo>
                  <a:pt x="366" y="1088"/>
                </a:lnTo>
                <a:lnTo>
                  <a:pt x="365" y="1113"/>
                </a:lnTo>
                <a:lnTo>
                  <a:pt x="363" y="1137"/>
                </a:lnTo>
                <a:lnTo>
                  <a:pt x="361" y="1161"/>
                </a:lnTo>
                <a:lnTo>
                  <a:pt x="360" y="1185"/>
                </a:lnTo>
                <a:lnTo>
                  <a:pt x="359" y="1209"/>
                </a:lnTo>
                <a:lnTo>
                  <a:pt x="357" y="1234"/>
                </a:lnTo>
                <a:lnTo>
                  <a:pt x="356" y="1258"/>
                </a:lnTo>
                <a:lnTo>
                  <a:pt x="354" y="1282"/>
                </a:lnTo>
                <a:lnTo>
                  <a:pt x="353" y="1306"/>
                </a:lnTo>
                <a:lnTo>
                  <a:pt x="352" y="1330"/>
                </a:lnTo>
                <a:lnTo>
                  <a:pt x="351" y="1354"/>
                </a:lnTo>
                <a:lnTo>
                  <a:pt x="349" y="1379"/>
                </a:lnTo>
                <a:lnTo>
                  <a:pt x="348" y="1403"/>
                </a:lnTo>
                <a:lnTo>
                  <a:pt x="347" y="1427"/>
                </a:lnTo>
                <a:lnTo>
                  <a:pt x="346" y="1451"/>
                </a:lnTo>
                <a:lnTo>
                  <a:pt x="346" y="1475"/>
                </a:lnTo>
                <a:lnTo>
                  <a:pt x="345" y="1500"/>
                </a:lnTo>
                <a:lnTo>
                  <a:pt x="344" y="1524"/>
                </a:lnTo>
                <a:lnTo>
                  <a:pt x="343" y="1548"/>
                </a:lnTo>
                <a:lnTo>
                  <a:pt x="342" y="1572"/>
                </a:lnTo>
                <a:lnTo>
                  <a:pt x="342" y="1596"/>
                </a:lnTo>
                <a:lnTo>
                  <a:pt x="341" y="1620"/>
                </a:lnTo>
                <a:lnTo>
                  <a:pt x="340" y="1645"/>
                </a:lnTo>
                <a:lnTo>
                  <a:pt x="339" y="1669"/>
                </a:lnTo>
                <a:lnTo>
                  <a:pt x="338" y="1693"/>
                </a:lnTo>
                <a:lnTo>
                  <a:pt x="338" y="1717"/>
                </a:lnTo>
                <a:lnTo>
                  <a:pt x="337" y="1741"/>
                </a:lnTo>
                <a:lnTo>
                  <a:pt x="336" y="1766"/>
                </a:lnTo>
                <a:lnTo>
                  <a:pt x="335" y="1790"/>
                </a:lnTo>
                <a:lnTo>
                  <a:pt x="335" y="1814"/>
                </a:lnTo>
                <a:lnTo>
                  <a:pt x="335" y="1838"/>
                </a:lnTo>
                <a:lnTo>
                  <a:pt x="334" y="1862"/>
                </a:lnTo>
                <a:lnTo>
                  <a:pt x="334" y="1887"/>
                </a:lnTo>
                <a:lnTo>
                  <a:pt x="334" y="1911"/>
                </a:lnTo>
                <a:lnTo>
                  <a:pt x="334" y="1935"/>
                </a:lnTo>
                <a:lnTo>
                  <a:pt x="334" y="1959"/>
                </a:lnTo>
                <a:lnTo>
                  <a:pt x="334" y="1983"/>
                </a:lnTo>
                <a:lnTo>
                  <a:pt x="333" y="2007"/>
                </a:lnTo>
                <a:lnTo>
                  <a:pt x="333" y="2032"/>
                </a:lnTo>
                <a:lnTo>
                  <a:pt x="333" y="2056"/>
                </a:lnTo>
                <a:lnTo>
                  <a:pt x="332" y="2080"/>
                </a:lnTo>
                <a:lnTo>
                  <a:pt x="332" y="2104"/>
                </a:lnTo>
                <a:lnTo>
                  <a:pt x="331" y="2128"/>
                </a:lnTo>
                <a:lnTo>
                  <a:pt x="330" y="2153"/>
                </a:lnTo>
                <a:lnTo>
                  <a:pt x="330" y="2177"/>
                </a:lnTo>
                <a:lnTo>
                  <a:pt x="329" y="2201"/>
                </a:lnTo>
                <a:lnTo>
                  <a:pt x="328" y="2225"/>
                </a:lnTo>
                <a:lnTo>
                  <a:pt x="327" y="2249"/>
                </a:lnTo>
                <a:lnTo>
                  <a:pt x="327" y="2273"/>
                </a:lnTo>
                <a:lnTo>
                  <a:pt x="326" y="2298"/>
                </a:lnTo>
                <a:lnTo>
                  <a:pt x="325" y="2322"/>
                </a:lnTo>
                <a:lnTo>
                  <a:pt x="324" y="2346"/>
                </a:lnTo>
                <a:lnTo>
                  <a:pt x="323" y="2370"/>
                </a:lnTo>
                <a:lnTo>
                  <a:pt x="322" y="2394"/>
                </a:lnTo>
                <a:lnTo>
                  <a:pt x="321" y="2419"/>
                </a:lnTo>
                <a:lnTo>
                  <a:pt x="320" y="2443"/>
                </a:lnTo>
                <a:lnTo>
                  <a:pt x="319" y="2467"/>
                </a:lnTo>
                <a:lnTo>
                  <a:pt x="318" y="2491"/>
                </a:lnTo>
                <a:lnTo>
                  <a:pt x="317" y="2515"/>
                </a:lnTo>
                <a:lnTo>
                  <a:pt x="316" y="2540"/>
                </a:lnTo>
                <a:lnTo>
                  <a:pt x="315" y="2564"/>
                </a:lnTo>
                <a:lnTo>
                  <a:pt x="315" y="2588"/>
                </a:lnTo>
                <a:lnTo>
                  <a:pt x="314" y="2612"/>
                </a:lnTo>
                <a:lnTo>
                  <a:pt x="314" y="2636"/>
                </a:lnTo>
                <a:lnTo>
                  <a:pt x="313" y="2660"/>
                </a:lnTo>
                <a:lnTo>
                  <a:pt x="313" y="2685"/>
                </a:lnTo>
                <a:lnTo>
                  <a:pt x="313" y="2709"/>
                </a:lnTo>
                <a:lnTo>
                  <a:pt x="313" y="2733"/>
                </a:lnTo>
                <a:lnTo>
                  <a:pt x="313" y="2757"/>
                </a:lnTo>
                <a:lnTo>
                  <a:pt x="313" y="2781"/>
                </a:lnTo>
                <a:lnTo>
                  <a:pt x="313" y="2806"/>
                </a:lnTo>
                <a:lnTo>
                  <a:pt x="313" y="2830"/>
                </a:lnTo>
                <a:lnTo>
                  <a:pt x="313" y="2854"/>
                </a:lnTo>
                <a:lnTo>
                  <a:pt x="313" y="2878"/>
                </a:lnTo>
                <a:lnTo>
                  <a:pt x="313" y="2902"/>
                </a:lnTo>
                <a:lnTo>
                  <a:pt x="313" y="2926"/>
                </a:lnTo>
                <a:lnTo>
                  <a:pt x="312" y="2951"/>
                </a:lnTo>
                <a:lnTo>
                  <a:pt x="312" y="2975"/>
                </a:lnTo>
                <a:lnTo>
                  <a:pt x="311" y="2999"/>
                </a:lnTo>
                <a:lnTo>
                  <a:pt x="310" y="3023"/>
                </a:lnTo>
                <a:lnTo>
                  <a:pt x="309" y="3047"/>
                </a:lnTo>
                <a:lnTo>
                  <a:pt x="308" y="3072"/>
                </a:lnTo>
                <a:lnTo>
                  <a:pt x="306" y="3096"/>
                </a:lnTo>
                <a:lnTo>
                  <a:pt x="304" y="3120"/>
                </a:lnTo>
                <a:lnTo>
                  <a:pt x="302" y="3144"/>
                </a:lnTo>
                <a:lnTo>
                  <a:pt x="300" y="3168"/>
                </a:lnTo>
                <a:lnTo>
                  <a:pt x="298" y="3193"/>
                </a:lnTo>
                <a:lnTo>
                  <a:pt x="296" y="3217"/>
                </a:lnTo>
                <a:lnTo>
                  <a:pt x="293" y="3241"/>
                </a:lnTo>
                <a:lnTo>
                  <a:pt x="291" y="3265"/>
                </a:lnTo>
                <a:lnTo>
                  <a:pt x="289" y="3289"/>
                </a:lnTo>
                <a:lnTo>
                  <a:pt x="287" y="3313"/>
                </a:lnTo>
                <a:lnTo>
                  <a:pt x="285" y="3338"/>
                </a:lnTo>
                <a:lnTo>
                  <a:pt x="283" y="3362"/>
                </a:lnTo>
                <a:lnTo>
                  <a:pt x="281" y="3386"/>
                </a:lnTo>
                <a:lnTo>
                  <a:pt x="280" y="3410"/>
                </a:lnTo>
                <a:lnTo>
                  <a:pt x="278" y="3434"/>
                </a:lnTo>
                <a:lnTo>
                  <a:pt x="277" y="3459"/>
                </a:lnTo>
                <a:lnTo>
                  <a:pt x="275" y="3483"/>
                </a:lnTo>
                <a:lnTo>
                  <a:pt x="274" y="3507"/>
                </a:lnTo>
                <a:lnTo>
                  <a:pt x="273" y="3531"/>
                </a:lnTo>
                <a:lnTo>
                  <a:pt x="272" y="3555"/>
                </a:lnTo>
                <a:lnTo>
                  <a:pt x="272" y="3579"/>
                </a:lnTo>
                <a:lnTo>
                  <a:pt x="271" y="3604"/>
                </a:lnTo>
                <a:close/>
              </a:path>
            </a:pathLst>
          </a:custGeom>
          <a:solidFill>
            <a:srgbClr val="D5D9DE"/>
          </a:solidFill>
          <a:ln w="9525">
            <a:solidFill>
              <a:srgbClr val="8A92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21" name="Median_structural_matched"/>
          <p:cNvCxnSpPr/>
          <p:nvPr/>
        </p:nvCxnSpPr>
        <p:spPr>
          <a:xfrm>
            <a:off x="2843784" y="1094601"/>
            <a:ext cx="402336" cy="0"/>
          </a:xfrm>
          <a:prstGeom prst="line">
            <a:avLst/>
          </a:prstGeom>
          <a:ln w="17145">
            <a:solidFill>
              <a:srgbClr val="252A3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Median_structural_shuffled"/>
          <p:cNvCxnSpPr/>
          <p:nvPr/>
        </p:nvCxnSpPr>
        <p:spPr>
          <a:xfrm>
            <a:off x="3557016" y="1627763"/>
            <a:ext cx="402336" cy="0"/>
          </a:xfrm>
          <a:prstGeom prst="line">
            <a:avLst/>
          </a:prstGeom>
          <a:ln w="17145">
            <a:solidFill>
              <a:srgbClr val="252A3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AnchorSummary_structural"/>
          <p:cNvSpPr txBox="1"/>
          <p:nvPr/>
        </p:nvSpPr>
        <p:spPr>
          <a:xfrm>
            <a:off x="3906841" y="-640115"/>
            <a:ext cx="2330767" cy="21544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400" b="0" i="0" dirty="0">
                <a:solidFill>
                  <a:srgbClr val="596270"/>
                </a:solidFill>
                <a:latin typeface="Times New Roman"/>
              </a:rPr>
              <a:t>S med=0.89; Δ=0.35 [0.35,0.36]</a:t>
            </a:r>
          </a:p>
        </p:txBody>
      </p:sp>
      <p:sp>
        <p:nvSpPr>
          <p:cNvPr id="24" name="AnchorGroup_background"/>
          <p:cNvSpPr txBox="1"/>
          <p:nvPr/>
        </p:nvSpPr>
        <p:spPr>
          <a:xfrm>
            <a:off x="1159354" y="4244376"/>
            <a:ext cx="1253548" cy="307777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lang="en-US" sz="2000" dirty="0">
                <a:solidFill>
                  <a:srgbClr val="00B050"/>
                </a:solidFill>
                <a:latin typeface="Times New Roman"/>
              </a:rPr>
              <a:t>B</a:t>
            </a:r>
            <a:r>
              <a:rPr sz="2000" b="0" i="0" dirty="0">
                <a:solidFill>
                  <a:srgbClr val="00B050"/>
                </a:solidFill>
                <a:latin typeface="Times New Roman"/>
              </a:rPr>
              <a:t>ackground</a:t>
            </a:r>
          </a:p>
        </p:txBody>
      </p:sp>
      <p:sp>
        <p:nvSpPr>
          <p:cNvPr id="25" name="AnchorGroup_structural"/>
          <p:cNvSpPr txBox="1"/>
          <p:nvPr/>
        </p:nvSpPr>
        <p:spPr>
          <a:xfrm>
            <a:off x="2937263" y="4244376"/>
            <a:ext cx="937757" cy="307777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lang="en-US" sz="2000" dirty="0">
                <a:solidFill>
                  <a:srgbClr val="0070C0"/>
                </a:solidFill>
                <a:latin typeface="Times New Roman"/>
              </a:rPr>
              <a:t>S</a:t>
            </a:r>
            <a:r>
              <a:rPr sz="2000" b="0" i="0" dirty="0">
                <a:solidFill>
                  <a:srgbClr val="0070C0"/>
                </a:solidFill>
                <a:latin typeface="Times New Roman"/>
              </a:rPr>
              <a:t>tructure</a:t>
            </a:r>
          </a:p>
        </p:txBody>
      </p:sp>
      <p:sp>
        <p:nvSpPr>
          <p:cNvPr id="26" name="LegendMatchedDot"/>
          <p:cNvSpPr/>
          <p:nvPr/>
        </p:nvSpPr>
        <p:spPr>
          <a:xfrm>
            <a:off x="760337" y="3655499"/>
            <a:ext cx="155448" cy="155448"/>
          </a:xfrm>
          <a:prstGeom prst="ellipse">
            <a:avLst/>
          </a:prstGeom>
          <a:solidFill>
            <a:srgbClr val="92D050"/>
          </a:solidFill>
          <a:ln w="635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LegendMatchedText"/>
          <p:cNvSpPr txBox="1"/>
          <p:nvPr/>
        </p:nvSpPr>
        <p:spPr>
          <a:xfrm>
            <a:off x="1117280" y="3570191"/>
            <a:ext cx="867225" cy="307777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2000" b="0" i="0" dirty="0">
                <a:solidFill>
                  <a:srgbClr val="252A31"/>
                </a:solidFill>
                <a:latin typeface="Times New Roman"/>
              </a:rPr>
              <a:t>matched</a:t>
            </a:r>
          </a:p>
        </p:txBody>
      </p:sp>
      <p:sp>
        <p:nvSpPr>
          <p:cNvPr id="28" name="LegendShuffledDot"/>
          <p:cNvSpPr/>
          <p:nvPr/>
        </p:nvSpPr>
        <p:spPr>
          <a:xfrm>
            <a:off x="937609" y="3977834"/>
            <a:ext cx="155448" cy="155448"/>
          </a:xfrm>
          <a:prstGeom prst="ellipse">
            <a:avLst/>
          </a:prstGeom>
          <a:solidFill>
            <a:srgbClr val="8A929B"/>
          </a:solidFill>
          <a:ln w="635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LegendShuffledText"/>
          <p:cNvSpPr txBox="1"/>
          <p:nvPr/>
        </p:nvSpPr>
        <p:spPr>
          <a:xfrm>
            <a:off x="1117280" y="3892526"/>
            <a:ext cx="833754" cy="307777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2000" b="0" i="0" dirty="0">
                <a:solidFill>
                  <a:srgbClr val="252A31"/>
                </a:solidFill>
                <a:latin typeface="Times New Roman"/>
              </a:rPr>
              <a:t>shuffled</a:t>
            </a:r>
          </a:p>
        </p:txBody>
      </p:sp>
      <p:sp>
        <p:nvSpPr>
          <p:cNvPr id="30" name="PanelB_Title"/>
          <p:cNvSpPr txBox="1"/>
          <p:nvPr/>
        </p:nvSpPr>
        <p:spPr>
          <a:xfrm>
            <a:off x="6130717" y="257002"/>
            <a:ext cx="4435510" cy="36933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2400" b="1" i="0" dirty="0">
                <a:solidFill>
                  <a:srgbClr val="252A31"/>
                </a:solidFill>
                <a:latin typeface="Times New Roman"/>
              </a:rPr>
              <a:t>(b) Role specialization diagnostics</a:t>
            </a:r>
          </a:p>
        </p:txBody>
      </p:sp>
      <p:sp>
        <p:nvSpPr>
          <p:cNvPr id="149" name="RoleSubsetLabel_FlatVelA"/>
          <p:cNvSpPr txBox="1"/>
          <p:nvPr/>
        </p:nvSpPr>
        <p:spPr>
          <a:xfrm>
            <a:off x="5336555" y="4213599"/>
            <a:ext cx="577467" cy="36933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lang="en-US" altLang="zh-CN" sz="2400" b="0" i="0" dirty="0">
                <a:solidFill>
                  <a:srgbClr val="252A31"/>
                </a:solidFill>
                <a:latin typeface="Times New Roman"/>
              </a:rPr>
              <a:t>FVA</a:t>
            </a:r>
            <a:endParaRPr sz="2400" b="0" i="0" dirty="0">
              <a:solidFill>
                <a:srgbClr val="252A31"/>
              </a:solidFill>
              <a:latin typeface="Times New Roman"/>
            </a:endParaRPr>
          </a:p>
        </p:txBody>
      </p:sp>
      <p:sp>
        <p:nvSpPr>
          <p:cNvPr id="155" name="RoleSubsetLabel_FlatVelB"/>
          <p:cNvSpPr txBox="1"/>
          <p:nvPr/>
        </p:nvSpPr>
        <p:spPr>
          <a:xfrm>
            <a:off x="6123340" y="4213599"/>
            <a:ext cx="599524" cy="36933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lang="en-US" altLang="zh-CN" sz="2400" b="0" i="0" dirty="0">
                <a:solidFill>
                  <a:srgbClr val="252A31"/>
                </a:solidFill>
                <a:latin typeface="Times New Roman"/>
              </a:rPr>
              <a:t>FVB</a:t>
            </a:r>
            <a:endParaRPr sz="2400" b="0" i="0" dirty="0">
              <a:solidFill>
                <a:srgbClr val="252A31"/>
              </a:solidFill>
              <a:latin typeface="Times New Roman"/>
            </a:endParaRPr>
          </a:p>
        </p:txBody>
      </p:sp>
      <p:sp>
        <p:nvSpPr>
          <p:cNvPr id="161" name="RoleSubsetLabel_CurveVelA"/>
          <p:cNvSpPr txBox="1"/>
          <p:nvPr/>
        </p:nvSpPr>
        <p:spPr>
          <a:xfrm>
            <a:off x="6895505" y="4213599"/>
            <a:ext cx="650819" cy="36933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lang="en-US" altLang="zh-CN" sz="2400" b="0" i="0" dirty="0">
                <a:solidFill>
                  <a:srgbClr val="252A31"/>
                </a:solidFill>
                <a:latin typeface="Times New Roman"/>
              </a:rPr>
              <a:t>CVA</a:t>
            </a:r>
            <a:endParaRPr sz="2400" b="0" i="0" dirty="0">
              <a:solidFill>
                <a:srgbClr val="252A31"/>
              </a:solidFill>
              <a:latin typeface="Times New Roman"/>
            </a:endParaRPr>
          </a:p>
        </p:txBody>
      </p:sp>
      <p:sp>
        <p:nvSpPr>
          <p:cNvPr id="167" name="RoleSubsetLabel_CurveVelB"/>
          <p:cNvSpPr txBox="1"/>
          <p:nvPr/>
        </p:nvSpPr>
        <p:spPr>
          <a:xfrm>
            <a:off x="7702137" y="4213599"/>
            <a:ext cx="633187" cy="36933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lang="en-US" altLang="zh-CN" sz="2400" b="0" i="0" dirty="0">
                <a:solidFill>
                  <a:srgbClr val="252A31"/>
                </a:solidFill>
                <a:latin typeface="Times New Roman"/>
              </a:rPr>
              <a:t>CVB</a:t>
            </a:r>
            <a:endParaRPr sz="2400" b="0" i="0" dirty="0">
              <a:solidFill>
                <a:srgbClr val="252A31"/>
              </a:solidFill>
              <a:latin typeface="Times New Roman"/>
            </a:endParaRPr>
          </a:p>
        </p:txBody>
      </p:sp>
      <p:sp>
        <p:nvSpPr>
          <p:cNvPr id="173" name="RoleSubsetLabel_FlatFaultA"/>
          <p:cNvSpPr txBox="1"/>
          <p:nvPr/>
        </p:nvSpPr>
        <p:spPr>
          <a:xfrm>
            <a:off x="8545027" y="4213599"/>
            <a:ext cx="543034" cy="36933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lang="en-US" sz="2400" b="0" i="0" dirty="0">
                <a:solidFill>
                  <a:srgbClr val="252A31"/>
                </a:solidFill>
                <a:latin typeface="Times New Roman"/>
              </a:rPr>
              <a:t>FFA</a:t>
            </a:r>
            <a:endParaRPr sz="2400" b="0" i="0" dirty="0">
              <a:solidFill>
                <a:srgbClr val="252A31"/>
              </a:solidFill>
              <a:latin typeface="Times New Roman"/>
            </a:endParaRPr>
          </a:p>
        </p:txBody>
      </p:sp>
      <p:sp>
        <p:nvSpPr>
          <p:cNvPr id="179" name="RoleSubsetLabel_FlatFaultB"/>
          <p:cNvSpPr txBox="1"/>
          <p:nvPr/>
        </p:nvSpPr>
        <p:spPr>
          <a:xfrm>
            <a:off x="9340242" y="4213599"/>
            <a:ext cx="548228" cy="36933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lang="en-US" sz="2400" b="0" i="0" dirty="0">
                <a:solidFill>
                  <a:srgbClr val="252A31"/>
                </a:solidFill>
                <a:latin typeface="Times New Roman"/>
              </a:rPr>
              <a:t>FFB</a:t>
            </a:r>
            <a:endParaRPr sz="2400" b="0" i="0" dirty="0">
              <a:solidFill>
                <a:srgbClr val="252A31"/>
              </a:solidFill>
              <a:latin typeface="Times New Roman"/>
            </a:endParaRPr>
          </a:p>
        </p:txBody>
      </p:sp>
      <p:sp>
        <p:nvSpPr>
          <p:cNvPr id="185" name="RoleSubsetLabel_CurveFaultA"/>
          <p:cNvSpPr txBox="1"/>
          <p:nvPr/>
        </p:nvSpPr>
        <p:spPr>
          <a:xfrm>
            <a:off x="10123823" y="4213599"/>
            <a:ext cx="576697" cy="36933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lang="en-US" sz="2400" b="0" i="0" dirty="0">
                <a:solidFill>
                  <a:srgbClr val="252A31"/>
                </a:solidFill>
                <a:latin typeface="Times New Roman"/>
              </a:rPr>
              <a:t>CFA</a:t>
            </a:r>
            <a:endParaRPr sz="2400" b="0" i="0" dirty="0">
              <a:solidFill>
                <a:srgbClr val="252A31"/>
              </a:solidFill>
              <a:latin typeface="Times New Roman"/>
            </a:endParaRPr>
          </a:p>
        </p:txBody>
      </p:sp>
      <p:sp>
        <p:nvSpPr>
          <p:cNvPr id="191" name="RoleSubsetLabel_CurveFaultB"/>
          <p:cNvSpPr txBox="1"/>
          <p:nvPr/>
        </p:nvSpPr>
        <p:spPr>
          <a:xfrm>
            <a:off x="10919040" y="4213599"/>
            <a:ext cx="581891" cy="36933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lang="en-US" sz="2400" b="0" i="0" dirty="0">
                <a:solidFill>
                  <a:srgbClr val="252A31"/>
                </a:solidFill>
                <a:latin typeface="Times New Roman"/>
              </a:rPr>
              <a:t>CFB</a:t>
            </a:r>
            <a:endParaRPr sz="2400" b="0" i="0" dirty="0">
              <a:solidFill>
                <a:srgbClr val="252A31"/>
              </a:solidFill>
              <a:latin typeface="Times New Roman"/>
            </a:endParaRPr>
          </a:p>
        </p:txBody>
      </p:sp>
      <p:cxnSp>
        <p:nvCxnSpPr>
          <p:cNvPr id="192" name="AnchorXAxis">
            <a:extLst>
              <a:ext uri="{FF2B5EF4-FFF2-40B4-BE49-F238E27FC236}">
                <a16:creationId xmlns:a16="http://schemas.microsoft.com/office/drawing/2014/main" id="{0B1297D1-8A68-9F69-AFE6-0A6071EE38C2}"/>
              </a:ext>
            </a:extLst>
          </p:cNvPr>
          <p:cNvCxnSpPr/>
          <p:nvPr/>
        </p:nvCxnSpPr>
        <p:spPr>
          <a:xfrm>
            <a:off x="751036" y="758952"/>
            <a:ext cx="3593592" cy="0"/>
          </a:xfrm>
          <a:prstGeom prst="line">
            <a:avLst/>
          </a:prstGeom>
          <a:ln w="11430">
            <a:solidFill>
              <a:srgbClr val="4C556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3" name="AnchorYAxis">
            <a:extLst>
              <a:ext uri="{FF2B5EF4-FFF2-40B4-BE49-F238E27FC236}">
                <a16:creationId xmlns:a16="http://schemas.microsoft.com/office/drawing/2014/main" id="{98CCA40A-9C11-481D-8C09-1FF9A532FEE3}"/>
              </a:ext>
            </a:extLst>
          </p:cNvPr>
          <p:cNvCxnSpPr/>
          <p:nvPr/>
        </p:nvCxnSpPr>
        <p:spPr>
          <a:xfrm>
            <a:off x="4340744" y="758948"/>
            <a:ext cx="0" cy="3429000"/>
          </a:xfrm>
          <a:prstGeom prst="line">
            <a:avLst/>
          </a:prstGeom>
          <a:ln w="11430">
            <a:solidFill>
              <a:srgbClr val="4C556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RoleGrid_eta_b_0.0"/>
          <p:cNvCxnSpPr/>
          <p:nvPr/>
        </p:nvCxnSpPr>
        <p:spPr>
          <a:xfrm>
            <a:off x="5230368" y="1682495"/>
            <a:ext cx="6382512" cy="0"/>
          </a:xfrm>
          <a:prstGeom prst="line">
            <a:avLst/>
          </a:prstGeom>
          <a:ln w="6350">
            <a:solidFill>
              <a:srgbClr val="E1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leTick_eta_b_0.0"/>
          <p:cNvSpPr txBox="1"/>
          <p:nvPr/>
        </p:nvSpPr>
        <p:spPr>
          <a:xfrm>
            <a:off x="4954808" y="1559386"/>
            <a:ext cx="256481" cy="24622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r"/>
            <a:r>
              <a:rPr sz="1600" b="0" i="0" dirty="0">
                <a:solidFill>
                  <a:srgbClr val="4C5563"/>
                </a:solidFill>
                <a:latin typeface="Times New Roman"/>
              </a:rPr>
              <a:t>0.0</a:t>
            </a:r>
          </a:p>
        </p:txBody>
      </p:sp>
      <p:cxnSp>
        <p:nvCxnSpPr>
          <p:cNvPr id="33" name="RoleGrid_eta_b_0.5"/>
          <p:cNvCxnSpPr/>
          <p:nvPr/>
        </p:nvCxnSpPr>
        <p:spPr>
          <a:xfrm>
            <a:off x="5230368" y="1216152"/>
            <a:ext cx="6382512" cy="0"/>
          </a:xfrm>
          <a:prstGeom prst="line">
            <a:avLst/>
          </a:prstGeom>
          <a:ln w="19050">
            <a:solidFill>
              <a:srgbClr val="E1E5E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leTick_eta_b_0.5"/>
          <p:cNvSpPr txBox="1"/>
          <p:nvPr/>
        </p:nvSpPr>
        <p:spPr>
          <a:xfrm>
            <a:off x="4954808" y="1093043"/>
            <a:ext cx="256481" cy="24622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r"/>
            <a:r>
              <a:rPr sz="1600" b="0" i="0" dirty="0">
                <a:solidFill>
                  <a:srgbClr val="4C5563"/>
                </a:solidFill>
                <a:latin typeface="Times New Roman"/>
              </a:rPr>
              <a:t>0.5</a:t>
            </a:r>
          </a:p>
        </p:txBody>
      </p:sp>
      <p:cxnSp>
        <p:nvCxnSpPr>
          <p:cNvPr id="35" name="RoleGrid_eta_b_1.0"/>
          <p:cNvCxnSpPr/>
          <p:nvPr/>
        </p:nvCxnSpPr>
        <p:spPr>
          <a:xfrm>
            <a:off x="5230368" y="749808"/>
            <a:ext cx="6382512" cy="0"/>
          </a:xfrm>
          <a:prstGeom prst="line">
            <a:avLst/>
          </a:prstGeom>
          <a:ln w="6350">
            <a:solidFill>
              <a:srgbClr val="E1E5E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oleTick_eta_b_1.0"/>
          <p:cNvSpPr txBox="1"/>
          <p:nvPr/>
        </p:nvSpPr>
        <p:spPr>
          <a:xfrm>
            <a:off x="4954808" y="626699"/>
            <a:ext cx="256481" cy="24622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r"/>
            <a:r>
              <a:rPr sz="1600" b="0" i="0" dirty="0">
                <a:solidFill>
                  <a:srgbClr val="4C5563"/>
                </a:solidFill>
                <a:latin typeface="Times New Roman"/>
              </a:rPr>
              <a:t>1.0</a:t>
            </a:r>
          </a:p>
        </p:txBody>
      </p:sp>
      <p:cxnSp>
        <p:nvCxnSpPr>
          <p:cNvPr id="37" name="RoleYAxis_eta_b"/>
          <p:cNvCxnSpPr/>
          <p:nvPr/>
        </p:nvCxnSpPr>
        <p:spPr>
          <a:xfrm>
            <a:off x="5230368" y="749808"/>
            <a:ext cx="0" cy="932687"/>
          </a:xfrm>
          <a:prstGeom prst="line">
            <a:avLst/>
          </a:prstGeom>
          <a:ln w="10160">
            <a:solidFill>
              <a:srgbClr val="4C556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RoleXAxis_eta_b"/>
          <p:cNvCxnSpPr/>
          <p:nvPr/>
        </p:nvCxnSpPr>
        <p:spPr>
          <a:xfrm>
            <a:off x="5230368" y="1682495"/>
            <a:ext cx="6382512" cy="0"/>
          </a:xfrm>
          <a:prstGeom prst="line">
            <a:avLst/>
          </a:prstGeom>
          <a:ln w="10160">
            <a:solidFill>
              <a:srgbClr val="4C556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oleMetric_eta_b"/>
          <p:cNvSpPr txBox="1"/>
          <p:nvPr/>
        </p:nvSpPr>
        <p:spPr>
          <a:xfrm rot="16200000">
            <a:off x="4365991" y="1054295"/>
            <a:ext cx="604333" cy="307777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2000" b="0" i="1" dirty="0" err="1">
                <a:solidFill>
                  <a:srgbClr val="178F48"/>
                </a:solidFill>
                <a:latin typeface="Times New Roman"/>
              </a:rPr>
              <a:t>η_B</a:t>
            </a:r>
            <a:r>
              <a:rPr sz="2000" b="0" i="1" dirty="0">
                <a:solidFill>
                  <a:srgbClr val="178F48"/>
                </a:solidFill>
                <a:latin typeface="Times New Roman"/>
              </a:rPr>
              <a:t> ↑</a:t>
            </a:r>
          </a:p>
        </p:txBody>
      </p:sp>
      <p:cxnSp>
        <p:nvCxnSpPr>
          <p:cNvPr id="40" name="RoleGlobalMedian_eta_b"/>
          <p:cNvCxnSpPr/>
          <p:nvPr/>
        </p:nvCxnSpPr>
        <p:spPr>
          <a:xfrm>
            <a:off x="5230368" y="972497"/>
            <a:ext cx="6382512" cy="0"/>
          </a:xfrm>
          <a:prstGeom prst="line">
            <a:avLst/>
          </a:prstGeom>
          <a:ln w="19050">
            <a:solidFill>
              <a:srgbClr val="178F4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RoleGlobalMedianLabel_eta_b"/>
          <p:cNvSpPr txBox="1"/>
          <p:nvPr/>
        </p:nvSpPr>
        <p:spPr>
          <a:xfrm>
            <a:off x="9755021" y="1033092"/>
            <a:ext cx="1721625" cy="307777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r"/>
            <a:r>
              <a:rPr sz="2000" b="0" i="0" dirty="0">
                <a:solidFill>
                  <a:srgbClr val="178F48"/>
                </a:solidFill>
                <a:latin typeface="Times New Roman"/>
              </a:rPr>
              <a:t>global med. 0.76</a:t>
            </a:r>
          </a:p>
        </p:txBody>
      </p:sp>
      <p:cxnSp>
        <p:nvCxnSpPr>
          <p:cNvPr id="42" name="Role_eta_b_FlatVelA_Whisker"/>
          <p:cNvCxnSpPr/>
          <p:nvPr/>
        </p:nvCxnSpPr>
        <p:spPr>
          <a:xfrm flipV="1">
            <a:off x="5629275" y="880912"/>
            <a:ext cx="0" cy="116605"/>
          </a:xfrm>
          <a:prstGeom prst="line">
            <a:avLst/>
          </a:prstGeom>
          <a:ln w="10160">
            <a:solidFill>
              <a:srgbClr val="178F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Role_eta_b_FlatVelA_LowerCap"/>
          <p:cNvCxnSpPr/>
          <p:nvPr/>
        </p:nvCxnSpPr>
        <p:spPr>
          <a:xfrm>
            <a:off x="5501624" y="997517"/>
            <a:ext cx="255301" cy="0"/>
          </a:xfrm>
          <a:prstGeom prst="line">
            <a:avLst/>
          </a:prstGeom>
          <a:ln w="10160">
            <a:solidFill>
              <a:srgbClr val="178F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Role_eta_b_FlatVelA_UpperCap"/>
          <p:cNvCxnSpPr/>
          <p:nvPr/>
        </p:nvCxnSpPr>
        <p:spPr>
          <a:xfrm>
            <a:off x="5501624" y="880912"/>
            <a:ext cx="255301" cy="0"/>
          </a:xfrm>
          <a:prstGeom prst="line">
            <a:avLst/>
          </a:prstGeom>
          <a:ln w="10160">
            <a:solidFill>
              <a:srgbClr val="178F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Role_eta_b_FlatVelA_IQR"/>
          <p:cNvSpPr/>
          <p:nvPr/>
        </p:nvSpPr>
        <p:spPr>
          <a:xfrm>
            <a:off x="5477690" y="931550"/>
            <a:ext cx="303169" cy="33881"/>
          </a:xfrm>
          <a:prstGeom prst="rect">
            <a:avLst/>
          </a:prstGeom>
          <a:solidFill>
            <a:srgbClr val="DCEFE4"/>
          </a:solidFill>
          <a:ln w="10160">
            <a:solidFill>
              <a:srgbClr val="178F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46" name="Role_eta_b_FlatVelA_Median"/>
          <p:cNvCxnSpPr/>
          <p:nvPr/>
        </p:nvCxnSpPr>
        <p:spPr>
          <a:xfrm>
            <a:off x="5439794" y="949813"/>
            <a:ext cx="378961" cy="0"/>
          </a:xfrm>
          <a:prstGeom prst="line">
            <a:avLst/>
          </a:prstGeom>
          <a:ln w="14604">
            <a:solidFill>
              <a:srgbClr val="252A3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Role_eta_b_FlatVelB_Whisker"/>
          <p:cNvCxnSpPr/>
          <p:nvPr/>
        </p:nvCxnSpPr>
        <p:spPr>
          <a:xfrm flipV="1">
            <a:off x="6427089" y="902676"/>
            <a:ext cx="0" cy="141526"/>
          </a:xfrm>
          <a:prstGeom prst="line">
            <a:avLst/>
          </a:prstGeom>
          <a:ln w="10160">
            <a:solidFill>
              <a:srgbClr val="178F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Role_eta_b_FlatVelB_LowerCap"/>
          <p:cNvCxnSpPr/>
          <p:nvPr/>
        </p:nvCxnSpPr>
        <p:spPr>
          <a:xfrm>
            <a:off x="6299438" y="1044202"/>
            <a:ext cx="255301" cy="0"/>
          </a:xfrm>
          <a:prstGeom prst="line">
            <a:avLst/>
          </a:prstGeom>
          <a:ln w="10160">
            <a:solidFill>
              <a:srgbClr val="178F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Role_eta_b_FlatVelB_UpperCap"/>
          <p:cNvCxnSpPr/>
          <p:nvPr/>
        </p:nvCxnSpPr>
        <p:spPr>
          <a:xfrm>
            <a:off x="6299438" y="902676"/>
            <a:ext cx="255301" cy="0"/>
          </a:xfrm>
          <a:prstGeom prst="line">
            <a:avLst/>
          </a:prstGeom>
          <a:ln w="10160">
            <a:solidFill>
              <a:srgbClr val="178F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Role_eta_b_FlatVelB_IQR"/>
          <p:cNvSpPr/>
          <p:nvPr/>
        </p:nvSpPr>
        <p:spPr>
          <a:xfrm>
            <a:off x="6275504" y="959863"/>
            <a:ext cx="303169" cy="38285"/>
          </a:xfrm>
          <a:prstGeom prst="rect">
            <a:avLst/>
          </a:prstGeom>
          <a:solidFill>
            <a:srgbClr val="DCEFE4"/>
          </a:solidFill>
          <a:ln w="10160">
            <a:solidFill>
              <a:srgbClr val="178F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51" name="Role_eta_b_FlatVelB_Median"/>
          <p:cNvCxnSpPr/>
          <p:nvPr/>
        </p:nvCxnSpPr>
        <p:spPr>
          <a:xfrm>
            <a:off x="6237608" y="979364"/>
            <a:ext cx="378961" cy="0"/>
          </a:xfrm>
          <a:prstGeom prst="line">
            <a:avLst/>
          </a:prstGeom>
          <a:ln w="14604">
            <a:solidFill>
              <a:srgbClr val="252A3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Role_eta_b_CurveVelA_Whisker"/>
          <p:cNvCxnSpPr/>
          <p:nvPr/>
        </p:nvCxnSpPr>
        <p:spPr>
          <a:xfrm flipV="1">
            <a:off x="7224903" y="901621"/>
            <a:ext cx="0" cy="134695"/>
          </a:xfrm>
          <a:prstGeom prst="line">
            <a:avLst/>
          </a:prstGeom>
          <a:ln w="10160">
            <a:solidFill>
              <a:srgbClr val="178F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Role_eta_b_CurveVelA_LowerCap"/>
          <p:cNvCxnSpPr/>
          <p:nvPr/>
        </p:nvCxnSpPr>
        <p:spPr>
          <a:xfrm>
            <a:off x="7097252" y="1036316"/>
            <a:ext cx="255301" cy="0"/>
          </a:xfrm>
          <a:prstGeom prst="line">
            <a:avLst/>
          </a:prstGeom>
          <a:ln w="10160">
            <a:solidFill>
              <a:srgbClr val="178F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Role_eta_b_CurveVelA_UpperCap"/>
          <p:cNvCxnSpPr/>
          <p:nvPr/>
        </p:nvCxnSpPr>
        <p:spPr>
          <a:xfrm>
            <a:off x="7097252" y="901621"/>
            <a:ext cx="255301" cy="0"/>
          </a:xfrm>
          <a:prstGeom prst="line">
            <a:avLst/>
          </a:prstGeom>
          <a:ln w="10160">
            <a:solidFill>
              <a:srgbClr val="178F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Role_eta_b_CurveVelA_IQR"/>
          <p:cNvSpPr/>
          <p:nvPr/>
        </p:nvSpPr>
        <p:spPr>
          <a:xfrm>
            <a:off x="7073318" y="952358"/>
            <a:ext cx="303169" cy="34083"/>
          </a:xfrm>
          <a:prstGeom prst="rect">
            <a:avLst/>
          </a:prstGeom>
          <a:solidFill>
            <a:srgbClr val="DCEFE4"/>
          </a:solidFill>
          <a:ln w="10160">
            <a:solidFill>
              <a:srgbClr val="178F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56" name="Role_eta_b_CurveVelA_Median"/>
          <p:cNvCxnSpPr/>
          <p:nvPr/>
        </p:nvCxnSpPr>
        <p:spPr>
          <a:xfrm>
            <a:off x="7035422" y="969999"/>
            <a:ext cx="378961" cy="0"/>
          </a:xfrm>
          <a:prstGeom prst="line">
            <a:avLst/>
          </a:prstGeom>
          <a:ln w="14604">
            <a:solidFill>
              <a:srgbClr val="252A3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Role_eta_b_CurveVelB_Whisker"/>
          <p:cNvCxnSpPr/>
          <p:nvPr/>
        </p:nvCxnSpPr>
        <p:spPr>
          <a:xfrm flipV="1">
            <a:off x="8022717" y="928812"/>
            <a:ext cx="0" cy="131909"/>
          </a:xfrm>
          <a:prstGeom prst="line">
            <a:avLst/>
          </a:prstGeom>
          <a:ln w="10160">
            <a:solidFill>
              <a:srgbClr val="178F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Role_eta_b_CurveVelB_LowerCap"/>
          <p:cNvCxnSpPr/>
          <p:nvPr/>
        </p:nvCxnSpPr>
        <p:spPr>
          <a:xfrm>
            <a:off x="7895066" y="1060721"/>
            <a:ext cx="255301" cy="0"/>
          </a:xfrm>
          <a:prstGeom prst="line">
            <a:avLst/>
          </a:prstGeom>
          <a:ln w="10160">
            <a:solidFill>
              <a:srgbClr val="178F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Role_eta_b_CurveVelB_UpperCap"/>
          <p:cNvCxnSpPr/>
          <p:nvPr/>
        </p:nvCxnSpPr>
        <p:spPr>
          <a:xfrm>
            <a:off x="7895066" y="928812"/>
            <a:ext cx="255301" cy="0"/>
          </a:xfrm>
          <a:prstGeom prst="line">
            <a:avLst/>
          </a:prstGeom>
          <a:ln w="10160">
            <a:solidFill>
              <a:srgbClr val="178F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Role_eta_b_CurveVelB_IQR"/>
          <p:cNvSpPr/>
          <p:nvPr/>
        </p:nvSpPr>
        <p:spPr>
          <a:xfrm>
            <a:off x="7871132" y="981963"/>
            <a:ext cx="303169" cy="35554"/>
          </a:xfrm>
          <a:prstGeom prst="rect">
            <a:avLst/>
          </a:prstGeom>
          <a:solidFill>
            <a:srgbClr val="DCEFE4"/>
          </a:solidFill>
          <a:ln w="10160">
            <a:solidFill>
              <a:srgbClr val="178F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61" name="Role_eta_b_CurveVelB_Median"/>
          <p:cNvCxnSpPr/>
          <p:nvPr/>
        </p:nvCxnSpPr>
        <p:spPr>
          <a:xfrm>
            <a:off x="7833236" y="1001710"/>
            <a:ext cx="378961" cy="0"/>
          </a:xfrm>
          <a:prstGeom prst="line">
            <a:avLst/>
          </a:prstGeom>
          <a:ln w="14604">
            <a:solidFill>
              <a:srgbClr val="252A3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Role_eta_b_FlatFaultA_Whisker"/>
          <p:cNvCxnSpPr/>
          <p:nvPr/>
        </p:nvCxnSpPr>
        <p:spPr>
          <a:xfrm flipV="1">
            <a:off x="8820531" y="869529"/>
            <a:ext cx="0" cy="136772"/>
          </a:xfrm>
          <a:prstGeom prst="line">
            <a:avLst/>
          </a:prstGeom>
          <a:ln w="10160">
            <a:solidFill>
              <a:srgbClr val="178F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Role_eta_b_FlatFaultA_LowerCap"/>
          <p:cNvCxnSpPr/>
          <p:nvPr/>
        </p:nvCxnSpPr>
        <p:spPr>
          <a:xfrm>
            <a:off x="8692880" y="1006301"/>
            <a:ext cx="255301" cy="0"/>
          </a:xfrm>
          <a:prstGeom prst="line">
            <a:avLst/>
          </a:prstGeom>
          <a:ln w="10160">
            <a:solidFill>
              <a:srgbClr val="178F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Role_eta_b_FlatFaultA_UpperCap"/>
          <p:cNvCxnSpPr/>
          <p:nvPr/>
        </p:nvCxnSpPr>
        <p:spPr>
          <a:xfrm>
            <a:off x="8692880" y="869529"/>
            <a:ext cx="255301" cy="0"/>
          </a:xfrm>
          <a:prstGeom prst="line">
            <a:avLst/>
          </a:prstGeom>
          <a:ln w="10160">
            <a:solidFill>
              <a:srgbClr val="178F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" name="Role_eta_b_FlatFaultA_IQR"/>
          <p:cNvSpPr/>
          <p:nvPr/>
        </p:nvSpPr>
        <p:spPr>
          <a:xfrm>
            <a:off x="8668946" y="925782"/>
            <a:ext cx="303169" cy="41360"/>
          </a:xfrm>
          <a:prstGeom prst="rect">
            <a:avLst/>
          </a:prstGeom>
          <a:solidFill>
            <a:srgbClr val="DCEFE4"/>
          </a:solidFill>
          <a:ln w="10160">
            <a:solidFill>
              <a:srgbClr val="178F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66" name="Role_eta_b_FlatFaultA_Median"/>
          <p:cNvCxnSpPr/>
          <p:nvPr/>
        </p:nvCxnSpPr>
        <p:spPr>
          <a:xfrm>
            <a:off x="8631050" y="948216"/>
            <a:ext cx="378961" cy="0"/>
          </a:xfrm>
          <a:prstGeom prst="line">
            <a:avLst/>
          </a:prstGeom>
          <a:ln w="14604">
            <a:solidFill>
              <a:srgbClr val="252A3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Role_eta_b_FlatFaultB_Whisker"/>
          <p:cNvCxnSpPr/>
          <p:nvPr/>
        </p:nvCxnSpPr>
        <p:spPr>
          <a:xfrm flipV="1">
            <a:off x="9618345" y="922361"/>
            <a:ext cx="0" cy="110407"/>
          </a:xfrm>
          <a:prstGeom prst="line">
            <a:avLst/>
          </a:prstGeom>
          <a:ln w="10160">
            <a:solidFill>
              <a:srgbClr val="178F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Role_eta_b_FlatFaultB_LowerCap"/>
          <p:cNvCxnSpPr/>
          <p:nvPr/>
        </p:nvCxnSpPr>
        <p:spPr>
          <a:xfrm>
            <a:off x="9490694" y="1032768"/>
            <a:ext cx="255301" cy="0"/>
          </a:xfrm>
          <a:prstGeom prst="line">
            <a:avLst/>
          </a:prstGeom>
          <a:ln w="10160">
            <a:solidFill>
              <a:srgbClr val="178F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Role_eta_b_FlatFaultB_UpperCap"/>
          <p:cNvCxnSpPr/>
          <p:nvPr/>
        </p:nvCxnSpPr>
        <p:spPr>
          <a:xfrm>
            <a:off x="9490694" y="922361"/>
            <a:ext cx="255301" cy="0"/>
          </a:xfrm>
          <a:prstGeom prst="line">
            <a:avLst/>
          </a:prstGeom>
          <a:ln w="10160">
            <a:solidFill>
              <a:srgbClr val="178F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Role_eta_b_FlatFaultB_IQR"/>
          <p:cNvSpPr/>
          <p:nvPr/>
        </p:nvSpPr>
        <p:spPr>
          <a:xfrm>
            <a:off x="9466760" y="964864"/>
            <a:ext cx="303169" cy="29292"/>
          </a:xfrm>
          <a:prstGeom prst="rect">
            <a:avLst/>
          </a:prstGeom>
          <a:solidFill>
            <a:srgbClr val="DCEFE4"/>
          </a:solidFill>
          <a:ln w="10160">
            <a:solidFill>
              <a:srgbClr val="178F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71" name="Role_eta_b_FlatFaultB_Median"/>
          <p:cNvCxnSpPr/>
          <p:nvPr/>
        </p:nvCxnSpPr>
        <p:spPr>
          <a:xfrm>
            <a:off x="9428864" y="980953"/>
            <a:ext cx="378961" cy="0"/>
          </a:xfrm>
          <a:prstGeom prst="line">
            <a:avLst/>
          </a:prstGeom>
          <a:ln w="14604">
            <a:solidFill>
              <a:srgbClr val="252A3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Role_eta_b_CurveFaultA_Whisker"/>
          <p:cNvCxnSpPr/>
          <p:nvPr/>
        </p:nvCxnSpPr>
        <p:spPr>
          <a:xfrm flipV="1">
            <a:off x="10416159" y="871148"/>
            <a:ext cx="0" cy="134871"/>
          </a:xfrm>
          <a:prstGeom prst="line">
            <a:avLst/>
          </a:prstGeom>
          <a:ln w="10160">
            <a:solidFill>
              <a:srgbClr val="178F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Role_eta_b_CurveFaultA_LowerCap"/>
          <p:cNvCxnSpPr/>
          <p:nvPr/>
        </p:nvCxnSpPr>
        <p:spPr>
          <a:xfrm>
            <a:off x="10288508" y="1006019"/>
            <a:ext cx="255301" cy="0"/>
          </a:xfrm>
          <a:prstGeom prst="line">
            <a:avLst/>
          </a:prstGeom>
          <a:ln w="10160">
            <a:solidFill>
              <a:srgbClr val="178F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Role_eta_b_CurveFaultA_UpperCap"/>
          <p:cNvCxnSpPr/>
          <p:nvPr/>
        </p:nvCxnSpPr>
        <p:spPr>
          <a:xfrm>
            <a:off x="10288508" y="871148"/>
            <a:ext cx="255301" cy="0"/>
          </a:xfrm>
          <a:prstGeom prst="line">
            <a:avLst/>
          </a:prstGeom>
          <a:ln w="10160">
            <a:solidFill>
              <a:srgbClr val="178F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" name="Role_eta_b_CurveFaultA_IQR"/>
          <p:cNvSpPr/>
          <p:nvPr/>
        </p:nvSpPr>
        <p:spPr>
          <a:xfrm>
            <a:off x="10264574" y="929569"/>
            <a:ext cx="303169" cy="40138"/>
          </a:xfrm>
          <a:prstGeom prst="rect">
            <a:avLst/>
          </a:prstGeom>
          <a:solidFill>
            <a:srgbClr val="DCEFE4"/>
          </a:solidFill>
          <a:ln w="10160">
            <a:solidFill>
              <a:srgbClr val="178F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76" name="Role_eta_b_CurveFaultA_Median"/>
          <p:cNvCxnSpPr/>
          <p:nvPr/>
        </p:nvCxnSpPr>
        <p:spPr>
          <a:xfrm>
            <a:off x="10226678" y="951236"/>
            <a:ext cx="378961" cy="0"/>
          </a:xfrm>
          <a:prstGeom prst="line">
            <a:avLst/>
          </a:prstGeom>
          <a:ln w="14604">
            <a:solidFill>
              <a:srgbClr val="252A3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Role_eta_b_CurveFaultB_Whisker"/>
          <p:cNvCxnSpPr/>
          <p:nvPr/>
        </p:nvCxnSpPr>
        <p:spPr>
          <a:xfrm flipV="1">
            <a:off x="11213973" y="951504"/>
            <a:ext cx="0" cy="99453"/>
          </a:xfrm>
          <a:prstGeom prst="line">
            <a:avLst/>
          </a:prstGeom>
          <a:ln w="10160">
            <a:solidFill>
              <a:srgbClr val="178F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Role_eta_b_CurveFaultB_LowerCap"/>
          <p:cNvCxnSpPr/>
          <p:nvPr/>
        </p:nvCxnSpPr>
        <p:spPr>
          <a:xfrm>
            <a:off x="11086322" y="1050957"/>
            <a:ext cx="255301" cy="0"/>
          </a:xfrm>
          <a:prstGeom prst="line">
            <a:avLst/>
          </a:prstGeom>
          <a:ln w="10160">
            <a:solidFill>
              <a:srgbClr val="178F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Role_eta_b_CurveFaultB_UpperCap"/>
          <p:cNvCxnSpPr/>
          <p:nvPr/>
        </p:nvCxnSpPr>
        <p:spPr>
          <a:xfrm>
            <a:off x="11086322" y="951504"/>
            <a:ext cx="255301" cy="0"/>
          </a:xfrm>
          <a:prstGeom prst="line">
            <a:avLst/>
          </a:prstGeom>
          <a:ln w="10160">
            <a:solidFill>
              <a:srgbClr val="178F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0" name="Role_eta_b_CurveFaultB_IQR"/>
          <p:cNvSpPr/>
          <p:nvPr/>
        </p:nvSpPr>
        <p:spPr>
          <a:xfrm>
            <a:off x="11062388" y="991090"/>
            <a:ext cx="303169" cy="26448"/>
          </a:xfrm>
          <a:prstGeom prst="rect">
            <a:avLst/>
          </a:prstGeom>
          <a:solidFill>
            <a:srgbClr val="DCEFE4"/>
          </a:solidFill>
          <a:ln w="10160">
            <a:solidFill>
              <a:srgbClr val="178F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81" name="Role_eta_b_CurveFaultB_Median"/>
          <p:cNvCxnSpPr/>
          <p:nvPr/>
        </p:nvCxnSpPr>
        <p:spPr>
          <a:xfrm>
            <a:off x="11024492" y="1005337"/>
            <a:ext cx="378961" cy="0"/>
          </a:xfrm>
          <a:prstGeom prst="line">
            <a:avLst/>
          </a:prstGeom>
          <a:ln w="14604">
            <a:solidFill>
              <a:srgbClr val="252A3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4" name="RoleYAxis_eta_b">
            <a:extLst>
              <a:ext uri="{FF2B5EF4-FFF2-40B4-BE49-F238E27FC236}">
                <a16:creationId xmlns:a16="http://schemas.microsoft.com/office/drawing/2014/main" id="{4FDF7732-38E3-CBED-426F-5335EB8DAC14}"/>
              </a:ext>
            </a:extLst>
          </p:cNvPr>
          <p:cNvCxnSpPr/>
          <p:nvPr/>
        </p:nvCxnSpPr>
        <p:spPr>
          <a:xfrm>
            <a:off x="11612880" y="758948"/>
            <a:ext cx="0" cy="932687"/>
          </a:xfrm>
          <a:prstGeom prst="line">
            <a:avLst/>
          </a:prstGeom>
          <a:ln w="10160">
            <a:solidFill>
              <a:srgbClr val="4C556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5" name="RoleXAxis_eta_b">
            <a:extLst>
              <a:ext uri="{FF2B5EF4-FFF2-40B4-BE49-F238E27FC236}">
                <a16:creationId xmlns:a16="http://schemas.microsoft.com/office/drawing/2014/main" id="{F57A0477-05E6-EFA9-BB68-4C9B97C0A16A}"/>
              </a:ext>
            </a:extLst>
          </p:cNvPr>
          <p:cNvCxnSpPr/>
          <p:nvPr/>
        </p:nvCxnSpPr>
        <p:spPr>
          <a:xfrm>
            <a:off x="5222125" y="758948"/>
            <a:ext cx="6382512" cy="0"/>
          </a:xfrm>
          <a:prstGeom prst="line">
            <a:avLst/>
          </a:prstGeom>
          <a:ln w="10160">
            <a:solidFill>
              <a:srgbClr val="4C556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RoleGrid_eta_s_0.0"/>
          <p:cNvCxnSpPr/>
          <p:nvPr/>
        </p:nvCxnSpPr>
        <p:spPr>
          <a:xfrm>
            <a:off x="5230368" y="2944902"/>
            <a:ext cx="6382512" cy="0"/>
          </a:xfrm>
          <a:prstGeom prst="line">
            <a:avLst/>
          </a:prstGeom>
          <a:ln w="6350">
            <a:solidFill>
              <a:srgbClr val="E1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3" name="RoleTick_eta_s_0.0"/>
          <p:cNvSpPr txBox="1"/>
          <p:nvPr/>
        </p:nvSpPr>
        <p:spPr>
          <a:xfrm>
            <a:off x="4954808" y="2821792"/>
            <a:ext cx="256481" cy="24622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r"/>
            <a:r>
              <a:rPr sz="1600" b="0" i="0" dirty="0">
                <a:solidFill>
                  <a:srgbClr val="4C5563"/>
                </a:solidFill>
                <a:latin typeface="Times New Roman"/>
              </a:rPr>
              <a:t>0.0</a:t>
            </a:r>
          </a:p>
        </p:txBody>
      </p:sp>
      <p:cxnSp>
        <p:nvCxnSpPr>
          <p:cNvPr id="84" name="RoleGrid_eta_s_0.5"/>
          <p:cNvCxnSpPr/>
          <p:nvPr/>
        </p:nvCxnSpPr>
        <p:spPr>
          <a:xfrm>
            <a:off x="5230368" y="2478557"/>
            <a:ext cx="6382512" cy="0"/>
          </a:xfrm>
          <a:prstGeom prst="line">
            <a:avLst/>
          </a:prstGeom>
          <a:ln w="19050">
            <a:solidFill>
              <a:srgbClr val="E1E5E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5" name="RoleTick_eta_s_0.5"/>
          <p:cNvSpPr txBox="1"/>
          <p:nvPr/>
        </p:nvSpPr>
        <p:spPr>
          <a:xfrm>
            <a:off x="4954808" y="2355447"/>
            <a:ext cx="256481" cy="24622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r"/>
            <a:r>
              <a:rPr sz="1600" b="0" i="0" dirty="0">
                <a:solidFill>
                  <a:srgbClr val="4C5563"/>
                </a:solidFill>
                <a:latin typeface="Times New Roman"/>
              </a:rPr>
              <a:t>0.5</a:t>
            </a:r>
          </a:p>
        </p:txBody>
      </p:sp>
      <p:cxnSp>
        <p:nvCxnSpPr>
          <p:cNvPr id="86" name="RoleGrid_eta_s_1.0"/>
          <p:cNvCxnSpPr/>
          <p:nvPr/>
        </p:nvCxnSpPr>
        <p:spPr>
          <a:xfrm>
            <a:off x="5230368" y="2012214"/>
            <a:ext cx="6382512" cy="0"/>
          </a:xfrm>
          <a:prstGeom prst="line">
            <a:avLst/>
          </a:prstGeom>
          <a:ln w="6350">
            <a:solidFill>
              <a:srgbClr val="E1E5E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7" name="RoleTick_eta_s_1.0"/>
          <p:cNvSpPr txBox="1"/>
          <p:nvPr/>
        </p:nvSpPr>
        <p:spPr>
          <a:xfrm>
            <a:off x="4954808" y="1889103"/>
            <a:ext cx="256481" cy="24622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r"/>
            <a:r>
              <a:rPr sz="1600" b="0" i="0" dirty="0">
                <a:solidFill>
                  <a:srgbClr val="4C5563"/>
                </a:solidFill>
                <a:latin typeface="Times New Roman"/>
              </a:rPr>
              <a:t>1.0</a:t>
            </a:r>
          </a:p>
        </p:txBody>
      </p:sp>
      <p:cxnSp>
        <p:nvCxnSpPr>
          <p:cNvPr id="88" name="RoleYAxis_eta_s"/>
          <p:cNvCxnSpPr/>
          <p:nvPr/>
        </p:nvCxnSpPr>
        <p:spPr>
          <a:xfrm>
            <a:off x="5230368" y="2012214"/>
            <a:ext cx="0" cy="932688"/>
          </a:xfrm>
          <a:prstGeom prst="line">
            <a:avLst/>
          </a:prstGeom>
          <a:ln w="10160">
            <a:solidFill>
              <a:srgbClr val="4C556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RoleXAxis_eta_s"/>
          <p:cNvCxnSpPr/>
          <p:nvPr/>
        </p:nvCxnSpPr>
        <p:spPr>
          <a:xfrm>
            <a:off x="5230368" y="2944902"/>
            <a:ext cx="6382512" cy="0"/>
          </a:xfrm>
          <a:prstGeom prst="line">
            <a:avLst/>
          </a:prstGeom>
          <a:ln w="10160">
            <a:solidFill>
              <a:srgbClr val="4C556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" name="RoleMetric_eta_s"/>
          <p:cNvSpPr txBox="1"/>
          <p:nvPr/>
        </p:nvSpPr>
        <p:spPr>
          <a:xfrm rot="16200000">
            <a:off x="4386283" y="2269805"/>
            <a:ext cx="575479" cy="307777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2000" b="0" i="1" dirty="0" err="1">
                <a:solidFill>
                  <a:srgbClr val="1E63D5"/>
                </a:solidFill>
                <a:latin typeface="Times New Roman"/>
              </a:rPr>
              <a:t>η_S</a:t>
            </a:r>
            <a:r>
              <a:rPr sz="2000" b="0" i="1" dirty="0">
                <a:solidFill>
                  <a:srgbClr val="1E63D5"/>
                </a:solidFill>
                <a:latin typeface="Times New Roman"/>
              </a:rPr>
              <a:t> ↑</a:t>
            </a:r>
          </a:p>
        </p:txBody>
      </p:sp>
      <p:cxnSp>
        <p:nvCxnSpPr>
          <p:cNvPr id="91" name="RoleGlobalMedian_eta_s"/>
          <p:cNvCxnSpPr/>
          <p:nvPr/>
        </p:nvCxnSpPr>
        <p:spPr>
          <a:xfrm>
            <a:off x="5230368" y="2327116"/>
            <a:ext cx="6382512" cy="0"/>
          </a:xfrm>
          <a:prstGeom prst="line">
            <a:avLst/>
          </a:prstGeom>
          <a:ln w="19050">
            <a:solidFill>
              <a:srgbClr val="1E63D5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2" name="RoleGlobalMedianLabel_eta_s"/>
          <p:cNvSpPr txBox="1"/>
          <p:nvPr/>
        </p:nvSpPr>
        <p:spPr>
          <a:xfrm>
            <a:off x="9825215" y="2417003"/>
            <a:ext cx="1721625" cy="307777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r"/>
            <a:r>
              <a:rPr sz="2000" b="0" i="0" dirty="0">
                <a:solidFill>
                  <a:srgbClr val="1E63D5"/>
                </a:solidFill>
                <a:latin typeface="Times New Roman"/>
              </a:rPr>
              <a:t>global med. 0.66</a:t>
            </a:r>
          </a:p>
        </p:txBody>
      </p:sp>
      <p:cxnSp>
        <p:nvCxnSpPr>
          <p:cNvPr id="93" name="Role_eta_s_FlatVelA_Whisker"/>
          <p:cNvCxnSpPr/>
          <p:nvPr/>
        </p:nvCxnSpPr>
        <p:spPr>
          <a:xfrm flipV="1">
            <a:off x="5629275" y="2285762"/>
            <a:ext cx="0" cy="119163"/>
          </a:xfrm>
          <a:prstGeom prst="line">
            <a:avLst/>
          </a:prstGeom>
          <a:ln w="10160">
            <a:solidFill>
              <a:srgbClr val="1E63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Role_eta_s_FlatVelA_LowerCap"/>
          <p:cNvCxnSpPr/>
          <p:nvPr/>
        </p:nvCxnSpPr>
        <p:spPr>
          <a:xfrm>
            <a:off x="5501624" y="2404925"/>
            <a:ext cx="255301" cy="0"/>
          </a:xfrm>
          <a:prstGeom prst="line">
            <a:avLst/>
          </a:prstGeom>
          <a:ln w="10160">
            <a:solidFill>
              <a:srgbClr val="1E63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Role_eta_s_FlatVelA_UpperCap"/>
          <p:cNvCxnSpPr/>
          <p:nvPr/>
        </p:nvCxnSpPr>
        <p:spPr>
          <a:xfrm>
            <a:off x="5501624" y="2285762"/>
            <a:ext cx="255301" cy="0"/>
          </a:xfrm>
          <a:prstGeom prst="line">
            <a:avLst/>
          </a:prstGeom>
          <a:ln w="10160">
            <a:solidFill>
              <a:srgbClr val="1E63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6" name="Role_eta_s_FlatVelA_IQR"/>
          <p:cNvSpPr/>
          <p:nvPr/>
        </p:nvSpPr>
        <p:spPr>
          <a:xfrm>
            <a:off x="5477690" y="2319633"/>
            <a:ext cx="303169" cy="34335"/>
          </a:xfrm>
          <a:prstGeom prst="rect">
            <a:avLst/>
          </a:prstGeom>
          <a:solidFill>
            <a:srgbClr val="DCE8F8"/>
          </a:solidFill>
          <a:ln w="10160">
            <a:solidFill>
              <a:srgbClr val="1E63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97" name="Role_eta_s_FlatVelA_Median"/>
          <p:cNvCxnSpPr/>
          <p:nvPr/>
        </p:nvCxnSpPr>
        <p:spPr>
          <a:xfrm>
            <a:off x="5439794" y="2335995"/>
            <a:ext cx="378961" cy="0"/>
          </a:xfrm>
          <a:prstGeom prst="line">
            <a:avLst/>
          </a:prstGeom>
          <a:ln w="14604">
            <a:solidFill>
              <a:srgbClr val="252A3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Role_eta_s_FlatVelB_Whisker"/>
          <p:cNvCxnSpPr/>
          <p:nvPr/>
        </p:nvCxnSpPr>
        <p:spPr>
          <a:xfrm flipV="1">
            <a:off x="6427089" y="2286108"/>
            <a:ext cx="0" cy="122926"/>
          </a:xfrm>
          <a:prstGeom prst="line">
            <a:avLst/>
          </a:prstGeom>
          <a:ln w="10160">
            <a:solidFill>
              <a:srgbClr val="1E63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Role_eta_s_FlatVelB_LowerCap"/>
          <p:cNvCxnSpPr/>
          <p:nvPr/>
        </p:nvCxnSpPr>
        <p:spPr>
          <a:xfrm>
            <a:off x="6299438" y="2409034"/>
            <a:ext cx="255301" cy="0"/>
          </a:xfrm>
          <a:prstGeom prst="line">
            <a:avLst/>
          </a:prstGeom>
          <a:ln w="10160">
            <a:solidFill>
              <a:srgbClr val="1E63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Role_eta_s_FlatVelB_UpperCap"/>
          <p:cNvCxnSpPr/>
          <p:nvPr/>
        </p:nvCxnSpPr>
        <p:spPr>
          <a:xfrm>
            <a:off x="6299438" y="2286108"/>
            <a:ext cx="255301" cy="0"/>
          </a:xfrm>
          <a:prstGeom prst="line">
            <a:avLst/>
          </a:prstGeom>
          <a:ln w="10160">
            <a:solidFill>
              <a:srgbClr val="1E63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1" name="Role_eta_s_FlatVelB_IQR"/>
          <p:cNvSpPr/>
          <p:nvPr/>
        </p:nvSpPr>
        <p:spPr>
          <a:xfrm>
            <a:off x="6275504" y="2315419"/>
            <a:ext cx="303169" cy="37734"/>
          </a:xfrm>
          <a:prstGeom prst="rect">
            <a:avLst/>
          </a:prstGeom>
          <a:solidFill>
            <a:srgbClr val="DCE8F8"/>
          </a:solidFill>
          <a:ln w="10160">
            <a:solidFill>
              <a:srgbClr val="1E63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02" name="Role_eta_s_FlatVelB_Median"/>
          <p:cNvCxnSpPr/>
          <p:nvPr/>
        </p:nvCxnSpPr>
        <p:spPr>
          <a:xfrm>
            <a:off x="6237608" y="2332311"/>
            <a:ext cx="378961" cy="0"/>
          </a:xfrm>
          <a:prstGeom prst="line">
            <a:avLst/>
          </a:prstGeom>
          <a:ln w="14604">
            <a:solidFill>
              <a:srgbClr val="252A3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Role_eta_s_CurveVelA_Whisker"/>
          <p:cNvCxnSpPr/>
          <p:nvPr/>
        </p:nvCxnSpPr>
        <p:spPr>
          <a:xfrm flipV="1">
            <a:off x="7224903" y="2267977"/>
            <a:ext cx="0" cy="105599"/>
          </a:xfrm>
          <a:prstGeom prst="line">
            <a:avLst/>
          </a:prstGeom>
          <a:ln w="10160">
            <a:solidFill>
              <a:srgbClr val="1E63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Role_eta_s_CurveVelA_LowerCap"/>
          <p:cNvCxnSpPr/>
          <p:nvPr/>
        </p:nvCxnSpPr>
        <p:spPr>
          <a:xfrm>
            <a:off x="7097252" y="2373576"/>
            <a:ext cx="255301" cy="0"/>
          </a:xfrm>
          <a:prstGeom prst="line">
            <a:avLst/>
          </a:prstGeom>
          <a:ln w="10160">
            <a:solidFill>
              <a:srgbClr val="1E63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Role_eta_s_CurveVelA_UpperCap"/>
          <p:cNvCxnSpPr/>
          <p:nvPr/>
        </p:nvCxnSpPr>
        <p:spPr>
          <a:xfrm>
            <a:off x="7097252" y="2267977"/>
            <a:ext cx="255301" cy="0"/>
          </a:xfrm>
          <a:prstGeom prst="line">
            <a:avLst/>
          </a:prstGeom>
          <a:ln w="10160">
            <a:solidFill>
              <a:srgbClr val="1E63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6" name="Role_eta_s_CurveVelA_IQR"/>
          <p:cNvSpPr/>
          <p:nvPr/>
        </p:nvSpPr>
        <p:spPr>
          <a:xfrm>
            <a:off x="7073318" y="2300540"/>
            <a:ext cx="303169" cy="29345"/>
          </a:xfrm>
          <a:prstGeom prst="rect">
            <a:avLst/>
          </a:prstGeom>
          <a:solidFill>
            <a:srgbClr val="DCE8F8"/>
          </a:solidFill>
          <a:ln w="10160">
            <a:solidFill>
              <a:srgbClr val="1E63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07" name="Role_eta_s_CurveVelA_Median"/>
          <p:cNvCxnSpPr/>
          <p:nvPr/>
        </p:nvCxnSpPr>
        <p:spPr>
          <a:xfrm>
            <a:off x="7035422" y="2312859"/>
            <a:ext cx="378961" cy="0"/>
          </a:xfrm>
          <a:prstGeom prst="line">
            <a:avLst/>
          </a:prstGeom>
          <a:ln w="14604">
            <a:solidFill>
              <a:srgbClr val="252A3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Role_eta_s_CurveVelB_Whisker"/>
          <p:cNvCxnSpPr/>
          <p:nvPr/>
        </p:nvCxnSpPr>
        <p:spPr>
          <a:xfrm flipV="1">
            <a:off x="8022717" y="2279567"/>
            <a:ext cx="0" cy="97858"/>
          </a:xfrm>
          <a:prstGeom prst="line">
            <a:avLst/>
          </a:prstGeom>
          <a:ln w="10160">
            <a:solidFill>
              <a:srgbClr val="1E63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Role_eta_s_CurveVelB_LowerCap"/>
          <p:cNvCxnSpPr/>
          <p:nvPr/>
        </p:nvCxnSpPr>
        <p:spPr>
          <a:xfrm>
            <a:off x="7895066" y="2377425"/>
            <a:ext cx="255301" cy="0"/>
          </a:xfrm>
          <a:prstGeom prst="line">
            <a:avLst/>
          </a:prstGeom>
          <a:ln w="10160">
            <a:solidFill>
              <a:srgbClr val="1E63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Role_eta_s_CurveVelB_UpperCap"/>
          <p:cNvCxnSpPr/>
          <p:nvPr/>
        </p:nvCxnSpPr>
        <p:spPr>
          <a:xfrm>
            <a:off x="7895066" y="2279567"/>
            <a:ext cx="255301" cy="0"/>
          </a:xfrm>
          <a:prstGeom prst="line">
            <a:avLst/>
          </a:prstGeom>
          <a:ln w="10160">
            <a:solidFill>
              <a:srgbClr val="1E63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1" name="Role_eta_s_CurveVelB_IQR"/>
          <p:cNvSpPr/>
          <p:nvPr/>
        </p:nvSpPr>
        <p:spPr>
          <a:xfrm>
            <a:off x="7871132" y="2309193"/>
            <a:ext cx="303169" cy="27387"/>
          </a:xfrm>
          <a:prstGeom prst="rect">
            <a:avLst/>
          </a:prstGeom>
          <a:solidFill>
            <a:srgbClr val="DCE8F8"/>
          </a:solidFill>
          <a:ln w="10160">
            <a:solidFill>
              <a:srgbClr val="1E63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12" name="Role_eta_s_CurveVelB_Median"/>
          <p:cNvCxnSpPr/>
          <p:nvPr/>
        </p:nvCxnSpPr>
        <p:spPr>
          <a:xfrm>
            <a:off x="7833236" y="2321881"/>
            <a:ext cx="378961" cy="0"/>
          </a:xfrm>
          <a:prstGeom prst="line">
            <a:avLst/>
          </a:prstGeom>
          <a:ln w="14604">
            <a:solidFill>
              <a:srgbClr val="252A3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" name="Role_eta_s_FlatFaultA_Whisker"/>
          <p:cNvCxnSpPr/>
          <p:nvPr/>
        </p:nvCxnSpPr>
        <p:spPr>
          <a:xfrm flipV="1">
            <a:off x="8820531" y="2316646"/>
            <a:ext cx="0" cy="96163"/>
          </a:xfrm>
          <a:prstGeom prst="line">
            <a:avLst/>
          </a:prstGeom>
          <a:ln w="10160">
            <a:solidFill>
              <a:srgbClr val="1E63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" name="Role_eta_s_FlatFaultA_LowerCap"/>
          <p:cNvCxnSpPr/>
          <p:nvPr/>
        </p:nvCxnSpPr>
        <p:spPr>
          <a:xfrm>
            <a:off x="8692880" y="2412809"/>
            <a:ext cx="255301" cy="0"/>
          </a:xfrm>
          <a:prstGeom prst="line">
            <a:avLst/>
          </a:prstGeom>
          <a:ln w="10160">
            <a:solidFill>
              <a:srgbClr val="1E63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" name="Role_eta_s_FlatFaultA_UpperCap"/>
          <p:cNvCxnSpPr/>
          <p:nvPr/>
        </p:nvCxnSpPr>
        <p:spPr>
          <a:xfrm>
            <a:off x="8692880" y="2316646"/>
            <a:ext cx="255301" cy="0"/>
          </a:xfrm>
          <a:prstGeom prst="line">
            <a:avLst/>
          </a:prstGeom>
          <a:ln w="10160">
            <a:solidFill>
              <a:srgbClr val="1E63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6" name="Role_eta_s_FlatFaultA_IQR"/>
          <p:cNvSpPr/>
          <p:nvPr/>
        </p:nvSpPr>
        <p:spPr>
          <a:xfrm>
            <a:off x="8668946" y="2352728"/>
            <a:ext cx="303169" cy="24081"/>
          </a:xfrm>
          <a:prstGeom prst="rect">
            <a:avLst/>
          </a:prstGeom>
          <a:solidFill>
            <a:srgbClr val="DCE8F8"/>
          </a:solidFill>
          <a:ln w="10160">
            <a:solidFill>
              <a:srgbClr val="1E63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17" name="Role_eta_s_FlatFaultA_Median"/>
          <p:cNvCxnSpPr/>
          <p:nvPr/>
        </p:nvCxnSpPr>
        <p:spPr>
          <a:xfrm>
            <a:off x="8631050" y="2363529"/>
            <a:ext cx="378961" cy="0"/>
          </a:xfrm>
          <a:prstGeom prst="line">
            <a:avLst/>
          </a:prstGeom>
          <a:ln w="14604">
            <a:solidFill>
              <a:srgbClr val="252A3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" name="Role_eta_s_FlatFaultB_Whisker"/>
          <p:cNvCxnSpPr/>
          <p:nvPr/>
        </p:nvCxnSpPr>
        <p:spPr>
          <a:xfrm flipV="1">
            <a:off x="9618345" y="2268391"/>
            <a:ext cx="0" cy="63086"/>
          </a:xfrm>
          <a:prstGeom prst="line">
            <a:avLst/>
          </a:prstGeom>
          <a:ln w="10160">
            <a:solidFill>
              <a:srgbClr val="1E63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Role_eta_s_FlatFaultB_LowerCap"/>
          <p:cNvCxnSpPr/>
          <p:nvPr/>
        </p:nvCxnSpPr>
        <p:spPr>
          <a:xfrm>
            <a:off x="9490694" y="2331477"/>
            <a:ext cx="255301" cy="0"/>
          </a:xfrm>
          <a:prstGeom prst="line">
            <a:avLst/>
          </a:prstGeom>
          <a:ln w="10160">
            <a:solidFill>
              <a:srgbClr val="1E63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" name="Role_eta_s_FlatFaultB_UpperCap"/>
          <p:cNvCxnSpPr/>
          <p:nvPr/>
        </p:nvCxnSpPr>
        <p:spPr>
          <a:xfrm>
            <a:off x="9490694" y="2268391"/>
            <a:ext cx="255301" cy="0"/>
          </a:xfrm>
          <a:prstGeom prst="line">
            <a:avLst/>
          </a:prstGeom>
          <a:ln w="10160">
            <a:solidFill>
              <a:srgbClr val="1E63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1" name="Role_eta_s_FlatFaultB_IQR"/>
          <p:cNvSpPr/>
          <p:nvPr/>
        </p:nvSpPr>
        <p:spPr>
          <a:xfrm>
            <a:off x="9466760" y="2290759"/>
            <a:ext cx="303169" cy="16388"/>
          </a:xfrm>
          <a:prstGeom prst="rect">
            <a:avLst/>
          </a:prstGeom>
          <a:solidFill>
            <a:srgbClr val="DCE8F8"/>
          </a:solidFill>
          <a:ln w="10160">
            <a:solidFill>
              <a:srgbClr val="1E63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22" name="Role_eta_s_FlatFaultB_Median"/>
          <p:cNvCxnSpPr/>
          <p:nvPr/>
        </p:nvCxnSpPr>
        <p:spPr>
          <a:xfrm>
            <a:off x="9428864" y="2298504"/>
            <a:ext cx="378961" cy="0"/>
          </a:xfrm>
          <a:prstGeom prst="line">
            <a:avLst/>
          </a:prstGeom>
          <a:ln w="14604">
            <a:solidFill>
              <a:srgbClr val="252A3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3" name="Role_eta_s_CurveFaultA_Whisker"/>
          <p:cNvCxnSpPr/>
          <p:nvPr/>
        </p:nvCxnSpPr>
        <p:spPr>
          <a:xfrm flipV="1">
            <a:off x="10416159" y="2332619"/>
            <a:ext cx="0" cy="74863"/>
          </a:xfrm>
          <a:prstGeom prst="line">
            <a:avLst/>
          </a:prstGeom>
          <a:ln w="10160">
            <a:solidFill>
              <a:srgbClr val="1E63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" name="Role_eta_s_CurveFaultA_LowerCap"/>
          <p:cNvCxnSpPr/>
          <p:nvPr/>
        </p:nvCxnSpPr>
        <p:spPr>
          <a:xfrm>
            <a:off x="10288508" y="2407482"/>
            <a:ext cx="255301" cy="0"/>
          </a:xfrm>
          <a:prstGeom prst="line">
            <a:avLst/>
          </a:prstGeom>
          <a:ln w="10160">
            <a:solidFill>
              <a:srgbClr val="1E63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" name="Role_eta_s_CurveFaultA_UpperCap"/>
          <p:cNvCxnSpPr/>
          <p:nvPr/>
        </p:nvCxnSpPr>
        <p:spPr>
          <a:xfrm>
            <a:off x="10288508" y="2332619"/>
            <a:ext cx="255301" cy="0"/>
          </a:xfrm>
          <a:prstGeom prst="line">
            <a:avLst/>
          </a:prstGeom>
          <a:ln w="10160">
            <a:solidFill>
              <a:srgbClr val="1E63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6" name="Role_eta_s_CurveFaultA_IQR"/>
          <p:cNvSpPr/>
          <p:nvPr/>
        </p:nvSpPr>
        <p:spPr>
          <a:xfrm>
            <a:off x="10264574" y="2360580"/>
            <a:ext cx="303169" cy="18808"/>
          </a:xfrm>
          <a:prstGeom prst="rect">
            <a:avLst/>
          </a:prstGeom>
          <a:solidFill>
            <a:srgbClr val="DCE8F8"/>
          </a:solidFill>
          <a:ln w="10160">
            <a:solidFill>
              <a:srgbClr val="1E63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27" name="Role_eta_s_CurveFaultA_Median"/>
          <p:cNvCxnSpPr/>
          <p:nvPr/>
        </p:nvCxnSpPr>
        <p:spPr>
          <a:xfrm>
            <a:off x="10226678" y="2369168"/>
            <a:ext cx="378961" cy="0"/>
          </a:xfrm>
          <a:prstGeom prst="line">
            <a:avLst/>
          </a:prstGeom>
          <a:ln w="14604">
            <a:solidFill>
              <a:srgbClr val="252A3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8" name="Role_eta_s_CurveFaultB_Whisker"/>
          <p:cNvCxnSpPr/>
          <p:nvPr/>
        </p:nvCxnSpPr>
        <p:spPr>
          <a:xfrm flipV="1">
            <a:off x="11213973" y="2261857"/>
            <a:ext cx="0" cy="74608"/>
          </a:xfrm>
          <a:prstGeom prst="line">
            <a:avLst/>
          </a:prstGeom>
          <a:ln w="10160">
            <a:solidFill>
              <a:srgbClr val="1E63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9" name="Role_eta_s_CurveFaultB_LowerCap"/>
          <p:cNvCxnSpPr/>
          <p:nvPr/>
        </p:nvCxnSpPr>
        <p:spPr>
          <a:xfrm>
            <a:off x="11086322" y="2336465"/>
            <a:ext cx="255301" cy="0"/>
          </a:xfrm>
          <a:prstGeom prst="line">
            <a:avLst/>
          </a:prstGeom>
          <a:ln w="10160">
            <a:solidFill>
              <a:srgbClr val="1E63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0" name="Role_eta_s_CurveFaultB_UpperCap"/>
          <p:cNvCxnSpPr/>
          <p:nvPr/>
        </p:nvCxnSpPr>
        <p:spPr>
          <a:xfrm>
            <a:off x="11086322" y="2261857"/>
            <a:ext cx="255301" cy="0"/>
          </a:xfrm>
          <a:prstGeom prst="line">
            <a:avLst/>
          </a:prstGeom>
          <a:ln w="10160">
            <a:solidFill>
              <a:srgbClr val="1E63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1" name="Role_eta_s_CurveFaultB_IQR"/>
          <p:cNvSpPr/>
          <p:nvPr/>
        </p:nvSpPr>
        <p:spPr>
          <a:xfrm>
            <a:off x="11062388" y="2289820"/>
            <a:ext cx="303169" cy="18662"/>
          </a:xfrm>
          <a:prstGeom prst="rect">
            <a:avLst/>
          </a:prstGeom>
          <a:solidFill>
            <a:srgbClr val="DCE8F8"/>
          </a:solidFill>
          <a:ln w="10160">
            <a:solidFill>
              <a:srgbClr val="1E63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32" name="Role_eta_s_CurveFaultB_Median"/>
          <p:cNvCxnSpPr/>
          <p:nvPr/>
        </p:nvCxnSpPr>
        <p:spPr>
          <a:xfrm>
            <a:off x="11024492" y="2298623"/>
            <a:ext cx="378961" cy="0"/>
          </a:xfrm>
          <a:prstGeom prst="line">
            <a:avLst/>
          </a:prstGeom>
          <a:ln w="14604">
            <a:solidFill>
              <a:srgbClr val="252A3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6" name="RoleYAxis_eta_b">
            <a:extLst>
              <a:ext uri="{FF2B5EF4-FFF2-40B4-BE49-F238E27FC236}">
                <a16:creationId xmlns:a16="http://schemas.microsoft.com/office/drawing/2014/main" id="{3A467FAF-A31E-E5B0-71A4-B7479C4AC964}"/>
              </a:ext>
            </a:extLst>
          </p:cNvPr>
          <p:cNvCxnSpPr/>
          <p:nvPr/>
        </p:nvCxnSpPr>
        <p:spPr>
          <a:xfrm>
            <a:off x="11622528" y="2012215"/>
            <a:ext cx="0" cy="932687"/>
          </a:xfrm>
          <a:prstGeom prst="line">
            <a:avLst/>
          </a:prstGeom>
          <a:ln w="10160">
            <a:solidFill>
              <a:srgbClr val="4C556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7" name="RoleXAxis_eta_b">
            <a:extLst>
              <a:ext uri="{FF2B5EF4-FFF2-40B4-BE49-F238E27FC236}">
                <a16:creationId xmlns:a16="http://schemas.microsoft.com/office/drawing/2014/main" id="{CB80D17F-08BA-9B2B-63BF-A7CA7F0DDB89}"/>
              </a:ext>
            </a:extLst>
          </p:cNvPr>
          <p:cNvCxnSpPr/>
          <p:nvPr/>
        </p:nvCxnSpPr>
        <p:spPr>
          <a:xfrm>
            <a:off x="5231773" y="2012215"/>
            <a:ext cx="6382512" cy="0"/>
          </a:xfrm>
          <a:prstGeom prst="line">
            <a:avLst/>
          </a:prstGeom>
          <a:ln w="10160">
            <a:solidFill>
              <a:srgbClr val="4C556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3" name="RoleGrid_chi_bs_0.0"/>
          <p:cNvCxnSpPr/>
          <p:nvPr/>
        </p:nvCxnSpPr>
        <p:spPr>
          <a:xfrm>
            <a:off x="5230368" y="4207309"/>
            <a:ext cx="6382512" cy="0"/>
          </a:xfrm>
          <a:prstGeom prst="line">
            <a:avLst/>
          </a:prstGeom>
          <a:ln w="6350">
            <a:solidFill>
              <a:srgbClr val="E1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4" name="RoleTick_chi_bs_0.0"/>
          <p:cNvSpPr txBox="1"/>
          <p:nvPr/>
        </p:nvSpPr>
        <p:spPr>
          <a:xfrm>
            <a:off x="4954808" y="4084199"/>
            <a:ext cx="256481" cy="24622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r"/>
            <a:r>
              <a:rPr sz="1600" b="0" i="0" dirty="0">
                <a:solidFill>
                  <a:srgbClr val="4C5563"/>
                </a:solidFill>
                <a:latin typeface="Times New Roman"/>
              </a:rPr>
              <a:t>0.0</a:t>
            </a:r>
          </a:p>
        </p:txBody>
      </p:sp>
      <p:cxnSp>
        <p:nvCxnSpPr>
          <p:cNvPr id="135" name="RoleGrid_chi_bs_0.5"/>
          <p:cNvCxnSpPr/>
          <p:nvPr/>
        </p:nvCxnSpPr>
        <p:spPr>
          <a:xfrm>
            <a:off x="5230368" y="3740965"/>
            <a:ext cx="6382512" cy="0"/>
          </a:xfrm>
          <a:prstGeom prst="line">
            <a:avLst/>
          </a:prstGeom>
          <a:ln w="19050">
            <a:solidFill>
              <a:srgbClr val="E1E5E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6" name="RoleTick_chi_bs_0.5"/>
          <p:cNvSpPr txBox="1"/>
          <p:nvPr/>
        </p:nvSpPr>
        <p:spPr>
          <a:xfrm>
            <a:off x="4954808" y="3617855"/>
            <a:ext cx="256481" cy="24622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r"/>
            <a:r>
              <a:rPr sz="1600" b="0" i="0" dirty="0">
                <a:solidFill>
                  <a:srgbClr val="4C5563"/>
                </a:solidFill>
                <a:latin typeface="Times New Roman"/>
              </a:rPr>
              <a:t>0.5</a:t>
            </a:r>
          </a:p>
        </p:txBody>
      </p:sp>
      <p:cxnSp>
        <p:nvCxnSpPr>
          <p:cNvPr id="137" name="RoleGrid_chi_bs_1.0"/>
          <p:cNvCxnSpPr/>
          <p:nvPr/>
        </p:nvCxnSpPr>
        <p:spPr>
          <a:xfrm>
            <a:off x="5230368" y="3274621"/>
            <a:ext cx="6382512" cy="0"/>
          </a:xfrm>
          <a:prstGeom prst="line">
            <a:avLst/>
          </a:prstGeom>
          <a:ln w="6350">
            <a:solidFill>
              <a:srgbClr val="E1E5E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8" name="RoleTick_chi_bs_1.0"/>
          <p:cNvSpPr txBox="1"/>
          <p:nvPr/>
        </p:nvSpPr>
        <p:spPr>
          <a:xfrm>
            <a:off x="4954808" y="3151510"/>
            <a:ext cx="256481" cy="24622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r"/>
            <a:r>
              <a:rPr sz="1600" b="0" i="0" dirty="0">
                <a:solidFill>
                  <a:srgbClr val="4C5563"/>
                </a:solidFill>
                <a:latin typeface="Times New Roman"/>
              </a:rPr>
              <a:t>1.0</a:t>
            </a:r>
          </a:p>
        </p:txBody>
      </p:sp>
      <p:cxnSp>
        <p:nvCxnSpPr>
          <p:cNvPr id="139" name="RoleYAxis_chi_bs"/>
          <p:cNvCxnSpPr/>
          <p:nvPr/>
        </p:nvCxnSpPr>
        <p:spPr>
          <a:xfrm>
            <a:off x="5230368" y="3274621"/>
            <a:ext cx="0" cy="932688"/>
          </a:xfrm>
          <a:prstGeom prst="line">
            <a:avLst/>
          </a:prstGeom>
          <a:ln w="10160">
            <a:solidFill>
              <a:srgbClr val="4C556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0" name="RoleXAxis_chi_bs"/>
          <p:cNvCxnSpPr/>
          <p:nvPr/>
        </p:nvCxnSpPr>
        <p:spPr>
          <a:xfrm>
            <a:off x="5230368" y="4207309"/>
            <a:ext cx="6382512" cy="0"/>
          </a:xfrm>
          <a:prstGeom prst="line">
            <a:avLst/>
          </a:prstGeom>
          <a:ln w="10160">
            <a:solidFill>
              <a:srgbClr val="4C556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1" name="RoleMetric_chi_bs"/>
          <p:cNvSpPr txBox="1"/>
          <p:nvPr/>
        </p:nvSpPr>
        <p:spPr>
          <a:xfrm rot="16200000">
            <a:off x="4326673" y="3532213"/>
            <a:ext cx="718146" cy="307777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2000" b="0" i="1" dirty="0" err="1">
                <a:solidFill>
                  <a:srgbClr val="8357A6"/>
                </a:solidFill>
                <a:latin typeface="Times New Roman"/>
              </a:rPr>
              <a:t>χ_BS</a:t>
            </a:r>
            <a:r>
              <a:rPr sz="2000" b="0" i="1" dirty="0">
                <a:solidFill>
                  <a:srgbClr val="8357A6"/>
                </a:solidFill>
                <a:latin typeface="Times New Roman"/>
              </a:rPr>
              <a:t> ↓</a:t>
            </a:r>
          </a:p>
        </p:txBody>
      </p:sp>
      <p:cxnSp>
        <p:nvCxnSpPr>
          <p:cNvPr id="142" name="RoleGlobalMedian_chi_bs"/>
          <p:cNvCxnSpPr/>
          <p:nvPr/>
        </p:nvCxnSpPr>
        <p:spPr>
          <a:xfrm>
            <a:off x="5230368" y="4047290"/>
            <a:ext cx="6382512" cy="0"/>
          </a:xfrm>
          <a:prstGeom prst="line">
            <a:avLst/>
          </a:prstGeom>
          <a:ln w="12700">
            <a:solidFill>
              <a:srgbClr val="8357A6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3" name="RoleGlobalMedianLabel_chi_bs"/>
          <p:cNvSpPr txBox="1"/>
          <p:nvPr/>
        </p:nvSpPr>
        <p:spPr>
          <a:xfrm>
            <a:off x="9763239" y="3248750"/>
            <a:ext cx="1721625" cy="307777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r"/>
            <a:r>
              <a:rPr sz="2000" b="0" i="0" dirty="0">
                <a:solidFill>
                  <a:srgbClr val="8357A6"/>
                </a:solidFill>
                <a:latin typeface="Times New Roman"/>
              </a:rPr>
              <a:t>global med. 0.17</a:t>
            </a:r>
          </a:p>
        </p:txBody>
      </p:sp>
      <p:cxnSp>
        <p:nvCxnSpPr>
          <p:cNvPr id="144" name="Role_chi_bs_FlatVelA_Whisker"/>
          <p:cNvCxnSpPr/>
          <p:nvPr/>
        </p:nvCxnSpPr>
        <p:spPr>
          <a:xfrm flipV="1">
            <a:off x="5629275" y="3986901"/>
            <a:ext cx="0" cy="218847"/>
          </a:xfrm>
          <a:prstGeom prst="line">
            <a:avLst/>
          </a:prstGeom>
          <a:ln w="10160">
            <a:solidFill>
              <a:srgbClr val="8357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5" name="Role_chi_bs_FlatVelA_LowerCap"/>
          <p:cNvCxnSpPr/>
          <p:nvPr/>
        </p:nvCxnSpPr>
        <p:spPr>
          <a:xfrm>
            <a:off x="5501624" y="4205748"/>
            <a:ext cx="255301" cy="0"/>
          </a:xfrm>
          <a:prstGeom prst="line">
            <a:avLst/>
          </a:prstGeom>
          <a:ln w="10160">
            <a:solidFill>
              <a:srgbClr val="8357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6" name="Role_chi_bs_FlatVelA_UpperCap"/>
          <p:cNvCxnSpPr/>
          <p:nvPr/>
        </p:nvCxnSpPr>
        <p:spPr>
          <a:xfrm>
            <a:off x="5501624" y="3986901"/>
            <a:ext cx="255301" cy="0"/>
          </a:xfrm>
          <a:prstGeom prst="line">
            <a:avLst/>
          </a:prstGeom>
          <a:ln w="10160">
            <a:solidFill>
              <a:srgbClr val="8357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7" name="Role_chi_bs_FlatVelA_IQR"/>
          <p:cNvSpPr/>
          <p:nvPr/>
        </p:nvSpPr>
        <p:spPr>
          <a:xfrm>
            <a:off x="5477690" y="4071349"/>
            <a:ext cx="303169" cy="56304"/>
          </a:xfrm>
          <a:prstGeom prst="rect">
            <a:avLst/>
          </a:prstGeom>
          <a:solidFill>
            <a:srgbClr val="E9E0F0"/>
          </a:solidFill>
          <a:ln w="10160">
            <a:solidFill>
              <a:srgbClr val="8357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48" name="Role_chi_bs_FlatVelA_Median"/>
          <p:cNvCxnSpPr/>
          <p:nvPr/>
        </p:nvCxnSpPr>
        <p:spPr>
          <a:xfrm>
            <a:off x="5439794" y="4099806"/>
            <a:ext cx="378961" cy="0"/>
          </a:xfrm>
          <a:prstGeom prst="line">
            <a:avLst/>
          </a:prstGeom>
          <a:ln w="14604">
            <a:solidFill>
              <a:srgbClr val="252A3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0" name="Role_chi_bs_FlatVelB_Whisker"/>
          <p:cNvCxnSpPr/>
          <p:nvPr/>
        </p:nvCxnSpPr>
        <p:spPr>
          <a:xfrm flipV="1">
            <a:off x="6427089" y="3840536"/>
            <a:ext cx="0" cy="362802"/>
          </a:xfrm>
          <a:prstGeom prst="line">
            <a:avLst/>
          </a:prstGeom>
          <a:ln w="10160">
            <a:solidFill>
              <a:srgbClr val="8357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1" name="Role_chi_bs_FlatVelB_LowerCap"/>
          <p:cNvCxnSpPr/>
          <p:nvPr/>
        </p:nvCxnSpPr>
        <p:spPr>
          <a:xfrm>
            <a:off x="6299438" y="4203338"/>
            <a:ext cx="255301" cy="0"/>
          </a:xfrm>
          <a:prstGeom prst="line">
            <a:avLst/>
          </a:prstGeom>
          <a:ln w="10160">
            <a:solidFill>
              <a:srgbClr val="8357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2" name="Role_chi_bs_FlatVelB_UpperCap"/>
          <p:cNvCxnSpPr/>
          <p:nvPr/>
        </p:nvCxnSpPr>
        <p:spPr>
          <a:xfrm>
            <a:off x="6299438" y="3840536"/>
            <a:ext cx="255301" cy="0"/>
          </a:xfrm>
          <a:prstGeom prst="line">
            <a:avLst/>
          </a:prstGeom>
          <a:ln w="10160">
            <a:solidFill>
              <a:srgbClr val="8357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3" name="Role_chi_bs_FlatVelB_IQR"/>
          <p:cNvSpPr/>
          <p:nvPr/>
        </p:nvSpPr>
        <p:spPr>
          <a:xfrm>
            <a:off x="6275504" y="3989062"/>
            <a:ext cx="303169" cy="99347"/>
          </a:xfrm>
          <a:prstGeom prst="rect">
            <a:avLst/>
          </a:prstGeom>
          <a:solidFill>
            <a:srgbClr val="E9E0F0"/>
          </a:solidFill>
          <a:ln w="10160">
            <a:solidFill>
              <a:srgbClr val="8357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54" name="Role_chi_bs_FlatVelB_Median"/>
          <p:cNvCxnSpPr/>
          <p:nvPr/>
        </p:nvCxnSpPr>
        <p:spPr>
          <a:xfrm>
            <a:off x="6237608" y="4039099"/>
            <a:ext cx="378961" cy="0"/>
          </a:xfrm>
          <a:prstGeom prst="line">
            <a:avLst/>
          </a:prstGeom>
          <a:ln w="14604">
            <a:solidFill>
              <a:srgbClr val="252A3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6" name="Role_chi_bs_CurveVelA_Whisker"/>
          <p:cNvCxnSpPr/>
          <p:nvPr/>
        </p:nvCxnSpPr>
        <p:spPr>
          <a:xfrm flipV="1">
            <a:off x="7224903" y="3919359"/>
            <a:ext cx="0" cy="287863"/>
          </a:xfrm>
          <a:prstGeom prst="line">
            <a:avLst/>
          </a:prstGeom>
          <a:ln w="10160">
            <a:solidFill>
              <a:srgbClr val="8357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7" name="Role_chi_bs_CurveVelA_LowerCap"/>
          <p:cNvCxnSpPr/>
          <p:nvPr/>
        </p:nvCxnSpPr>
        <p:spPr>
          <a:xfrm>
            <a:off x="7097252" y="4207222"/>
            <a:ext cx="255301" cy="0"/>
          </a:xfrm>
          <a:prstGeom prst="line">
            <a:avLst/>
          </a:prstGeom>
          <a:ln w="10160">
            <a:solidFill>
              <a:srgbClr val="8357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8" name="Role_chi_bs_CurveVelA_UpperCap"/>
          <p:cNvCxnSpPr/>
          <p:nvPr/>
        </p:nvCxnSpPr>
        <p:spPr>
          <a:xfrm>
            <a:off x="7097252" y="3919359"/>
            <a:ext cx="255301" cy="0"/>
          </a:xfrm>
          <a:prstGeom prst="line">
            <a:avLst/>
          </a:prstGeom>
          <a:ln w="10160">
            <a:solidFill>
              <a:srgbClr val="8357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9" name="Role_chi_bs_CurveVelA_IQR"/>
          <p:cNvSpPr/>
          <p:nvPr/>
        </p:nvSpPr>
        <p:spPr>
          <a:xfrm>
            <a:off x="7073318" y="4051110"/>
            <a:ext cx="303169" cy="91063"/>
          </a:xfrm>
          <a:prstGeom prst="rect">
            <a:avLst/>
          </a:prstGeom>
          <a:solidFill>
            <a:srgbClr val="E9E0F0"/>
          </a:solidFill>
          <a:ln w="10160">
            <a:solidFill>
              <a:srgbClr val="8357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60" name="Role_chi_bs_CurveVelA_Median"/>
          <p:cNvCxnSpPr/>
          <p:nvPr/>
        </p:nvCxnSpPr>
        <p:spPr>
          <a:xfrm>
            <a:off x="7035422" y="4100611"/>
            <a:ext cx="378961" cy="0"/>
          </a:xfrm>
          <a:prstGeom prst="line">
            <a:avLst/>
          </a:prstGeom>
          <a:ln w="14604">
            <a:solidFill>
              <a:srgbClr val="252A3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2" name="Role_chi_bs_CurveVelB_Whisker"/>
          <p:cNvCxnSpPr/>
          <p:nvPr/>
        </p:nvCxnSpPr>
        <p:spPr>
          <a:xfrm flipV="1">
            <a:off x="8022717" y="3669380"/>
            <a:ext cx="0" cy="537605"/>
          </a:xfrm>
          <a:prstGeom prst="line">
            <a:avLst/>
          </a:prstGeom>
          <a:ln w="10160">
            <a:solidFill>
              <a:srgbClr val="8357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3" name="Role_chi_bs_CurveVelB_LowerCap"/>
          <p:cNvCxnSpPr/>
          <p:nvPr/>
        </p:nvCxnSpPr>
        <p:spPr>
          <a:xfrm>
            <a:off x="7895066" y="4206985"/>
            <a:ext cx="255301" cy="0"/>
          </a:xfrm>
          <a:prstGeom prst="line">
            <a:avLst/>
          </a:prstGeom>
          <a:ln w="10160">
            <a:solidFill>
              <a:srgbClr val="8357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4" name="Role_chi_bs_CurveVelB_UpperCap"/>
          <p:cNvCxnSpPr/>
          <p:nvPr/>
        </p:nvCxnSpPr>
        <p:spPr>
          <a:xfrm>
            <a:off x="7895066" y="3669380"/>
            <a:ext cx="255301" cy="0"/>
          </a:xfrm>
          <a:prstGeom prst="line">
            <a:avLst/>
          </a:prstGeom>
          <a:ln w="10160">
            <a:solidFill>
              <a:srgbClr val="8357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5" name="Role_chi_bs_CurveVelB_IQR"/>
          <p:cNvSpPr/>
          <p:nvPr/>
        </p:nvSpPr>
        <p:spPr>
          <a:xfrm>
            <a:off x="7871132" y="3893488"/>
            <a:ext cx="303169" cy="166019"/>
          </a:xfrm>
          <a:prstGeom prst="rect">
            <a:avLst/>
          </a:prstGeom>
          <a:solidFill>
            <a:srgbClr val="E9E0F0"/>
          </a:solidFill>
          <a:ln w="10160">
            <a:solidFill>
              <a:srgbClr val="8357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66" name="Role_chi_bs_CurveVelB_Median"/>
          <p:cNvCxnSpPr/>
          <p:nvPr/>
        </p:nvCxnSpPr>
        <p:spPr>
          <a:xfrm>
            <a:off x="7833236" y="3984111"/>
            <a:ext cx="378961" cy="0"/>
          </a:xfrm>
          <a:prstGeom prst="line">
            <a:avLst/>
          </a:prstGeom>
          <a:ln w="14604">
            <a:solidFill>
              <a:srgbClr val="252A3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8" name="Role_chi_bs_FlatFaultA_Whisker"/>
          <p:cNvCxnSpPr/>
          <p:nvPr/>
        </p:nvCxnSpPr>
        <p:spPr>
          <a:xfrm flipV="1">
            <a:off x="8820531" y="3881082"/>
            <a:ext cx="0" cy="326212"/>
          </a:xfrm>
          <a:prstGeom prst="line">
            <a:avLst/>
          </a:prstGeom>
          <a:ln w="10160">
            <a:solidFill>
              <a:srgbClr val="8357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9" name="Role_chi_bs_FlatFaultA_LowerCap"/>
          <p:cNvCxnSpPr/>
          <p:nvPr/>
        </p:nvCxnSpPr>
        <p:spPr>
          <a:xfrm>
            <a:off x="8692880" y="4207294"/>
            <a:ext cx="255301" cy="0"/>
          </a:xfrm>
          <a:prstGeom prst="line">
            <a:avLst/>
          </a:prstGeom>
          <a:ln w="10160">
            <a:solidFill>
              <a:srgbClr val="8357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0" name="Role_chi_bs_FlatFaultA_UpperCap"/>
          <p:cNvCxnSpPr/>
          <p:nvPr/>
        </p:nvCxnSpPr>
        <p:spPr>
          <a:xfrm>
            <a:off x="8692880" y="3881082"/>
            <a:ext cx="255301" cy="0"/>
          </a:xfrm>
          <a:prstGeom prst="line">
            <a:avLst/>
          </a:prstGeom>
          <a:ln w="10160">
            <a:solidFill>
              <a:srgbClr val="8357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1" name="Role_chi_bs_FlatFaultA_IQR"/>
          <p:cNvSpPr/>
          <p:nvPr/>
        </p:nvSpPr>
        <p:spPr>
          <a:xfrm>
            <a:off x="8668946" y="4038897"/>
            <a:ext cx="303169" cy="120669"/>
          </a:xfrm>
          <a:prstGeom prst="rect">
            <a:avLst/>
          </a:prstGeom>
          <a:solidFill>
            <a:srgbClr val="E9E0F0"/>
          </a:solidFill>
          <a:ln w="10160">
            <a:solidFill>
              <a:srgbClr val="8357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72" name="Role_chi_bs_FlatFaultA_Median"/>
          <p:cNvCxnSpPr/>
          <p:nvPr/>
        </p:nvCxnSpPr>
        <p:spPr>
          <a:xfrm>
            <a:off x="8631050" y="4110422"/>
            <a:ext cx="378961" cy="0"/>
          </a:xfrm>
          <a:prstGeom prst="line">
            <a:avLst/>
          </a:prstGeom>
          <a:ln w="14604">
            <a:solidFill>
              <a:srgbClr val="252A3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" name="Role_chi_bs_FlatFaultB_Whisker"/>
          <p:cNvCxnSpPr/>
          <p:nvPr/>
        </p:nvCxnSpPr>
        <p:spPr>
          <a:xfrm flipV="1">
            <a:off x="9618345" y="3747236"/>
            <a:ext cx="0" cy="459601"/>
          </a:xfrm>
          <a:prstGeom prst="line">
            <a:avLst/>
          </a:prstGeom>
          <a:ln w="10160">
            <a:solidFill>
              <a:srgbClr val="8357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5" name="Role_chi_bs_FlatFaultB_LowerCap"/>
          <p:cNvCxnSpPr/>
          <p:nvPr/>
        </p:nvCxnSpPr>
        <p:spPr>
          <a:xfrm>
            <a:off x="9490694" y="4206837"/>
            <a:ext cx="255301" cy="0"/>
          </a:xfrm>
          <a:prstGeom prst="line">
            <a:avLst/>
          </a:prstGeom>
          <a:ln w="10160">
            <a:solidFill>
              <a:srgbClr val="8357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6" name="Role_chi_bs_FlatFaultB_UpperCap"/>
          <p:cNvCxnSpPr/>
          <p:nvPr/>
        </p:nvCxnSpPr>
        <p:spPr>
          <a:xfrm>
            <a:off x="9490694" y="3747236"/>
            <a:ext cx="255301" cy="0"/>
          </a:xfrm>
          <a:prstGeom prst="line">
            <a:avLst/>
          </a:prstGeom>
          <a:ln w="10160">
            <a:solidFill>
              <a:srgbClr val="8357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7" name="Role_chi_bs_FlatFaultB_IQR"/>
          <p:cNvSpPr/>
          <p:nvPr/>
        </p:nvSpPr>
        <p:spPr>
          <a:xfrm>
            <a:off x="9466760" y="3926775"/>
            <a:ext cx="303169" cy="120679"/>
          </a:xfrm>
          <a:prstGeom prst="rect">
            <a:avLst/>
          </a:prstGeom>
          <a:solidFill>
            <a:srgbClr val="E9E0F0"/>
          </a:solidFill>
          <a:ln w="10160">
            <a:solidFill>
              <a:srgbClr val="8357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78" name="Role_chi_bs_FlatFaultB_Median"/>
          <p:cNvCxnSpPr/>
          <p:nvPr/>
        </p:nvCxnSpPr>
        <p:spPr>
          <a:xfrm>
            <a:off x="9428864" y="3989280"/>
            <a:ext cx="378961" cy="0"/>
          </a:xfrm>
          <a:prstGeom prst="line">
            <a:avLst/>
          </a:prstGeom>
          <a:ln w="14604">
            <a:solidFill>
              <a:srgbClr val="252A3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0" name="Role_chi_bs_CurveFaultA_Whisker"/>
          <p:cNvCxnSpPr/>
          <p:nvPr/>
        </p:nvCxnSpPr>
        <p:spPr>
          <a:xfrm flipV="1">
            <a:off x="10416159" y="3882259"/>
            <a:ext cx="0" cy="325025"/>
          </a:xfrm>
          <a:prstGeom prst="line">
            <a:avLst/>
          </a:prstGeom>
          <a:ln w="10160">
            <a:solidFill>
              <a:srgbClr val="8357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1" name="Role_chi_bs_CurveFaultA_LowerCap"/>
          <p:cNvCxnSpPr/>
          <p:nvPr/>
        </p:nvCxnSpPr>
        <p:spPr>
          <a:xfrm>
            <a:off x="10288508" y="4207284"/>
            <a:ext cx="255301" cy="0"/>
          </a:xfrm>
          <a:prstGeom prst="line">
            <a:avLst/>
          </a:prstGeom>
          <a:ln w="10160">
            <a:solidFill>
              <a:srgbClr val="8357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2" name="Role_chi_bs_CurveFaultA_UpperCap"/>
          <p:cNvCxnSpPr/>
          <p:nvPr/>
        </p:nvCxnSpPr>
        <p:spPr>
          <a:xfrm>
            <a:off x="10288508" y="3882259"/>
            <a:ext cx="255301" cy="0"/>
          </a:xfrm>
          <a:prstGeom prst="line">
            <a:avLst/>
          </a:prstGeom>
          <a:ln w="10160">
            <a:solidFill>
              <a:srgbClr val="8357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3" name="Role_chi_bs_CurveFaultA_IQR"/>
          <p:cNvSpPr/>
          <p:nvPr/>
        </p:nvSpPr>
        <p:spPr>
          <a:xfrm>
            <a:off x="10264574" y="4032087"/>
            <a:ext cx="303169" cy="128725"/>
          </a:xfrm>
          <a:prstGeom prst="rect">
            <a:avLst/>
          </a:prstGeom>
          <a:solidFill>
            <a:srgbClr val="E9E0F0"/>
          </a:solidFill>
          <a:ln w="10160">
            <a:solidFill>
              <a:srgbClr val="8357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84" name="Role_chi_bs_CurveFaultA_Median"/>
          <p:cNvCxnSpPr/>
          <p:nvPr/>
        </p:nvCxnSpPr>
        <p:spPr>
          <a:xfrm>
            <a:off x="10226678" y="4110479"/>
            <a:ext cx="378961" cy="0"/>
          </a:xfrm>
          <a:prstGeom prst="line">
            <a:avLst/>
          </a:prstGeom>
          <a:ln w="14604">
            <a:solidFill>
              <a:srgbClr val="252A3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6" name="Role_chi_bs_CurveFaultB_Whisker"/>
          <p:cNvCxnSpPr/>
          <p:nvPr/>
        </p:nvCxnSpPr>
        <p:spPr>
          <a:xfrm flipV="1">
            <a:off x="11213973" y="3568570"/>
            <a:ext cx="0" cy="637676"/>
          </a:xfrm>
          <a:prstGeom prst="line">
            <a:avLst/>
          </a:prstGeom>
          <a:ln w="10160">
            <a:solidFill>
              <a:srgbClr val="8357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7" name="Role_chi_bs_CurveFaultB_LowerCap"/>
          <p:cNvCxnSpPr/>
          <p:nvPr/>
        </p:nvCxnSpPr>
        <p:spPr>
          <a:xfrm>
            <a:off x="11086322" y="4206246"/>
            <a:ext cx="255301" cy="0"/>
          </a:xfrm>
          <a:prstGeom prst="line">
            <a:avLst/>
          </a:prstGeom>
          <a:ln w="10160">
            <a:solidFill>
              <a:srgbClr val="8357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8" name="Role_chi_bs_CurveFaultB_UpperCap"/>
          <p:cNvCxnSpPr/>
          <p:nvPr/>
        </p:nvCxnSpPr>
        <p:spPr>
          <a:xfrm>
            <a:off x="11086322" y="3568570"/>
            <a:ext cx="255301" cy="0"/>
          </a:xfrm>
          <a:prstGeom prst="line">
            <a:avLst/>
          </a:prstGeom>
          <a:ln w="10160">
            <a:solidFill>
              <a:srgbClr val="8357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9" name="Role_chi_bs_CurveFaultB_IQR"/>
          <p:cNvSpPr/>
          <p:nvPr/>
        </p:nvSpPr>
        <p:spPr>
          <a:xfrm>
            <a:off x="11062388" y="3817827"/>
            <a:ext cx="303169" cy="168580"/>
          </a:xfrm>
          <a:prstGeom prst="rect">
            <a:avLst/>
          </a:prstGeom>
          <a:solidFill>
            <a:srgbClr val="E9E0F0"/>
          </a:solidFill>
          <a:ln w="10160">
            <a:solidFill>
              <a:srgbClr val="8357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90" name="Role_chi_bs_CurveFaultB_Median"/>
          <p:cNvCxnSpPr/>
          <p:nvPr/>
        </p:nvCxnSpPr>
        <p:spPr>
          <a:xfrm>
            <a:off x="11024492" y="3901355"/>
            <a:ext cx="378961" cy="0"/>
          </a:xfrm>
          <a:prstGeom prst="line">
            <a:avLst/>
          </a:prstGeom>
          <a:ln w="14604">
            <a:solidFill>
              <a:srgbClr val="252A3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8" name="RoleYAxis_eta_b">
            <a:extLst>
              <a:ext uri="{FF2B5EF4-FFF2-40B4-BE49-F238E27FC236}">
                <a16:creationId xmlns:a16="http://schemas.microsoft.com/office/drawing/2014/main" id="{39A5C234-8313-E1F0-100E-3E41B26DBDB8}"/>
              </a:ext>
            </a:extLst>
          </p:cNvPr>
          <p:cNvCxnSpPr/>
          <p:nvPr/>
        </p:nvCxnSpPr>
        <p:spPr>
          <a:xfrm>
            <a:off x="11619458" y="3277188"/>
            <a:ext cx="0" cy="932687"/>
          </a:xfrm>
          <a:prstGeom prst="line">
            <a:avLst/>
          </a:prstGeom>
          <a:ln w="10160">
            <a:solidFill>
              <a:srgbClr val="4C556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9" name="RoleXAxis_eta_b">
            <a:extLst>
              <a:ext uri="{FF2B5EF4-FFF2-40B4-BE49-F238E27FC236}">
                <a16:creationId xmlns:a16="http://schemas.microsoft.com/office/drawing/2014/main" id="{C8752F36-75B5-D1B9-BE7E-1DB370D087E0}"/>
              </a:ext>
            </a:extLst>
          </p:cNvPr>
          <p:cNvCxnSpPr/>
          <p:nvPr/>
        </p:nvCxnSpPr>
        <p:spPr>
          <a:xfrm>
            <a:off x="5228703" y="3277188"/>
            <a:ext cx="6382512" cy="0"/>
          </a:xfrm>
          <a:prstGeom prst="line">
            <a:avLst/>
          </a:prstGeom>
          <a:ln w="10160">
            <a:solidFill>
              <a:srgbClr val="4C556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2" name="LegendMatchedDot">
            <a:extLst>
              <a:ext uri="{FF2B5EF4-FFF2-40B4-BE49-F238E27FC236}">
                <a16:creationId xmlns:a16="http://schemas.microsoft.com/office/drawing/2014/main" id="{3D436F3F-5A09-074F-14B2-53B13AE2FA8D}"/>
              </a:ext>
            </a:extLst>
          </p:cNvPr>
          <p:cNvSpPr/>
          <p:nvPr/>
        </p:nvSpPr>
        <p:spPr>
          <a:xfrm>
            <a:off x="937609" y="3655499"/>
            <a:ext cx="155448" cy="155448"/>
          </a:xfrm>
          <a:prstGeom prst="ellipse">
            <a:avLst/>
          </a:prstGeom>
          <a:solidFill>
            <a:srgbClr val="00B0F0"/>
          </a:solidFill>
          <a:ln w="635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32</TotalTime>
  <Words>88</Words>
  <Application>Microsoft Office PowerPoint</Application>
  <PresentationFormat>自定义</PresentationFormat>
  <Paragraphs>36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Arial</vt:lpstr>
      <vt:lpstr>Calibri</vt:lpstr>
      <vt:lpstr>Times New Roman</vt:lpstr>
      <vt:lpstr>Office Theme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小娌 甄</cp:lastModifiedBy>
  <cp:revision>12</cp:revision>
  <dcterms:created xsi:type="dcterms:W3CDTF">2013-01-27T09:14:16Z</dcterms:created>
  <dcterms:modified xsi:type="dcterms:W3CDTF">2026-07-19T07:11:24Z</dcterms:modified>
  <cp:category/>
</cp:coreProperties>
</file>